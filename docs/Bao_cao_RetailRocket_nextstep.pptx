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customXml/itemProps1.xml" ContentType="application/vnd.openxmlformats-officedocument.customXmlProperties+xml"/>
  <Override PartName="/ppt/customXml/itemProps2.xml" ContentType="application/vnd.openxmlformats-officedocument.customXmlProperties+xml"/>
  <Override PartName="/ppt/customXml/itemProps3.xml" ContentType="application/vnd.openxmlformats-officedocument.customXml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18"/>
  </p:notesMasterIdLst>
  <p:sldIdLst>
    <p:sldId id="256" r:id="rId5"/>
    <p:sldId id="257" r:id="rId6"/>
    <p:sldId id="258" r:id="rId7"/>
    <p:sldId id="414" r:id="rIdAdded14"/>
    <p:sldId id="259" r:id="rId8"/>
    <p:sldId id="260" r:id="rId9"/>
    <p:sldId id="261" r:id="rId10"/>
    <p:sldId id="262" r:id="rId11"/>
    <p:sldId id="415" r:id="rIdAdded15"/>
    <p:sldId id="263" r:id="rId12"/>
    <p:sldId id="416" r:id="rIdAdded16"/>
    <p:sldId id="264" r:id="rId13"/>
    <p:sldId id="417" r:id="rIdAdded17"/>
    <p:sldId id="418" r:id="rIdAdded18"/>
    <p:sldId id="419" r:id="rIdAdded19"/>
    <p:sldId id="420" r:id="rIdAdded20"/>
    <p:sldId id="421" r:id="rIdAdded21"/>
    <p:sldId id="265" r:id="rId14"/>
    <p:sldId id="422" r:id="rIdAdded22"/>
    <p:sldId id="423" r:id="rIdAdded23"/>
    <p:sldId id="424" r:id="rIdAdded24"/>
    <p:sldId id="266" r:id="rId15"/>
    <p:sldId id="425" r:id="rIdAdded25"/>
    <p:sldId id="426" r:id="rIdAdded26"/>
    <p:sldId id="427" r:id="rIdAdded27"/>
    <p:sldId id="428" r:id="rIdAdded28"/>
    <p:sldId id="429" r:id="rIdAdded29"/>
    <p:sldId id="267" r:id="rId16"/>
    <p:sldId id="430" r:id="rIdAdded30"/>
    <p:sldId id="431" r:id="rIdAdded31"/>
    <p:sldId id="432" r:id="rIdAdded32"/>
    <p:sldId id="433" r:id="rIdAdded33"/>
    <p:sldId id="434" r:id="rIdAdded34"/>
    <p:sldId id="435" r:id="rIdAdded35"/>
    <p:sldId id="272" r:id="rId17"/>
    <p:sldId id="436" r:id="rIdAdded36"/>
    <p:sldId id="437" r:id="rIdAdded37"/>
    <p:sldId id="438" r:id="rIdAdded38"/>
    <p:sldId id="439" r:id="rIdAdded39"/>
    <p:sldId id="440" r:id="rIdAdded40"/>
    <p:sldId id="441" r:id="rIdAdded41"/>
  </p:sldIdLst>
  <p:sldSz cx="12192000" cy="6858000"/>
  <p:notesSz cx="6858000" cy="9144000"/>
  <p:embeddedFontLst>
    <p:embeddedFont>
      <p:font typeface="Lato" panose="020F0502020204030203" pitchFamily="34" charset="0"/>
      <p:bold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4" roundtripDataSignature="AMtx7mjLLW/ltSQpuiLwpGl8x22BAyTyQ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 dt="2026-10-14T04:10:14.111"/>
    <p1510:client id="{6122CB8E-4697-F45E-07BF-6DCC1D2D46EE}" v="1" dt="2026-10-14T03:35:01.103"/>
    <p1510:client id="{BE5C0164-C855-9421-04CE-046A91197F94}" v="2" dt="2026-10-14T04:08:20.707"/>
    <p1510:client id="{C500CD68-1633-FD87-5B8C-527CBB422871}" v="3" dt="2026-10-14T03:31:03.652"/>
    <p1510:client id="{D79A3D57-970B-8547-4BC5-EB4B590BE7DC}" v="2" dt="2026-10-14T03:37:18.218"/>
    <p1510:client id="{EFEBF67F-EFD0-637F-C14B-C3F87B02B25D}" v="14" dt="2026-10-12T05:13:27.021"/>
  </p1510:revLst>
</p1510:revInfo>
</file>

<file path=ppt/tableStyles.xml><?xml version="1.0" encoding="utf-8"?>
<a:tblStyleLst xmlns:a="http://schemas.openxmlformats.org/drawingml/2006/main" def="{491D23D4-F226-4BD8-901E-FC766FF269AC}">
  <a:tblStyle styleId="{491D23D4-F226-4BD8-901E-FC766FF269A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Added14" Type="http://schemas.openxmlformats.org/officeDocument/2006/relationships/slide" Target="slides/slide4.xml"/><Relationship Id="rIdAdded15" Type="http://schemas.openxmlformats.org/officeDocument/2006/relationships/slide" Target="slides/slide9.xml"/><Relationship Id="rIdAdded16" Type="http://schemas.openxmlformats.org/officeDocument/2006/relationships/slide" Target="slides/slide11.xml"/><Relationship Id="rIdAdded17" Type="http://schemas.openxmlformats.org/officeDocument/2006/relationships/slide" Target="slides/slide13.xml"/><Relationship Id="rIdAdded18" Type="http://schemas.openxmlformats.org/officeDocument/2006/relationships/slide" Target="slides/slide14.xml"/><Relationship Id="rIdAdded19" Type="http://schemas.openxmlformats.org/officeDocument/2006/relationships/slide" Target="slides/slide15.xml"/><Relationship Id="rIdAdded20" Type="http://schemas.openxmlformats.org/officeDocument/2006/relationships/slide" Target="slides/slide16.xml"/><Relationship Id="rIdAdded21" Type="http://schemas.openxmlformats.org/officeDocument/2006/relationships/slide" Target="slides/slide17.xml"/><Relationship Id="rIdAdded22" Type="http://schemas.openxmlformats.org/officeDocument/2006/relationships/slide" Target="slides/slide19.xml"/><Relationship Id="rIdAdded23" Type="http://schemas.openxmlformats.org/officeDocument/2006/relationships/slide" Target="slides/slide20.xml"/><Relationship Id="rIdAdded24" Type="http://schemas.openxmlformats.org/officeDocument/2006/relationships/slide" Target="slides/slide21.xml"/><Relationship Id="rIdAdded25" Type="http://schemas.openxmlformats.org/officeDocument/2006/relationships/slide" Target="slides/slide23.xml"/><Relationship Id="rIdAdded26" Type="http://schemas.openxmlformats.org/officeDocument/2006/relationships/slide" Target="slides/slide24.xml"/><Relationship Id="rIdAdded27" Type="http://schemas.openxmlformats.org/officeDocument/2006/relationships/slide" Target="slides/slide25.xml"/><Relationship Id="rIdAdded28" Type="http://schemas.openxmlformats.org/officeDocument/2006/relationships/slide" Target="slides/slide26.xml"/><Relationship Id="rIdAdded29" Type="http://schemas.openxmlformats.org/officeDocument/2006/relationships/slide" Target="slides/slide27.xml"/><Relationship Id="rIdAdded30" Type="http://schemas.openxmlformats.org/officeDocument/2006/relationships/slide" Target="slides/slide29.xml"/><Relationship Id="rIdAdded31" Type="http://schemas.openxmlformats.org/officeDocument/2006/relationships/slide" Target="slides/slide30.xml"/><Relationship Id="rIdAdded32" Type="http://schemas.openxmlformats.org/officeDocument/2006/relationships/slide" Target="slides/slide31.xml"/><Relationship Id="rIdAdded33" Type="http://schemas.openxmlformats.org/officeDocument/2006/relationships/slide" Target="slides/slide32.xml"/><Relationship Id="rIdAdded34" Type="http://schemas.openxmlformats.org/officeDocument/2006/relationships/slide" Target="slides/slide33.xml"/><Relationship Id="rIdAdded35" Type="http://schemas.openxmlformats.org/officeDocument/2006/relationships/slide" Target="slides/slide34.xml"/><Relationship Id="rIdAdded36" Type="http://schemas.openxmlformats.org/officeDocument/2006/relationships/slide" Target="slides/slide36.xml"/><Relationship Id="rIdAdded37" Type="http://schemas.openxmlformats.org/officeDocument/2006/relationships/slide" Target="slides/slide37.xml"/><Relationship Id="rIdAdded38" Type="http://schemas.openxmlformats.org/officeDocument/2006/relationships/slide" Target="slides/slide38.xml"/><Relationship Id="rIdAdded39" Type="http://schemas.openxmlformats.org/officeDocument/2006/relationships/slide" Target="slides/slide39.xml"/><Relationship Id="rIdAdded40" Type="http://schemas.openxmlformats.org/officeDocument/2006/relationships/slide" Target="slides/slide40.xml"/><Relationship Id="rIdAdded41" Type="http://schemas.openxmlformats.org/officeDocument/2006/relationships/slide" Target="slides/slide41.xml"/><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10.xml"/><Relationship Id="rId13" Type="http://schemas.openxmlformats.org/officeDocument/2006/relationships/slide" Target="slides/slide12.xml"/><Relationship Id="rId14" Type="http://schemas.openxmlformats.org/officeDocument/2006/relationships/slide" Target="slides/slide18.xml"/><Relationship Id="rId15" Type="http://schemas.openxmlformats.org/officeDocument/2006/relationships/slide" Target="slides/slide22.xml"/><Relationship Id="rId16" Type="http://schemas.openxmlformats.org/officeDocument/2006/relationships/slide" Target="slides/slide28.xml"/><Relationship Id="rId17" Type="http://schemas.openxmlformats.org/officeDocument/2006/relationships/slide" Target="slides/slide35.xml"/><Relationship Id="rId18" Type="http://schemas.openxmlformats.org/officeDocument/2006/relationships/notesMaster" Target="notesMasters/notesMaster1.xml"/><Relationship Id="rId19" Type="http://schemas.openxmlformats.org/officeDocument/2006/relationships/font" Target="fonts/font1.fntdata"/><Relationship Id="rId24" Type="http://customschemas.google.com/relationships/presentationmetadata" Target="metadata"/><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ang Cong Chan 202416431" userId="S::chan.tc2416431@sis.hust.edu.vn::6e8312ab-ca1c-4b9e-b97e-a909902e9c6b" providerId="AD" clId="Web-{C500CD68-1633-FD87-5B8C-527CBB422871}"/>
    <pc:docChg chg="modSld">
      <pc:chgData name="Trang Cong Chan 202416431" userId="S::chan.tc2416431@sis.hust.edu.vn::6e8312ab-ca1c-4b9e-b97e-a909902e9c6b" providerId="AD" clId="Web-{C500CD68-1633-FD87-5B8C-527CBB422871}" dt="2026-10-14T03:31:03.652" v="2" actId="1076"/>
      <pc:docMkLst>
        <pc:docMk/>
      </pc:docMkLst>
      <pc:sldChg chg="modSp">
        <pc:chgData name="Trang Cong Chan 202416431" userId="S::chan.tc2416431@sis.hust.edu.vn::6e8312ab-ca1c-4b9e-b97e-a909902e9c6b" providerId="AD" clId="Web-{C500CD68-1633-FD87-5B8C-527CBB422871}" dt="2026-10-14T03:31:03.652" v="2" actId="1076"/>
        <pc:sldMkLst>
          <pc:docMk/>
          <pc:sldMk cId="0" sldId="258"/>
        </pc:sldMkLst>
        <pc:picChg chg="mod">
          <ac:chgData name="Trang Cong Chan 202416431" userId="S::chan.tc2416431@sis.hust.edu.vn::6e8312ab-ca1c-4b9e-b97e-a909902e9c6b" providerId="AD" clId="Web-{C500CD68-1633-FD87-5B8C-527CBB422871}" dt="2026-10-14T03:31:03.652" v="2" actId="1076"/>
          <ac:picMkLst>
            <pc:docMk/>
            <pc:sldMk cId="0" sldId="258"/>
            <ac:picMk id="4" creationId="{F9D4965E-731E-4545-8600-F46A16543546}"/>
          </ac:picMkLst>
        </pc:picChg>
      </pc:sldChg>
    </pc:docChg>
  </pc:docChgLst>
  <pc:docChgLst>
    <pc:chgData name="Be Tri Kien 202416539" userId="S::kien.bt2416539@sis.hust.edu.vn::b7ebde93-3b9c-403e-9867-d8f53d51df74" providerId="AD" clId="Web-{00000000-0000-0000-0000-000000000000}"/>
    <pc:docChg chg="sldOrd">
      <pc:chgData name="Be Tri Kien 202416539" userId="S::kien.bt2416539@sis.hust.edu.vn::b7ebde93-3b9c-403e-9867-d8f53d51df74" providerId="AD" clId="Web-{00000000-0000-0000-0000-000000000000}" dt="2026-10-14T04:10:14.111" v="0"/>
      <pc:docMkLst>
        <pc:docMk/>
      </pc:docMkLst>
      <pc:sldChg chg="ord">
        <pc:chgData name="Be Tri Kien 202416539" userId="S::kien.bt2416539@sis.hust.edu.vn::b7ebde93-3b9c-403e-9867-d8f53d51df74" providerId="AD" clId="Web-{00000000-0000-0000-0000-000000000000}" dt="2026-10-14T04:10:14.111" v="0"/>
        <pc:sldMkLst>
          <pc:docMk/>
          <pc:sldMk cId="3076808211" sldId="265"/>
        </pc:sldMkLst>
      </pc:sldChg>
    </pc:docChg>
  </pc:docChgLst>
  <pc:docChgLst>
    <pc:chgData name="Le Quang Huy 202416519" userId="S::huy.lq2416519@sis.hust.edu.vn::d10a2459-adde-42db-9752-75f4fac190fe" providerId="AD" clId="Web-{BE5C0164-C855-9421-04CE-046A91197F94}"/>
    <pc:docChg chg="modSld">
      <pc:chgData name="Le Quang Huy 202416519" userId="S::huy.lq2416519@sis.hust.edu.vn::d10a2459-adde-42db-9752-75f4fac190fe" providerId="AD" clId="Web-{BE5C0164-C855-9421-04CE-046A91197F94}" dt="2026-10-14T04:08:20.707" v="1" actId="1076"/>
      <pc:docMkLst>
        <pc:docMk/>
      </pc:docMkLst>
      <pc:sldChg chg="modSp">
        <pc:chgData name="Le Quang Huy 202416519" userId="S::huy.lq2416519@sis.hust.edu.vn::d10a2459-adde-42db-9752-75f4fac190fe" providerId="AD" clId="Web-{BE5C0164-C855-9421-04CE-046A91197F94}" dt="2026-10-14T04:08:20.707" v="1" actId="1076"/>
        <pc:sldMkLst>
          <pc:docMk/>
          <pc:sldMk cId="0" sldId="261"/>
        </pc:sldMkLst>
        <pc:picChg chg="mod">
          <ac:chgData name="Le Quang Huy 202416519" userId="S::huy.lq2416519@sis.hust.edu.vn::d10a2459-adde-42db-9752-75f4fac190fe" providerId="AD" clId="Web-{BE5C0164-C855-9421-04CE-046A91197F94}" dt="2026-10-14T04:08:20.707" v="1" actId="1076"/>
          <ac:picMkLst>
            <pc:docMk/>
            <pc:sldMk cId="0" sldId="261"/>
            <ac:picMk id="119" creationId="{00000000-0000-0000-0000-000000000000}"/>
          </ac:picMkLst>
        </pc:picChg>
      </pc:sldChg>
    </pc:docChg>
  </pc:docChgLst>
  <pc:docChgLst>
    <pc:chgData name="Le Quang Huy 202416519" userId="S::huy.lq2416519@sis.hust.edu.vn::d10a2459-adde-42db-9752-75f4fac190fe" providerId="AD" clId="Web-{EFEBF67F-EFD0-637F-C14B-C3F87B02B25D}"/>
    <pc:docChg chg="modSld">
      <pc:chgData name="Le Quang Huy 202416519" userId="S::huy.lq2416519@sis.hust.edu.vn::d10a2459-adde-42db-9752-75f4fac190fe" providerId="AD" clId="Web-{EFEBF67F-EFD0-637F-C14B-C3F87B02B25D}" dt="2026-10-12T05:13:27.021" v="13" actId="1076"/>
      <pc:docMkLst>
        <pc:docMk/>
      </pc:docMkLst>
      <pc:sldChg chg="modSp">
        <pc:chgData name="Le Quang Huy 202416519" userId="S::huy.lq2416519@sis.hust.edu.vn::d10a2459-adde-42db-9752-75f4fac190fe" providerId="AD" clId="Web-{EFEBF67F-EFD0-637F-C14B-C3F87B02B25D}" dt="2026-10-12T05:13:27.021" v="13" actId="1076"/>
        <pc:sldMkLst>
          <pc:docMk/>
          <pc:sldMk cId="0" sldId="258"/>
        </pc:sldMkLst>
        <pc:picChg chg="mod">
          <ac:chgData name="Le Quang Huy 202416519" userId="S::huy.lq2416519@sis.hust.edu.vn::d10a2459-adde-42db-9752-75f4fac190fe" providerId="AD" clId="Web-{EFEBF67F-EFD0-637F-C14B-C3F87B02B25D}" dt="2026-10-12T05:13:27.021" v="13" actId="1076"/>
          <ac:picMkLst>
            <pc:docMk/>
            <pc:sldMk cId="0" sldId="258"/>
            <ac:picMk id="4" creationId="{F9D4965E-731E-4545-8600-F46A16543546}"/>
          </ac:picMkLst>
        </pc:picChg>
      </pc:sldChg>
    </pc:docChg>
  </pc:docChgLst>
  <pc:docChgLst>
    <pc:chgData name="Vu Hai Minh 20235166" userId="S::minh.vh235166@sis.hust.edu.vn::0e70dd50-5518-4436-96af-ec78b6c60f5f" providerId="AD" clId="Web-{6122CB8E-4697-F45E-07BF-6DCC1D2D46EE}"/>
    <pc:docChg chg="modSld">
      <pc:chgData name="Vu Hai Minh 20235166" userId="S::minh.vh235166@sis.hust.edu.vn::0e70dd50-5518-4436-96af-ec78b6c60f5f" providerId="AD" clId="Web-{6122CB8E-4697-F45E-07BF-6DCC1D2D46EE}" dt="2026-10-14T03:35:01.103" v="0" actId="1076"/>
      <pc:docMkLst>
        <pc:docMk/>
      </pc:docMkLst>
      <pc:sldChg chg="modSp">
        <pc:chgData name="Vu Hai Minh 20235166" userId="S::minh.vh235166@sis.hust.edu.vn::0e70dd50-5518-4436-96af-ec78b6c60f5f" providerId="AD" clId="Web-{6122CB8E-4697-F45E-07BF-6DCC1D2D46EE}" dt="2026-10-14T03:35:01.103" v="0" actId="1076"/>
        <pc:sldMkLst>
          <pc:docMk/>
          <pc:sldMk cId="0" sldId="261"/>
        </pc:sldMkLst>
        <pc:picChg chg="mod">
          <ac:chgData name="Vu Hai Minh 20235166" userId="S::minh.vh235166@sis.hust.edu.vn::0e70dd50-5518-4436-96af-ec78b6c60f5f" providerId="AD" clId="Web-{6122CB8E-4697-F45E-07BF-6DCC1D2D46EE}" dt="2026-10-14T03:35:01.103" v="0" actId="1076"/>
          <ac:picMkLst>
            <pc:docMk/>
            <pc:sldMk cId="0" sldId="261"/>
            <ac:picMk id="119" creationId="{00000000-0000-0000-0000-000000000000}"/>
          </ac:picMkLst>
        </pc:picChg>
      </pc:sldChg>
    </pc:docChg>
  </pc:docChgLst>
  <pc:docChgLst>
    <pc:chgData name="Nguyen Van Thang 202416607" userId="S::thang.nv2416607@sis.hust.edu.vn::386c0b55-1001-42c1-9e2f-29ccadbb95e3" providerId="AD" clId="Web-{D79A3D57-970B-8547-4BC5-EB4B590BE7DC}"/>
    <pc:docChg chg="modSld">
      <pc:chgData name="Nguyen Van Thang 202416607" userId="S::thang.nv2416607@sis.hust.edu.vn::386c0b55-1001-42c1-9e2f-29ccadbb95e3" providerId="AD" clId="Web-{D79A3D57-970B-8547-4BC5-EB4B590BE7DC}" dt="2026-10-14T03:37:18.218" v="1"/>
      <pc:docMkLst>
        <pc:docMk/>
      </pc:docMkLst>
      <pc:sldChg chg="modSp">
        <pc:chgData name="Nguyen Van Thang 202416607" userId="S::thang.nv2416607@sis.hust.edu.vn::386c0b55-1001-42c1-9e2f-29ccadbb95e3" providerId="AD" clId="Web-{D79A3D57-970B-8547-4BC5-EB4B590BE7DC}" dt="2026-10-14T03:37:18.218" v="1"/>
        <pc:sldMkLst>
          <pc:docMk/>
          <pc:sldMk cId="0" sldId="259"/>
        </pc:sldMkLst>
        <pc:graphicFrameChg chg="mod modGraphic">
          <ac:chgData name="Nguyen Van Thang 202416607" userId="S::thang.nv2416607@sis.hust.edu.vn::386c0b55-1001-42c1-9e2f-29ccadbb95e3" providerId="AD" clId="Web-{D79A3D57-970B-8547-4BC5-EB4B590BE7DC}" dt="2026-10-14T03:37:18.218" v="1"/>
          <ac:graphicFrameMkLst>
            <pc:docMk/>
            <pc:sldMk cId="0" sldId="259"/>
            <ac:graphicFrameMk id="105" creationId="{00000000-0000-0000-0000-000000000000}"/>
          </ac:graphicFrameMkLst>
        </pc:graphicFrameChg>
      </pc:sldChg>
    </pc:docChg>
  </pc:docChgLst>
</pc:chgInfo>
</file>

<file path=ppt/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ppt/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ppt/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ppt/customXml/item1.xml><?xml version="1.0" encoding="utf-8"?>
<ct:contentTypeSchema xmlns:ct="http://schemas.microsoft.com/office/2006/metadata/contentType" xmlns:ma="http://schemas.microsoft.com/office/2006/metadata/properties/metaAttributes" ct:_="" ma:_="" ma:contentTypeName="Document" ma:contentTypeID="0x0101005E89D7C944F4F24E9905C6523679617A" ma:contentTypeVersion="3" ma:contentTypeDescription="Create a new document." ma:contentTypeScope="" ma:versionID="1166a34044cf3ae003b5982b7100674c">
  <xsd:schema xmlns:xsd="http://www.w3.org/2001/XMLSchema" xmlns:xs="http://www.w3.org/2001/XMLSchema" xmlns:p="http://schemas.microsoft.com/office/2006/metadata/properties" xmlns:ns2="a3128542-66e5-4182-b350-102dd723890a" targetNamespace="http://schemas.microsoft.com/office/2006/metadata/properties" ma:root="true" ma:fieldsID="d74150c527c1950780ac9543d2296767" ns2:_="">
    <xsd:import namespace="a3128542-66e5-4182-b350-102dd723890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128542-66e5-4182-b350-102dd72389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ppt/customXml/item2.xml><?xml version="1.0" encoding="utf-8"?>
<?mso-contentType ?>
<FormTemplates xmlns="http://schemas.microsoft.com/sharepoint/v3/contenttype/forms">
  <Display>DocumentLibraryForm</Display>
  <Edit>DocumentLibraryForm</Edit>
  <New>DocumentLibraryForm</New>
</FormTemplates>
</file>

<file path=ppt/customXml/item3.xml><?xml version="1.0" encoding="utf-8"?>
<p:properties xmlns:p="http://schemas.microsoft.com/office/2006/metadata/properties" xmlns:xsi="http://www.w3.org/2001/XMLSchema-instance" xmlns:pc="http://schemas.microsoft.com/office/infopath/2007/PartnerControls">
  <documentManagement/>
</p:properties>
</file>

<file path=ppt/customXml/itemProps1.xml><?xml version="1.0" encoding="utf-8"?>
<ds:datastoreItem xmlns:ds="http://schemas.openxmlformats.org/officeDocument/2006/customXml" ds:itemID="{84B8FEE2-C743-4295-A7C5-FCC137BA684C}">
  <ds:schemaRefs>
    <ds:schemaRef ds:uri="a3128542-66e5-4182-b350-102dd723890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ppt/customXml/itemProps2.xml><?xml version="1.0" encoding="utf-8"?>
<ds:datastoreItem xmlns:ds="http://schemas.openxmlformats.org/officeDocument/2006/customXml" ds:itemID="{8F3A2842-DF6E-4209-9DEB-290062F1600F}">
  <ds:schemaRefs>
    <ds:schemaRef ds:uri="http://schemas.microsoft.com/sharepoint/v3/contenttype/forms"/>
  </ds:schemaRefs>
</ds:datastoreItem>
</file>

<file path=ppt/customXml/itemProps3.xml><?xml version="1.0" encoding="utf-8"?>
<ds:datastoreItem xmlns:ds="http://schemas.openxmlformats.org/officeDocument/2006/customXml" ds:itemID="{A02523F8-9F89-448F-BE05-E01A60949EA1}">
  <ds:schemaRefs>
    <ds:schemaRef ds:uri="http://schemas.microsoft.com/office/2006/documentManagement/types"/>
    <ds:schemaRef ds:uri="http://schemas.microsoft.com/office/2006/metadata/properties"/>
    <ds:schemaRef ds:uri="http://www.w3.org/XML/1998/namespace"/>
    <ds:schemaRef ds:uri="http://purl.org/dc/elements/1.1/"/>
    <ds:schemaRef ds:uri="http://purl.org/dc/terms/"/>
    <ds:schemaRef ds:uri="http://schemas.openxmlformats.org/package/2006/metadata/core-properties"/>
    <ds:schemaRef ds:uri="a3128542-66e5-4182-b350-102dd723890a"/>
    <ds:schemaRef ds:uri="http://schemas.microsoft.com/office/infopath/2007/PartnerControls"/>
    <ds:schemaRef ds:uri="http://purl.org/dc/dcmitype/"/>
  </ds:schemaRefs>
</ds:datastoreItem>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1/41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2/41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3/41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5/41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6/41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7/41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8/41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10/41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12/41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18/41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22/41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28/41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35/41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4/41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9/41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11/41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13/41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14/41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15/41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16/41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17/41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19/41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20/41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21/41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23/41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24/41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25/41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26/41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27/41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29/41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30/41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31/41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32/41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33/41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34/41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36/41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37/41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38/41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39/41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40/41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Trang 41/41 — next-step theo nhóm timestamp, cập nhật 29/10/2026. Nguồn: reports/nextstep/summary.json, manifest.json, analysis.json, validation.json. Đã xử lý bốn CSV thật: 2.755.641 sự kiện sạch, 991.059 query, 993.336 cặp target; 30 kiểm thử và 38 kiểm tra dữ liệu đạt; 20 Parquet đã xác minh checksum. Audit độc lập 240 query và 243 cặp target; audit feature/metadata là lấy mẫu, không phải tái tính độc lập mọi ô. Prefix chỉ thuộc cùng phiên và không vượt t; target là tập item đúng nhóm kế tiếp, cả xem/giỏ/mua. Không loại mặc định item đã xem hoặc target ngoài train/ứng viên. Độ phủ ứng viên không phải Recall của mô hình. Các mô hình, bộ đánh giá ranking và demo vẫn là đề xuất; không có kết quả huấn luyện được tự tạo. Ví dụ trên các trang kịch bản/demo/tính chỉ số là minh họa, không phải kết quả mô hình. Tham khảo: Hidasi et al. ICLR 2016; Wu et al. AAAI 2019; Ludewig &amp; Jannach UMUAI 2018; Järvelin &amp; Kekäläinen TOIS 2002; Krichene &amp; Rendle KDD 2020. Dữ liệu: https://www.kaggle.com/datasets/retailrocket/ecommerce-dataset .</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bg>
      <p:bgPr>
        <a:blipFill>
          <a:blip r:embed="rId2">
            <a:alphaModFix/>
          </a:blip>
          <a:stretch>
            <a:fillRect/>
          </a:stretch>
        </a:blip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12"/>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00376F"/>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2"/>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00376F"/>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2"/>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00376F"/>
                </a:solidFill>
                <a:latin typeface="Lato"/>
                <a:ea typeface="Lato"/>
                <a:cs typeface="Lato"/>
                <a:sym typeface="Lato"/>
              </a:defRPr>
            </a:lvl1pPr>
            <a:lvl2pPr marL="0" marR="0" lvl="1" indent="0" algn="r" rtl="0">
              <a:spcBef>
                <a:spcPts val="0"/>
              </a:spcBef>
              <a:buNone/>
              <a:defRPr sz="1200" b="1" i="0" u="none" strike="noStrike" cap="none">
                <a:solidFill>
                  <a:srgbClr val="00376F"/>
                </a:solidFill>
                <a:latin typeface="Lato"/>
                <a:ea typeface="Lato"/>
                <a:cs typeface="Lato"/>
                <a:sym typeface="Lato"/>
              </a:defRPr>
            </a:lvl2pPr>
            <a:lvl3pPr marL="0" marR="0" lvl="2" indent="0" algn="r" rtl="0">
              <a:spcBef>
                <a:spcPts val="0"/>
              </a:spcBef>
              <a:buNone/>
              <a:defRPr sz="1200" b="1" i="0" u="none" strike="noStrike" cap="none">
                <a:solidFill>
                  <a:srgbClr val="00376F"/>
                </a:solidFill>
                <a:latin typeface="Lato"/>
                <a:ea typeface="Lato"/>
                <a:cs typeface="Lato"/>
                <a:sym typeface="Lato"/>
              </a:defRPr>
            </a:lvl3pPr>
            <a:lvl4pPr marL="0" marR="0" lvl="3" indent="0" algn="r" rtl="0">
              <a:spcBef>
                <a:spcPts val="0"/>
              </a:spcBef>
              <a:buNone/>
              <a:defRPr sz="1200" b="1" i="0" u="none" strike="noStrike" cap="none">
                <a:solidFill>
                  <a:srgbClr val="00376F"/>
                </a:solidFill>
                <a:latin typeface="Lato"/>
                <a:ea typeface="Lato"/>
                <a:cs typeface="Lato"/>
                <a:sym typeface="Lato"/>
              </a:defRPr>
            </a:lvl4pPr>
            <a:lvl5pPr marL="0" marR="0" lvl="4" indent="0" algn="r" rtl="0">
              <a:spcBef>
                <a:spcPts val="0"/>
              </a:spcBef>
              <a:buNone/>
              <a:defRPr sz="1200" b="1" i="0" u="none" strike="noStrike" cap="none">
                <a:solidFill>
                  <a:srgbClr val="00376F"/>
                </a:solidFill>
                <a:latin typeface="Lato"/>
                <a:ea typeface="Lato"/>
                <a:cs typeface="Lato"/>
                <a:sym typeface="Lato"/>
              </a:defRPr>
            </a:lvl5pPr>
            <a:lvl6pPr marL="0" marR="0" lvl="5" indent="0" algn="r" rtl="0">
              <a:spcBef>
                <a:spcPts val="0"/>
              </a:spcBef>
              <a:buNone/>
              <a:defRPr sz="1200" b="1" i="0" u="none" strike="noStrike" cap="none">
                <a:solidFill>
                  <a:srgbClr val="00376F"/>
                </a:solidFill>
                <a:latin typeface="Lato"/>
                <a:ea typeface="Lato"/>
                <a:cs typeface="Lato"/>
                <a:sym typeface="Lato"/>
              </a:defRPr>
            </a:lvl6pPr>
            <a:lvl7pPr marL="0" marR="0" lvl="6" indent="0" algn="r" rtl="0">
              <a:spcBef>
                <a:spcPts val="0"/>
              </a:spcBef>
              <a:buNone/>
              <a:defRPr sz="1200" b="1" i="0" u="none" strike="noStrike" cap="none">
                <a:solidFill>
                  <a:srgbClr val="00376F"/>
                </a:solidFill>
                <a:latin typeface="Lato"/>
                <a:ea typeface="Lato"/>
                <a:cs typeface="Lato"/>
                <a:sym typeface="Lato"/>
              </a:defRPr>
            </a:lvl7pPr>
            <a:lvl8pPr marL="0" marR="0" lvl="7" indent="0" algn="r" rtl="0">
              <a:spcBef>
                <a:spcPts val="0"/>
              </a:spcBef>
              <a:buNone/>
              <a:defRPr sz="1200" b="1" i="0" u="none" strike="noStrike" cap="none">
                <a:solidFill>
                  <a:srgbClr val="00376F"/>
                </a:solidFill>
                <a:latin typeface="Lato"/>
                <a:ea typeface="Lato"/>
                <a:cs typeface="Lato"/>
                <a:sym typeface="Lato"/>
              </a:defRPr>
            </a:lvl8pPr>
            <a:lvl9pPr marL="0" marR="0" lvl="8" indent="0" algn="r" rtl="0">
              <a:spcBef>
                <a:spcPts val="0"/>
              </a:spcBef>
              <a:buNone/>
              <a:defRPr sz="1200" b="1" i="0" u="none" strike="noStrike" cap="none">
                <a:solidFill>
                  <a:srgbClr val="00376F"/>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p:cSld name="Comparison">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13"/>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13"/>
          <p:cNvSpPr txBox="1">
            <a:spLocks noGrp="1"/>
          </p:cNvSpPr>
          <p:nvPr>
            <p:ph type="body" idx="1"/>
          </p:nvPr>
        </p:nvSpPr>
        <p:spPr>
          <a:xfrm>
            <a:off x="337539" y="1032510"/>
            <a:ext cx="11515725" cy="493871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 name="Google Shape;18;p13"/>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00376F"/>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13"/>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00376F"/>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13"/>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00376F"/>
                </a:solidFill>
                <a:latin typeface="Lato"/>
                <a:ea typeface="Lato"/>
                <a:cs typeface="Lato"/>
                <a:sym typeface="Lato"/>
              </a:defRPr>
            </a:lvl1pPr>
            <a:lvl2pPr marL="0" marR="0" lvl="1" indent="0" algn="r" rtl="0">
              <a:spcBef>
                <a:spcPts val="0"/>
              </a:spcBef>
              <a:buNone/>
              <a:defRPr sz="1200" b="1" i="0" u="none" strike="noStrike" cap="none">
                <a:solidFill>
                  <a:srgbClr val="00376F"/>
                </a:solidFill>
                <a:latin typeface="Lato"/>
                <a:ea typeface="Lato"/>
                <a:cs typeface="Lato"/>
                <a:sym typeface="Lato"/>
              </a:defRPr>
            </a:lvl2pPr>
            <a:lvl3pPr marL="0" marR="0" lvl="2" indent="0" algn="r" rtl="0">
              <a:spcBef>
                <a:spcPts val="0"/>
              </a:spcBef>
              <a:buNone/>
              <a:defRPr sz="1200" b="1" i="0" u="none" strike="noStrike" cap="none">
                <a:solidFill>
                  <a:srgbClr val="00376F"/>
                </a:solidFill>
                <a:latin typeface="Lato"/>
                <a:ea typeface="Lato"/>
                <a:cs typeface="Lato"/>
                <a:sym typeface="Lato"/>
              </a:defRPr>
            </a:lvl3pPr>
            <a:lvl4pPr marL="0" marR="0" lvl="3" indent="0" algn="r" rtl="0">
              <a:spcBef>
                <a:spcPts val="0"/>
              </a:spcBef>
              <a:buNone/>
              <a:defRPr sz="1200" b="1" i="0" u="none" strike="noStrike" cap="none">
                <a:solidFill>
                  <a:srgbClr val="00376F"/>
                </a:solidFill>
                <a:latin typeface="Lato"/>
                <a:ea typeface="Lato"/>
                <a:cs typeface="Lato"/>
                <a:sym typeface="Lato"/>
              </a:defRPr>
            </a:lvl4pPr>
            <a:lvl5pPr marL="0" marR="0" lvl="4" indent="0" algn="r" rtl="0">
              <a:spcBef>
                <a:spcPts val="0"/>
              </a:spcBef>
              <a:buNone/>
              <a:defRPr sz="1200" b="1" i="0" u="none" strike="noStrike" cap="none">
                <a:solidFill>
                  <a:srgbClr val="00376F"/>
                </a:solidFill>
                <a:latin typeface="Lato"/>
                <a:ea typeface="Lato"/>
                <a:cs typeface="Lato"/>
                <a:sym typeface="Lato"/>
              </a:defRPr>
            </a:lvl5pPr>
            <a:lvl6pPr marL="0" marR="0" lvl="5" indent="0" algn="r" rtl="0">
              <a:spcBef>
                <a:spcPts val="0"/>
              </a:spcBef>
              <a:buNone/>
              <a:defRPr sz="1200" b="1" i="0" u="none" strike="noStrike" cap="none">
                <a:solidFill>
                  <a:srgbClr val="00376F"/>
                </a:solidFill>
                <a:latin typeface="Lato"/>
                <a:ea typeface="Lato"/>
                <a:cs typeface="Lato"/>
                <a:sym typeface="Lato"/>
              </a:defRPr>
            </a:lvl6pPr>
            <a:lvl7pPr marL="0" marR="0" lvl="6" indent="0" algn="r" rtl="0">
              <a:spcBef>
                <a:spcPts val="0"/>
              </a:spcBef>
              <a:buNone/>
              <a:defRPr sz="1200" b="1" i="0" u="none" strike="noStrike" cap="none">
                <a:solidFill>
                  <a:srgbClr val="00376F"/>
                </a:solidFill>
                <a:latin typeface="Lato"/>
                <a:ea typeface="Lato"/>
                <a:cs typeface="Lato"/>
                <a:sym typeface="Lato"/>
              </a:defRPr>
            </a:lvl7pPr>
            <a:lvl8pPr marL="0" marR="0" lvl="7" indent="0" algn="r" rtl="0">
              <a:spcBef>
                <a:spcPts val="0"/>
              </a:spcBef>
              <a:buNone/>
              <a:defRPr sz="1200" b="1" i="0" u="none" strike="noStrike" cap="none">
                <a:solidFill>
                  <a:srgbClr val="00376F"/>
                </a:solidFill>
                <a:latin typeface="Lato"/>
                <a:ea typeface="Lato"/>
                <a:cs typeface="Lato"/>
                <a:sym typeface="Lato"/>
              </a:defRPr>
            </a:lvl8pPr>
            <a:lvl9pPr marL="0" marR="0" lvl="8" indent="0" algn="r" rtl="0">
              <a:spcBef>
                <a:spcPts val="0"/>
              </a:spcBef>
              <a:buNone/>
              <a:defRPr sz="1200" b="1" i="0" u="none" strike="noStrike" cap="none">
                <a:solidFill>
                  <a:srgbClr val="00376F"/>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14"/>
          <p:cNvSpPr txBox="1">
            <a:spLocks noGrp="1"/>
          </p:cNvSpPr>
          <p:nvPr>
            <p:ph type="dt" idx="10"/>
          </p:nvPr>
        </p:nvSpPr>
        <p:spPr>
          <a:xfrm>
            <a:off x="838200" y="6492875"/>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chemeClr val="lt1"/>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3" name="Google Shape;23;p14"/>
          <p:cNvSpPr txBox="1">
            <a:spLocks noGrp="1"/>
          </p:cNvSpPr>
          <p:nvPr>
            <p:ph type="ftr" idx="11"/>
          </p:nvPr>
        </p:nvSpPr>
        <p:spPr>
          <a:xfrm>
            <a:off x="4038600" y="6492875"/>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00376F"/>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4" name="Google Shape;24;p14"/>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00376F"/>
                </a:solidFill>
                <a:latin typeface="Lato"/>
                <a:ea typeface="Lato"/>
                <a:cs typeface="Lato"/>
                <a:sym typeface="Lato"/>
              </a:defRPr>
            </a:lvl1pPr>
            <a:lvl2pPr marL="0" marR="0" lvl="1" indent="0" algn="r" rtl="0">
              <a:spcBef>
                <a:spcPts val="0"/>
              </a:spcBef>
              <a:buNone/>
              <a:defRPr sz="1200" b="1" i="0" u="none" strike="noStrike" cap="none">
                <a:solidFill>
                  <a:srgbClr val="00376F"/>
                </a:solidFill>
                <a:latin typeface="Lato"/>
                <a:ea typeface="Lato"/>
                <a:cs typeface="Lato"/>
                <a:sym typeface="Lato"/>
              </a:defRPr>
            </a:lvl2pPr>
            <a:lvl3pPr marL="0" marR="0" lvl="2" indent="0" algn="r" rtl="0">
              <a:spcBef>
                <a:spcPts val="0"/>
              </a:spcBef>
              <a:buNone/>
              <a:defRPr sz="1200" b="1" i="0" u="none" strike="noStrike" cap="none">
                <a:solidFill>
                  <a:srgbClr val="00376F"/>
                </a:solidFill>
                <a:latin typeface="Lato"/>
                <a:ea typeface="Lato"/>
                <a:cs typeface="Lato"/>
                <a:sym typeface="Lato"/>
              </a:defRPr>
            </a:lvl3pPr>
            <a:lvl4pPr marL="0" marR="0" lvl="3" indent="0" algn="r" rtl="0">
              <a:spcBef>
                <a:spcPts val="0"/>
              </a:spcBef>
              <a:buNone/>
              <a:defRPr sz="1200" b="1" i="0" u="none" strike="noStrike" cap="none">
                <a:solidFill>
                  <a:srgbClr val="00376F"/>
                </a:solidFill>
                <a:latin typeface="Lato"/>
                <a:ea typeface="Lato"/>
                <a:cs typeface="Lato"/>
                <a:sym typeface="Lato"/>
              </a:defRPr>
            </a:lvl4pPr>
            <a:lvl5pPr marL="0" marR="0" lvl="4" indent="0" algn="r" rtl="0">
              <a:spcBef>
                <a:spcPts val="0"/>
              </a:spcBef>
              <a:buNone/>
              <a:defRPr sz="1200" b="1" i="0" u="none" strike="noStrike" cap="none">
                <a:solidFill>
                  <a:srgbClr val="00376F"/>
                </a:solidFill>
                <a:latin typeface="Lato"/>
                <a:ea typeface="Lato"/>
                <a:cs typeface="Lato"/>
                <a:sym typeface="Lato"/>
              </a:defRPr>
            </a:lvl5pPr>
            <a:lvl6pPr marL="0" marR="0" lvl="5" indent="0" algn="r" rtl="0">
              <a:spcBef>
                <a:spcPts val="0"/>
              </a:spcBef>
              <a:buNone/>
              <a:defRPr sz="1200" b="1" i="0" u="none" strike="noStrike" cap="none">
                <a:solidFill>
                  <a:srgbClr val="00376F"/>
                </a:solidFill>
                <a:latin typeface="Lato"/>
                <a:ea typeface="Lato"/>
                <a:cs typeface="Lato"/>
                <a:sym typeface="Lato"/>
              </a:defRPr>
            </a:lvl6pPr>
            <a:lvl7pPr marL="0" marR="0" lvl="6" indent="0" algn="r" rtl="0">
              <a:spcBef>
                <a:spcPts val="0"/>
              </a:spcBef>
              <a:buNone/>
              <a:defRPr sz="1200" b="1" i="0" u="none" strike="noStrike" cap="none">
                <a:solidFill>
                  <a:srgbClr val="00376F"/>
                </a:solidFill>
                <a:latin typeface="Lato"/>
                <a:ea typeface="Lato"/>
                <a:cs typeface="Lato"/>
                <a:sym typeface="Lato"/>
              </a:defRPr>
            </a:lvl7pPr>
            <a:lvl8pPr marL="0" marR="0" lvl="7" indent="0" algn="r" rtl="0">
              <a:spcBef>
                <a:spcPts val="0"/>
              </a:spcBef>
              <a:buNone/>
              <a:defRPr sz="1200" b="1" i="0" u="none" strike="noStrike" cap="none">
                <a:solidFill>
                  <a:srgbClr val="00376F"/>
                </a:solidFill>
                <a:latin typeface="Lato"/>
                <a:ea typeface="Lato"/>
                <a:cs typeface="Lato"/>
                <a:sym typeface="Lato"/>
              </a:defRPr>
            </a:lvl8pPr>
            <a:lvl9pPr marL="0" marR="0" lvl="8" indent="0" algn="r" rtl="0">
              <a:spcBef>
                <a:spcPts val="0"/>
              </a:spcBef>
              <a:buNone/>
              <a:defRPr sz="1200" b="1" i="0" u="none" strike="noStrike" cap="none">
                <a:solidFill>
                  <a:srgbClr val="00376F"/>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p:cSld name="Section Header">
    <p:bg>
      <p:bgPr>
        <a:solidFill>
          <a:srgbClr val="FFFFFF"/>
        </a:solidFill>
        <a:effectLst/>
      </p:bgPr>
    </p:bg>
    <p:spTree>
      <p:nvGrpSpPr>
        <p:cNvPr id="1" name="Shape 25"/>
        <p:cNvGrpSpPr/>
        <p:nvPr/>
      </p:nvGrpSpPr>
      <p:grpSpPr>
        <a:xfrm>
          <a:off x="0" y="0"/>
          <a:ext cx="0" cy="0"/>
          <a:chOff x="0" y="0"/>
          <a:chExt cx="0" cy="0"/>
        </a:xfrm>
      </p:grpSpPr>
      <p:sp>
        <p:nvSpPr>
          <p:cNvPr id="26" name="Google Shape;26;p15"/>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00376F"/>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15"/>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00376F"/>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8" name="Google Shape;28;p15"/>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00376F"/>
                </a:solidFill>
                <a:latin typeface="Lato"/>
                <a:ea typeface="Lato"/>
                <a:cs typeface="Lato"/>
                <a:sym typeface="Lato"/>
              </a:defRPr>
            </a:lvl1pPr>
            <a:lvl2pPr marL="0" marR="0" lvl="1" indent="0" algn="r" rtl="0">
              <a:spcBef>
                <a:spcPts val="0"/>
              </a:spcBef>
              <a:buNone/>
              <a:defRPr sz="1200" b="1" i="0" u="none" strike="noStrike" cap="none">
                <a:solidFill>
                  <a:srgbClr val="00376F"/>
                </a:solidFill>
                <a:latin typeface="Lato"/>
                <a:ea typeface="Lato"/>
                <a:cs typeface="Lato"/>
                <a:sym typeface="Lato"/>
              </a:defRPr>
            </a:lvl2pPr>
            <a:lvl3pPr marL="0" marR="0" lvl="2" indent="0" algn="r" rtl="0">
              <a:spcBef>
                <a:spcPts val="0"/>
              </a:spcBef>
              <a:buNone/>
              <a:defRPr sz="1200" b="1" i="0" u="none" strike="noStrike" cap="none">
                <a:solidFill>
                  <a:srgbClr val="00376F"/>
                </a:solidFill>
                <a:latin typeface="Lato"/>
                <a:ea typeface="Lato"/>
                <a:cs typeface="Lato"/>
                <a:sym typeface="Lato"/>
              </a:defRPr>
            </a:lvl3pPr>
            <a:lvl4pPr marL="0" marR="0" lvl="3" indent="0" algn="r" rtl="0">
              <a:spcBef>
                <a:spcPts val="0"/>
              </a:spcBef>
              <a:buNone/>
              <a:defRPr sz="1200" b="1" i="0" u="none" strike="noStrike" cap="none">
                <a:solidFill>
                  <a:srgbClr val="00376F"/>
                </a:solidFill>
                <a:latin typeface="Lato"/>
                <a:ea typeface="Lato"/>
                <a:cs typeface="Lato"/>
                <a:sym typeface="Lato"/>
              </a:defRPr>
            </a:lvl4pPr>
            <a:lvl5pPr marL="0" marR="0" lvl="4" indent="0" algn="r" rtl="0">
              <a:spcBef>
                <a:spcPts val="0"/>
              </a:spcBef>
              <a:buNone/>
              <a:defRPr sz="1200" b="1" i="0" u="none" strike="noStrike" cap="none">
                <a:solidFill>
                  <a:srgbClr val="00376F"/>
                </a:solidFill>
                <a:latin typeface="Lato"/>
                <a:ea typeface="Lato"/>
                <a:cs typeface="Lato"/>
                <a:sym typeface="Lato"/>
              </a:defRPr>
            </a:lvl5pPr>
            <a:lvl6pPr marL="0" marR="0" lvl="5" indent="0" algn="r" rtl="0">
              <a:spcBef>
                <a:spcPts val="0"/>
              </a:spcBef>
              <a:buNone/>
              <a:defRPr sz="1200" b="1" i="0" u="none" strike="noStrike" cap="none">
                <a:solidFill>
                  <a:srgbClr val="00376F"/>
                </a:solidFill>
                <a:latin typeface="Lato"/>
                <a:ea typeface="Lato"/>
                <a:cs typeface="Lato"/>
                <a:sym typeface="Lato"/>
              </a:defRPr>
            </a:lvl6pPr>
            <a:lvl7pPr marL="0" marR="0" lvl="6" indent="0" algn="r" rtl="0">
              <a:spcBef>
                <a:spcPts val="0"/>
              </a:spcBef>
              <a:buNone/>
              <a:defRPr sz="1200" b="1" i="0" u="none" strike="noStrike" cap="none">
                <a:solidFill>
                  <a:srgbClr val="00376F"/>
                </a:solidFill>
                <a:latin typeface="Lato"/>
                <a:ea typeface="Lato"/>
                <a:cs typeface="Lato"/>
                <a:sym typeface="Lato"/>
              </a:defRPr>
            </a:lvl7pPr>
            <a:lvl8pPr marL="0" marR="0" lvl="7" indent="0" algn="r" rtl="0">
              <a:spcBef>
                <a:spcPts val="0"/>
              </a:spcBef>
              <a:buNone/>
              <a:defRPr sz="1200" b="1" i="0" u="none" strike="noStrike" cap="none">
                <a:solidFill>
                  <a:srgbClr val="00376F"/>
                </a:solidFill>
                <a:latin typeface="Lato"/>
                <a:ea typeface="Lato"/>
                <a:cs typeface="Lato"/>
                <a:sym typeface="Lato"/>
              </a:defRPr>
            </a:lvl8pPr>
            <a:lvl9pPr marL="0" marR="0" lvl="8" indent="0" algn="r" rtl="0">
              <a:spcBef>
                <a:spcPts val="0"/>
              </a:spcBef>
              <a:buNone/>
              <a:defRPr sz="1200" b="1" i="0" u="none" strike="noStrike" cap="none">
                <a:solidFill>
                  <a:srgbClr val="00376F"/>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29" name="Google Shape;29;p15"/>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0" name="Google Shape;30;p15"/>
          <p:cNvSpPr txBox="1">
            <a:spLocks noGrp="1"/>
          </p:cNvSpPr>
          <p:nvPr>
            <p:ph type="body" idx="1"/>
          </p:nvPr>
        </p:nvSpPr>
        <p:spPr>
          <a:xfrm>
            <a:off x="338736" y="1058844"/>
            <a:ext cx="11514528" cy="4909124"/>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p:cSld name="Two Content">
    <p:bg>
      <p:bgPr>
        <a:solidFill>
          <a:srgbClr val="FFFFFF"/>
        </a:solidFill>
        <a:effectLst/>
      </p:bgPr>
    </p:bg>
    <p:spTree>
      <p:nvGrpSpPr>
        <p:cNvPr id="1" name="Shape 31"/>
        <p:cNvGrpSpPr/>
        <p:nvPr/>
      </p:nvGrpSpPr>
      <p:grpSpPr>
        <a:xfrm>
          <a:off x="0" y="0"/>
          <a:ext cx="0" cy="0"/>
          <a:chOff x="0" y="0"/>
          <a:chExt cx="0" cy="0"/>
        </a:xfrm>
      </p:grpSpPr>
      <p:sp>
        <p:nvSpPr>
          <p:cNvPr id="32" name="Google Shape;32;p16"/>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00376F"/>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3" name="Google Shape;33;p16"/>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00376F"/>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16"/>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00376F"/>
                </a:solidFill>
                <a:latin typeface="Lato"/>
                <a:ea typeface="Lato"/>
                <a:cs typeface="Lato"/>
                <a:sym typeface="Lato"/>
              </a:defRPr>
            </a:lvl1pPr>
            <a:lvl2pPr marL="0" marR="0" lvl="1" indent="0" algn="r" rtl="0">
              <a:spcBef>
                <a:spcPts val="0"/>
              </a:spcBef>
              <a:buNone/>
              <a:defRPr sz="1200" b="1" i="0" u="none" strike="noStrike" cap="none">
                <a:solidFill>
                  <a:srgbClr val="00376F"/>
                </a:solidFill>
                <a:latin typeface="Lato"/>
                <a:ea typeface="Lato"/>
                <a:cs typeface="Lato"/>
                <a:sym typeface="Lato"/>
              </a:defRPr>
            </a:lvl2pPr>
            <a:lvl3pPr marL="0" marR="0" lvl="2" indent="0" algn="r" rtl="0">
              <a:spcBef>
                <a:spcPts val="0"/>
              </a:spcBef>
              <a:buNone/>
              <a:defRPr sz="1200" b="1" i="0" u="none" strike="noStrike" cap="none">
                <a:solidFill>
                  <a:srgbClr val="00376F"/>
                </a:solidFill>
                <a:latin typeface="Lato"/>
                <a:ea typeface="Lato"/>
                <a:cs typeface="Lato"/>
                <a:sym typeface="Lato"/>
              </a:defRPr>
            </a:lvl3pPr>
            <a:lvl4pPr marL="0" marR="0" lvl="3" indent="0" algn="r" rtl="0">
              <a:spcBef>
                <a:spcPts val="0"/>
              </a:spcBef>
              <a:buNone/>
              <a:defRPr sz="1200" b="1" i="0" u="none" strike="noStrike" cap="none">
                <a:solidFill>
                  <a:srgbClr val="00376F"/>
                </a:solidFill>
                <a:latin typeface="Lato"/>
                <a:ea typeface="Lato"/>
                <a:cs typeface="Lato"/>
                <a:sym typeface="Lato"/>
              </a:defRPr>
            </a:lvl4pPr>
            <a:lvl5pPr marL="0" marR="0" lvl="4" indent="0" algn="r" rtl="0">
              <a:spcBef>
                <a:spcPts val="0"/>
              </a:spcBef>
              <a:buNone/>
              <a:defRPr sz="1200" b="1" i="0" u="none" strike="noStrike" cap="none">
                <a:solidFill>
                  <a:srgbClr val="00376F"/>
                </a:solidFill>
                <a:latin typeface="Lato"/>
                <a:ea typeface="Lato"/>
                <a:cs typeface="Lato"/>
                <a:sym typeface="Lato"/>
              </a:defRPr>
            </a:lvl5pPr>
            <a:lvl6pPr marL="0" marR="0" lvl="5" indent="0" algn="r" rtl="0">
              <a:spcBef>
                <a:spcPts val="0"/>
              </a:spcBef>
              <a:buNone/>
              <a:defRPr sz="1200" b="1" i="0" u="none" strike="noStrike" cap="none">
                <a:solidFill>
                  <a:srgbClr val="00376F"/>
                </a:solidFill>
                <a:latin typeface="Lato"/>
                <a:ea typeface="Lato"/>
                <a:cs typeface="Lato"/>
                <a:sym typeface="Lato"/>
              </a:defRPr>
            </a:lvl6pPr>
            <a:lvl7pPr marL="0" marR="0" lvl="6" indent="0" algn="r" rtl="0">
              <a:spcBef>
                <a:spcPts val="0"/>
              </a:spcBef>
              <a:buNone/>
              <a:defRPr sz="1200" b="1" i="0" u="none" strike="noStrike" cap="none">
                <a:solidFill>
                  <a:srgbClr val="00376F"/>
                </a:solidFill>
                <a:latin typeface="Lato"/>
                <a:ea typeface="Lato"/>
                <a:cs typeface="Lato"/>
                <a:sym typeface="Lato"/>
              </a:defRPr>
            </a:lvl7pPr>
            <a:lvl8pPr marL="0" marR="0" lvl="7" indent="0" algn="r" rtl="0">
              <a:spcBef>
                <a:spcPts val="0"/>
              </a:spcBef>
              <a:buNone/>
              <a:defRPr sz="1200" b="1" i="0" u="none" strike="noStrike" cap="none">
                <a:solidFill>
                  <a:srgbClr val="00376F"/>
                </a:solidFill>
                <a:latin typeface="Lato"/>
                <a:ea typeface="Lato"/>
                <a:cs typeface="Lato"/>
                <a:sym typeface="Lato"/>
              </a:defRPr>
            </a:lvl8pPr>
            <a:lvl9pPr marL="0" marR="0" lvl="8" indent="0" algn="r" rtl="0">
              <a:spcBef>
                <a:spcPts val="0"/>
              </a:spcBef>
              <a:buNone/>
              <a:defRPr sz="1200" b="1" i="0" u="none" strike="noStrike" cap="none">
                <a:solidFill>
                  <a:srgbClr val="00376F"/>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35" name="Google Shape;35;p16"/>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16"/>
          <p:cNvSpPr>
            <a:spLocks noGrp="1"/>
          </p:cNvSpPr>
          <p:nvPr>
            <p:ph type="chart" idx="2"/>
          </p:nvPr>
        </p:nvSpPr>
        <p:spPr>
          <a:xfrm>
            <a:off x="330201" y="1406769"/>
            <a:ext cx="5765800" cy="465589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16"/>
          <p:cNvSpPr>
            <a:spLocks noGrp="1"/>
          </p:cNvSpPr>
          <p:nvPr>
            <p:ph type="pic" idx="3"/>
          </p:nvPr>
        </p:nvSpPr>
        <p:spPr>
          <a:xfrm>
            <a:off x="6238875" y="1414463"/>
            <a:ext cx="5445125" cy="4656137"/>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p:cSld name="Blank">
    <p:bg>
      <p:bgPr>
        <a:solidFill>
          <a:srgbClr val="FFFFFF"/>
        </a:solidFill>
        <a:effectLst/>
      </p:bgPr>
    </p:bg>
    <p:spTree>
      <p:nvGrpSpPr>
        <p:cNvPr id="1" name="Shape 38"/>
        <p:cNvGrpSpPr/>
        <p:nvPr/>
      </p:nvGrpSpPr>
      <p:grpSpPr>
        <a:xfrm>
          <a:off x="0" y="0"/>
          <a:ext cx="0" cy="0"/>
          <a:chOff x="0" y="0"/>
          <a:chExt cx="0" cy="0"/>
        </a:xfrm>
      </p:grpSpPr>
      <p:sp>
        <p:nvSpPr>
          <p:cNvPr id="39" name="Google Shape;39;p17"/>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00376F"/>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0" name="Google Shape;40;p17"/>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00376F"/>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17"/>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00376F"/>
                </a:solidFill>
                <a:latin typeface="Lato"/>
                <a:ea typeface="Lato"/>
                <a:cs typeface="Lato"/>
                <a:sym typeface="Lato"/>
              </a:defRPr>
            </a:lvl1pPr>
            <a:lvl2pPr marL="0" marR="0" lvl="1" indent="0" algn="r" rtl="0">
              <a:spcBef>
                <a:spcPts val="0"/>
              </a:spcBef>
              <a:buNone/>
              <a:defRPr sz="1200" b="1" i="0" u="none" strike="noStrike" cap="none">
                <a:solidFill>
                  <a:srgbClr val="00376F"/>
                </a:solidFill>
                <a:latin typeface="Lato"/>
                <a:ea typeface="Lato"/>
                <a:cs typeface="Lato"/>
                <a:sym typeface="Lato"/>
              </a:defRPr>
            </a:lvl2pPr>
            <a:lvl3pPr marL="0" marR="0" lvl="2" indent="0" algn="r" rtl="0">
              <a:spcBef>
                <a:spcPts val="0"/>
              </a:spcBef>
              <a:buNone/>
              <a:defRPr sz="1200" b="1" i="0" u="none" strike="noStrike" cap="none">
                <a:solidFill>
                  <a:srgbClr val="00376F"/>
                </a:solidFill>
                <a:latin typeface="Lato"/>
                <a:ea typeface="Lato"/>
                <a:cs typeface="Lato"/>
                <a:sym typeface="Lato"/>
              </a:defRPr>
            </a:lvl3pPr>
            <a:lvl4pPr marL="0" marR="0" lvl="3" indent="0" algn="r" rtl="0">
              <a:spcBef>
                <a:spcPts val="0"/>
              </a:spcBef>
              <a:buNone/>
              <a:defRPr sz="1200" b="1" i="0" u="none" strike="noStrike" cap="none">
                <a:solidFill>
                  <a:srgbClr val="00376F"/>
                </a:solidFill>
                <a:latin typeface="Lato"/>
                <a:ea typeface="Lato"/>
                <a:cs typeface="Lato"/>
                <a:sym typeface="Lato"/>
              </a:defRPr>
            </a:lvl4pPr>
            <a:lvl5pPr marL="0" marR="0" lvl="4" indent="0" algn="r" rtl="0">
              <a:spcBef>
                <a:spcPts val="0"/>
              </a:spcBef>
              <a:buNone/>
              <a:defRPr sz="1200" b="1" i="0" u="none" strike="noStrike" cap="none">
                <a:solidFill>
                  <a:srgbClr val="00376F"/>
                </a:solidFill>
                <a:latin typeface="Lato"/>
                <a:ea typeface="Lato"/>
                <a:cs typeface="Lato"/>
                <a:sym typeface="Lato"/>
              </a:defRPr>
            </a:lvl5pPr>
            <a:lvl6pPr marL="0" marR="0" lvl="5" indent="0" algn="r" rtl="0">
              <a:spcBef>
                <a:spcPts val="0"/>
              </a:spcBef>
              <a:buNone/>
              <a:defRPr sz="1200" b="1" i="0" u="none" strike="noStrike" cap="none">
                <a:solidFill>
                  <a:srgbClr val="00376F"/>
                </a:solidFill>
                <a:latin typeface="Lato"/>
                <a:ea typeface="Lato"/>
                <a:cs typeface="Lato"/>
                <a:sym typeface="Lato"/>
              </a:defRPr>
            </a:lvl6pPr>
            <a:lvl7pPr marL="0" marR="0" lvl="6" indent="0" algn="r" rtl="0">
              <a:spcBef>
                <a:spcPts val="0"/>
              </a:spcBef>
              <a:buNone/>
              <a:defRPr sz="1200" b="1" i="0" u="none" strike="noStrike" cap="none">
                <a:solidFill>
                  <a:srgbClr val="00376F"/>
                </a:solidFill>
                <a:latin typeface="Lato"/>
                <a:ea typeface="Lato"/>
                <a:cs typeface="Lato"/>
                <a:sym typeface="Lato"/>
              </a:defRPr>
            </a:lvl7pPr>
            <a:lvl8pPr marL="0" marR="0" lvl="7" indent="0" algn="r" rtl="0">
              <a:spcBef>
                <a:spcPts val="0"/>
              </a:spcBef>
              <a:buNone/>
              <a:defRPr sz="1200" b="1" i="0" u="none" strike="noStrike" cap="none">
                <a:solidFill>
                  <a:srgbClr val="00376F"/>
                </a:solidFill>
                <a:latin typeface="Lato"/>
                <a:ea typeface="Lato"/>
                <a:cs typeface="Lato"/>
                <a:sym typeface="Lato"/>
              </a:defRPr>
            </a:lvl8pPr>
            <a:lvl9pPr marL="0" marR="0" lvl="8" indent="0" algn="r" rtl="0">
              <a:spcBef>
                <a:spcPts val="0"/>
              </a:spcBef>
              <a:buNone/>
              <a:defRPr sz="1200" b="1" i="0" u="none" strike="noStrike" cap="none">
                <a:solidFill>
                  <a:srgbClr val="00376F"/>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42" name="Google Shape;42;p17"/>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3" name="Google Shape;43;p17"/>
          <p:cNvSpPr>
            <a:spLocks noGrp="1"/>
          </p:cNvSpPr>
          <p:nvPr>
            <p:ph type="chart" idx="2"/>
          </p:nvPr>
        </p:nvSpPr>
        <p:spPr>
          <a:xfrm>
            <a:off x="338736" y="1406525"/>
            <a:ext cx="5757264" cy="46704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17"/>
          <p:cNvSpPr>
            <a:spLocks noGrp="1"/>
          </p:cNvSpPr>
          <p:nvPr>
            <p:ph type="tbl" idx="3"/>
          </p:nvPr>
        </p:nvSpPr>
        <p:spPr>
          <a:xfrm>
            <a:off x="6210300" y="1392239"/>
            <a:ext cx="5592763" cy="468471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p:cSld name="Title Only">
    <p:bg>
      <p:bgPr>
        <a:blipFill>
          <a:blip r:embed="rId2">
            <a:alphaModFix/>
          </a:blip>
          <a:stretch>
            <a:fillRect/>
          </a:stretch>
        </a:blipFill>
        <a:effectLst/>
      </p:bgPr>
    </p:bg>
    <p:spTree>
      <p:nvGrpSpPr>
        <p:cNvPr id="1" name="Shape 45"/>
        <p:cNvGrpSpPr/>
        <p:nvPr/>
      </p:nvGrpSpPr>
      <p:grpSpPr>
        <a:xfrm>
          <a:off x="0" y="0"/>
          <a:ext cx="0" cy="0"/>
          <a:chOff x="0" y="0"/>
          <a:chExt cx="0" cy="0"/>
        </a:xfrm>
      </p:grpSpPr>
      <p:sp>
        <p:nvSpPr>
          <p:cNvPr id="46" name="Google Shape;46;p18"/>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chemeClr val="lt1"/>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18"/>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00376F"/>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18"/>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00376F"/>
                </a:solidFill>
                <a:latin typeface="Lato"/>
                <a:ea typeface="Lato"/>
                <a:cs typeface="Lato"/>
                <a:sym typeface="Lato"/>
              </a:defRPr>
            </a:lvl1pPr>
            <a:lvl2pPr marL="0" marR="0" lvl="1" indent="0" algn="r" rtl="0">
              <a:spcBef>
                <a:spcPts val="0"/>
              </a:spcBef>
              <a:buNone/>
              <a:defRPr sz="1200" b="1" i="0" u="none" strike="noStrike" cap="none">
                <a:solidFill>
                  <a:srgbClr val="00376F"/>
                </a:solidFill>
                <a:latin typeface="Lato"/>
                <a:ea typeface="Lato"/>
                <a:cs typeface="Lato"/>
                <a:sym typeface="Lato"/>
              </a:defRPr>
            </a:lvl2pPr>
            <a:lvl3pPr marL="0" marR="0" lvl="2" indent="0" algn="r" rtl="0">
              <a:spcBef>
                <a:spcPts val="0"/>
              </a:spcBef>
              <a:buNone/>
              <a:defRPr sz="1200" b="1" i="0" u="none" strike="noStrike" cap="none">
                <a:solidFill>
                  <a:srgbClr val="00376F"/>
                </a:solidFill>
                <a:latin typeface="Lato"/>
                <a:ea typeface="Lato"/>
                <a:cs typeface="Lato"/>
                <a:sym typeface="Lato"/>
              </a:defRPr>
            </a:lvl3pPr>
            <a:lvl4pPr marL="0" marR="0" lvl="3" indent="0" algn="r" rtl="0">
              <a:spcBef>
                <a:spcPts val="0"/>
              </a:spcBef>
              <a:buNone/>
              <a:defRPr sz="1200" b="1" i="0" u="none" strike="noStrike" cap="none">
                <a:solidFill>
                  <a:srgbClr val="00376F"/>
                </a:solidFill>
                <a:latin typeface="Lato"/>
                <a:ea typeface="Lato"/>
                <a:cs typeface="Lato"/>
                <a:sym typeface="Lato"/>
              </a:defRPr>
            </a:lvl4pPr>
            <a:lvl5pPr marL="0" marR="0" lvl="4" indent="0" algn="r" rtl="0">
              <a:spcBef>
                <a:spcPts val="0"/>
              </a:spcBef>
              <a:buNone/>
              <a:defRPr sz="1200" b="1" i="0" u="none" strike="noStrike" cap="none">
                <a:solidFill>
                  <a:srgbClr val="00376F"/>
                </a:solidFill>
                <a:latin typeface="Lato"/>
                <a:ea typeface="Lato"/>
                <a:cs typeface="Lato"/>
                <a:sym typeface="Lato"/>
              </a:defRPr>
            </a:lvl5pPr>
            <a:lvl6pPr marL="0" marR="0" lvl="5" indent="0" algn="r" rtl="0">
              <a:spcBef>
                <a:spcPts val="0"/>
              </a:spcBef>
              <a:buNone/>
              <a:defRPr sz="1200" b="1" i="0" u="none" strike="noStrike" cap="none">
                <a:solidFill>
                  <a:srgbClr val="00376F"/>
                </a:solidFill>
                <a:latin typeface="Lato"/>
                <a:ea typeface="Lato"/>
                <a:cs typeface="Lato"/>
                <a:sym typeface="Lato"/>
              </a:defRPr>
            </a:lvl6pPr>
            <a:lvl7pPr marL="0" marR="0" lvl="6" indent="0" algn="r" rtl="0">
              <a:spcBef>
                <a:spcPts val="0"/>
              </a:spcBef>
              <a:buNone/>
              <a:defRPr sz="1200" b="1" i="0" u="none" strike="noStrike" cap="none">
                <a:solidFill>
                  <a:srgbClr val="00376F"/>
                </a:solidFill>
                <a:latin typeface="Lato"/>
                <a:ea typeface="Lato"/>
                <a:cs typeface="Lato"/>
                <a:sym typeface="Lato"/>
              </a:defRPr>
            </a:lvl7pPr>
            <a:lvl8pPr marL="0" marR="0" lvl="7" indent="0" algn="r" rtl="0">
              <a:spcBef>
                <a:spcPts val="0"/>
              </a:spcBef>
              <a:buNone/>
              <a:defRPr sz="1200" b="1" i="0" u="none" strike="noStrike" cap="none">
                <a:solidFill>
                  <a:srgbClr val="00376F"/>
                </a:solidFill>
                <a:latin typeface="Lato"/>
                <a:ea typeface="Lato"/>
                <a:cs typeface="Lato"/>
                <a:sym typeface="Lato"/>
              </a:defRPr>
            </a:lvl8pPr>
            <a:lvl9pPr marL="0" marR="0" lvl="8" indent="0" algn="r" rtl="0">
              <a:spcBef>
                <a:spcPts val="0"/>
              </a:spcBef>
              <a:buNone/>
              <a:defRPr sz="1200" b="1" i="0" u="none" strike="noStrike" cap="none">
                <a:solidFill>
                  <a:srgbClr val="00376F"/>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49" name="Google Shape;49;p18"/>
          <p:cNvSpPr txBox="1">
            <a:spLocks noGrp="1"/>
          </p:cNvSpPr>
          <p:nvPr>
            <p:ph type="body" idx="1"/>
          </p:nvPr>
        </p:nvSpPr>
        <p:spPr>
          <a:xfrm>
            <a:off x="4558372" y="1248325"/>
            <a:ext cx="7391400" cy="5205412"/>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0" name="Google Shape;50;p18"/>
          <p:cNvSpPr txBox="1">
            <a:spLocks noGrp="1"/>
          </p:cNvSpPr>
          <p:nvPr>
            <p:ph type="title"/>
          </p:nvPr>
        </p:nvSpPr>
        <p:spPr>
          <a:xfrm>
            <a:off x="4558372" y="404265"/>
            <a:ext cx="7391400"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2800"/>
              <a:buFont typeface="Lato"/>
              <a:buNone/>
              <a:defRPr sz="2800" b="1" i="0" u="none" strike="noStrike" cap="non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Comparison">
  <p:cSld name="2_Comparison">
    <p:bg>
      <p:bgPr>
        <a:solidFill>
          <a:srgbClr val="FFFFFF"/>
        </a:solidFill>
        <a:effectLst/>
      </p:bgPr>
    </p:bg>
    <p:spTree>
      <p:nvGrpSpPr>
        <p:cNvPr id="1" name="Shape 51"/>
        <p:cNvGrpSpPr/>
        <p:nvPr/>
      </p:nvGrpSpPr>
      <p:grpSpPr>
        <a:xfrm>
          <a:off x="0" y="0"/>
          <a:ext cx="0" cy="0"/>
          <a:chOff x="0" y="0"/>
          <a:chExt cx="0" cy="0"/>
        </a:xfrm>
      </p:grpSpPr>
      <p:sp>
        <p:nvSpPr>
          <p:cNvPr id="52" name="Google Shape;52;p19"/>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3" name="Google Shape;53;p19"/>
          <p:cNvSpPr txBox="1">
            <a:spLocks noGrp="1"/>
          </p:cNvSpPr>
          <p:nvPr>
            <p:ph type="body" idx="1"/>
          </p:nvPr>
        </p:nvSpPr>
        <p:spPr>
          <a:xfrm>
            <a:off x="337539" y="1032510"/>
            <a:ext cx="11515725" cy="493871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4" name="Google Shape;54;p19"/>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00376F"/>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19"/>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00376F"/>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19"/>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00376F"/>
                </a:solidFill>
                <a:latin typeface="Lato"/>
                <a:ea typeface="Lato"/>
                <a:cs typeface="Lato"/>
                <a:sym typeface="Lato"/>
              </a:defRPr>
            </a:lvl1pPr>
            <a:lvl2pPr marL="0" marR="0" lvl="1" indent="0" algn="r" rtl="0">
              <a:spcBef>
                <a:spcPts val="0"/>
              </a:spcBef>
              <a:buNone/>
              <a:defRPr sz="1200" b="1" i="0" u="none" strike="noStrike" cap="none">
                <a:solidFill>
                  <a:srgbClr val="00376F"/>
                </a:solidFill>
                <a:latin typeface="Lato"/>
                <a:ea typeface="Lato"/>
                <a:cs typeface="Lato"/>
                <a:sym typeface="Lato"/>
              </a:defRPr>
            </a:lvl2pPr>
            <a:lvl3pPr marL="0" marR="0" lvl="2" indent="0" algn="r" rtl="0">
              <a:spcBef>
                <a:spcPts val="0"/>
              </a:spcBef>
              <a:buNone/>
              <a:defRPr sz="1200" b="1" i="0" u="none" strike="noStrike" cap="none">
                <a:solidFill>
                  <a:srgbClr val="00376F"/>
                </a:solidFill>
                <a:latin typeface="Lato"/>
                <a:ea typeface="Lato"/>
                <a:cs typeface="Lato"/>
                <a:sym typeface="Lato"/>
              </a:defRPr>
            </a:lvl3pPr>
            <a:lvl4pPr marL="0" marR="0" lvl="3" indent="0" algn="r" rtl="0">
              <a:spcBef>
                <a:spcPts val="0"/>
              </a:spcBef>
              <a:buNone/>
              <a:defRPr sz="1200" b="1" i="0" u="none" strike="noStrike" cap="none">
                <a:solidFill>
                  <a:srgbClr val="00376F"/>
                </a:solidFill>
                <a:latin typeface="Lato"/>
                <a:ea typeface="Lato"/>
                <a:cs typeface="Lato"/>
                <a:sym typeface="Lato"/>
              </a:defRPr>
            </a:lvl4pPr>
            <a:lvl5pPr marL="0" marR="0" lvl="4" indent="0" algn="r" rtl="0">
              <a:spcBef>
                <a:spcPts val="0"/>
              </a:spcBef>
              <a:buNone/>
              <a:defRPr sz="1200" b="1" i="0" u="none" strike="noStrike" cap="none">
                <a:solidFill>
                  <a:srgbClr val="00376F"/>
                </a:solidFill>
                <a:latin typeface="Lato"/>
                <a:ea typeface="Lato"/>
                <a:cs typeface="Lato"/>
                <a:sym typeface="Lato"/>
              </a:defRPr>
            </a:lvl5pPr>
            <a:lvl6pPr marL="0" marR="0" lvl="5" indent="0" algn="r" rtl="0">
              <a:spcBef>
                <a:spcPts val="0"/>
              </a:spcBef>
              <a:buNone/>
              <a:defRPr sz="1200" b="1" i="0" u="none" strike="noStrike" cap="none">
                <a:solidFill>
                  <a:srgbClr val="00376F"/>
                </a:solidFill>
                <a:latin typeface="Lato"/>
                <a:ea typeface="Lato"/>
                <a:cs typeface="Lato"/>
                <a:sym typeface="Lato"/>
              </a:defRPr>
            </a:lvl6pPr>
            <a:lvl7pPr marL="0" marR="0" lvl="6" indent="0" algn="r" rtl="0">
              <a:spcBef>
                <a:spcPts val="0"/>
              </a:spcBef>
              <a:buNone/>
              <a:defRPr sz="1200" b="1" i="0" u="none" strike="noStrike" cap="none">
                <a:solidFill>
                  <a:srgbClr val="00376F"/>
                </a:solidFill>
                <a:latin typeface="Lato"/>
                <a:ea typeface="Lato"/>
                <a:cs typeface="Lato"/>
                <a:sym typeface="Lato"/>
              </a:defRPr>
            </a:lvl7pPr>
            <a:lvl8pPr marL="0" marR="0" lvl="7" indent="0" algn="r" rtl="0">
              <a:spcBef>
                <a:spcPts val="0"/>
              </a:spcBef>
              <a:buNone/>
              <a:defRPr sz="1200" b="1" i="0" u="none" strike="noStrike" cap="none">
                <a:solidFill>
                  <a:srgbClr val="00376F"/>
                </a:solidFill>
                <a:latin typeface="Lato"/>
                <a:ea typeface="Lato"/>
                <a:cs typeface="Lato"/>
                <a:sym typeface="Lato"/>
              </a:defRPr>
            </a:lvl8pPr>
            <a:lvl9pPr marL="0" marR="0" lvl="8" indent="0" algn="r" rtl="0">
              <a:spcBef>
                <a:spcPts val="0"/>
              </a:spcBef>
              <a:buNone/>
              <a:defRPr sz="1200" b="1" i="0" u="none" strike="noStrike" cap="none">
                <a:solidFill>
                  <a:srgbClr val="00376F"/>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Two Content">
  <p:cSld name="1_Two Content">
    <p:bg>
      <p:bgPr>
        <a:solidFill>
          <a:srgbClr val="FFFFFF"/>
        </a:solidFill>
        <a:effectLst/>
      </p:bgPr>
    </p:bg>
    <p:spTree>
      <p:nvGrpSpPr>
        <p:cNvPr id="1" name="Shape 57"/>
        <p:cNvGrpSpPr/>
        <p:nvPr/>
      </p:nvGrpSpPr>
      <p:grpSpPr>
        <a:xfrm>
          <a:off x="0" y="0"/>
          <a:ext cx="0" cy="0"/>
          <a:chOff x="0" y="0"/>
          <a:chExt cx="0" cy="0"/>
        </a:xfrm>
      </p:grpSpPr>
      <p:sp>
        <p:nvSpPr>
          <p:cNvPr id="58" name="Google Shape;58;p20"/>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00376F"/>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20"/>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00376F"/>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20"/>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00376F"/>
                </a:solidFill>
                <a:latin typeface="Lato"/>
                <a:ea typeface="Lato"/>
                <a:cs typeface="Lato"/>
                <a:sym typeface="Lato"/>
              </a:defRPr>
            </a:lvl1pPr>
            <a:lvl2pPr marL="0" marR="0" lvl="1" indent="0" algn="r" rtl="0">
              <a:spcBef>
                <a:spcPts val="0"/>
              </a:spcBef>
              <a:buNone/>
              <a:defRPr sz="1200" b="1" i="0" u="none" strike="noStrike" cap="none">
                <a:solidFill>
                  <a:srgbClr val="00376F"/>
                </a:solidFill>
                <a:latin typeface="Lato"/>
                <a:ea typeface="Lato"/>
                <a:cs typeface="Lato"/>
                <a:sym typeface="Lato"/>
              </a:defRPr>
            </a:lvl2pPr>
            <a:lvl3pPr marL="0" marR="0" lvl="2" indent="0" algn="r" rtl="0">
              <a:spcBef>
                <a:spcPts val="0"/>
              </a:spcBef>
              <a:buNone/>
              <a:defRPr sz="1200" b="1" i="0" u="none" strike="noStrike" cap="none">
                <a:solidFill>
                  <a:srgbClr val="00376F"/>
                </a:solidFill>
                <a:latin typeface="Lato"/>
                <a:ea typeface="Lato"/>
                <a:cs typeface="Lato"/>
                <a:sym typeface="Lato"/>
              </a:defRPr>
            </a:lvl3pPr>
            <a:lvl4pPr marL="0" marR="0" lvl="3" indent="0" algn="r" rtl="0">
              <a:spcBef>
                <a:spcPts val="0"/>
              </a:spcBef>
              <a:buNone/>
              <a:defRPr sz="1200" b="1" i="0" u="none" strike="noStrike" cap="none">
                <a:solidFill>
                  <a:srgbClr val="00376F"/>
                </a:solidFill>
                <a:latin typeface="Lato"/>
                <a:ea typeface="Lato"/>
                <a:cs typeface="Lato"/>
                <a:sym typeface="Lato"/>
              </a:defRPr>
            </a:lvl4pPr>
            <a:lvl5pPr marL="0" marR="0" lvl="4" indent="0" algn="r" rtl="0">
              <a:spcBef>
                <a:spcPts val="0"/>
              </a:spcBef>
              <a:buNone/>
              <a:defRPr sz="1200" b="1" i="0" u="none" strike="noStrike" cap="none">
                <a:solidFill>
                  <a:srgbClr val="00376F"/>
                </a:solidFill>
                <a:latin typeface="Lato"/>
                <a:ea typeface="Lato"/>
                <a:cs typeface="Lato"/>
                <a:sym typeface="Lato"/>
              </a:defRPr>
            </a:lvl5pPr>
            <a:lvl6pPr marL="0" marR="0" lvl="5" indent="0" algn="r" rtl="0">
              <a:spcBef>
                <a:spcPts val="0"/>
              </a:spcBef>
              <a:buNone/>
              <a:defRPr sz="1200" b="1" i="0" u="none" strike="noStrike" cap="none">
                <a:solidFill>
                  <a:srgbClr val="00376F"/>
                </a:solidFill>
                <a:latin typeface="Lato"/>
                <a:ea typeface="Lato"/>
                <a:cs typeface="Lato"/>
                <a:sym typeface="Lato"/>
              </a:defRPr>
            </a:lvl6pPr>
            <a:lvl7pPr marL="0" marR="0" lvl="6" indent="0" algn="r" rtl="0">
              <a:spcBef>
                <a:spcPts val="0"/>
              </a:spcBef>
              <a:buNone/>
              <a:defRPr sz="1200" b="1" i="0" u="none" strike="noStrike" cap="none">
                <a:solidFill>
                  <a:srgbClr val="00376F"/>
                </a:solidFill>
                <a:latin typeface="Lato"/>
                <a:ea typeface="Lato"/>
                <a:cs typeface="Lato"/>
                <a:sym typeface="Lato"/>
              </a:defRPr>
            </a:lvl7pPr>
            <a:lvl8pPr marL="0" marR="0" lvl="7" indent="0" algn="r" rtl="0">
              <a:spcBef>
                <a:spcPts val="0"/>
              </a:spcBef>
              <a:buNone/>
              <a:defRPr sz="1200" b="1" i="0" u="none" strike="noStrike" cap="none">
                <a:solidFill>
                  <a:srgbClr val="00376F"/>
                </a:solidFill>
                <a:latin typeface="Lato"/>
                <a:ea typeface="Lato"/>
                <a:cs typeface="Lato"/>
                <a:sym typeface="Lato"/>
              </a:defRPr>
            </a:lvl8pPr>
            <a:lvl9pPr marL="0" marR="0" lvl="8" indent="0" algn="r" rtl="0">
              <a:spcBef>
                <a:spcPts val="0"/>
              </a:spcBef>
              <a:buNone/>
              <a:defRPr sz="1200" b="1" i="0" u="none" strike="noStrike" cap="none">
                <a:solidFill>
                  <a:srgbClr val="00376F"/>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61" name="Google Shape;61;p20"/>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2" name="Google Shape;62;p20"/>
          <p:cNvSpPr>
            <a:spLocks noGrp="1"/>
          </p:cNvSpPr>
          <p:nvPr>
            <p:ph type="chart" idx="2"/>
          </p:nvPr>
        </p:nvSpPr>
        <p:spPr>
          <a:xfrm>
            <a:off x="330201" y="1406769"/>
            <a:ext cx="5765800" cy="465589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3" name="Google Shape;63;p20"/>
          <p:cNvSpPr>
            <a:spLocks noGrp="1"/>
          </p:cNvSpPr>
          <p:nvPr>
            <p:ph type="pic" idx="3"/>
          </p:nvPr>
        </p:nvSpPr>
        <p:spPr>
          <a:xfrm>
            <a:off x="6238875" y="1414463"/>
            <a:ext cx="5445125" cy="4656137"/>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Comparison">
  <p:cSld name="1_Comparison">
    <p:bg>
      <p:bgPr>
        <a:solidFill>
          <a:srgbClr val="FFFFFF"/>
        </a:solidFill>
        <a:effectLst/>
      </p:bgPr>
    </p:bg>
    <p:spTree>
      <p:nvGrpSpPr>
        <p:cNvPr id="1" name="Shape 64"/>
        <p:cNvGrpSpPr/>
        <p:nvPr/>
      </p:nvGrpSpPr>
      <p:grpSpPr>
        <a:xfrm>
          <a:off x="0" y="0"/>
          <a:ext cx="0" cy="0"/>
          <a:chOff x="0" y="0"/>
          <a:chExt cx="0" cy="0"/>
        </a:xfrm>
      </p:grpSpPr>
      <p:sp>
        <p:nvSpPr>
          <p:cNvPr id="65" name="Google Shape;65;p21"/>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6" name="Google Shape;66;p21"/>
          <p:cNvSpPr txBox="1">
            <a:spLocks noGrp="1"/>
          </p:cNvSpPr>
          <p:nvPr>
            <p:ph type="body" idx="1"/>
          </p:nvPr>
        </p:nvSpPr>
        <p:spPr>
          <a:xfrm>
            <a:off x="337539" y="1032510"/>
            <a:ext cx="11515725" cy="493871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7" name="Google Shape;67;p21"/>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00376F"/>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8" name="Google Shape;68;p21"/>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00376F"/>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9" name="Google Shape;69;p21"/>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00376F"/>
                </a:solidFill>
                <a:latin typeface="Lato"/>
                <a:ea typeface="Lato"/>
                <a:cs typeface="Lato"/>
                <a:sym typeface="Lato"/>
              </a:defRPr>
            </a:lvl1pPr>
            <a:lvl2pPr marL="0" marR="0" lvl="1" indent="0" algn="r" rtl="0">
              <a:spcBef>
                <a:spcPts val="0"/>
              </a:spcBef>
              <a:buNone/>
              <a:defRPr sz="1200" b="1" i="0" u="none" strike="noStrike" cap="none">
                <a:solidFill>
                  <a:srgbClr val="00376F"/>
                </a:solidFill>
                <a:latin typeface="Lato"/>
                <a:ea typeface="Lato"/>
                <a:cs typeface="Lato"/>
                <a:sym typeface="Lato"/>
              </a:defRPr>
            </a:lvl2pPr>
            <a:lvl3pPr marL="0" marR="0" lvl="2" indent="0" algn="r" rtl="0">
              <a:spcBef>
                <a:spcPts val="0"/>
              </a:spcBef>
              <a:buNone/>
              <a:defRPr sz="1200" b="1" i="0" u="none" strike="noStrike" cap="none">
                <a:solidFill>
                  <a:srgbClr val="00376F"/>
                </a:solidFill>
                <a:latin typeface="Lato"/>
                <a:ea typeface="Lato"/>
                <a:cs typeface="Lato"/>
                <a:sym typeface="Lato"/>
              </a:defRPr>
            </a:lvl3pPr>
            <a:lvl4pPr marL="0" marR="0" lvl="3" indent="0" algn="r" rtl="0">
              <a:spcBef>
                <a:spcPts val="0"/>
              </a:spcBef>
              <a:buNone/>
              <a:defRPr sz="1200" b="1" i="0" u="none" strike="noStrike" cap="none">
                <a:solidFill>
                  <a:srgbClr val="00376F"/>
                </a:solidFill>
                <a:latin typeface="Lato"/>
                <a:ea typeface="Lato"/>
                <a:cs typeface="Lato"/>
                <a:sym typeface="Lato"/>
              </a:defRPr>
            </a:lvl4pPr>
            <a:lvl5pPr marL="0" marR="0" lvl="4" indent="0" algn="r" rtl="0">
              <a:spcBef>
                <a:spcPts val="0"/>
              </a:spcBef>
              <a:buNone/>
              <a:defRPr sz="1200" b="1" i="0" u="none" strike="noStrike" cap="none">
                <a:solidFill>
                  <a:srgbClr val="00376F"/>
                </a:solidFill>
                <a:latin typeface="Lato"/>
                <a:ea typeface="Lato"/>
                <a:cs typeface="Lato"/>
                <a:sym typeface="Lato"/>
              </a:defRPr>
            </a:lvl5pPr>
            <a:lvl6pPr marL="0" marR="0" lvl="5" indent="0" algn="r" rtl="0">
              <a:spcBef>
                <a:spcPts val="0"/>
              </a:spcBef>
              <a:buNone/>
              <a:defRPr sz="1200" b="1" i="0" u="none" strike="noStrike" cap="none">
                <a:solidFill>
                  <a:srgbClr val="00376F"/>
                </a:solidFill>
                <a:latin typeface="Lato"/>
                <a:ea typeface="Lato"/>
                <a:cs typeface="Lato"/>
                <a:sym typeface="Lato"/>
              </a:defRPr>
            </a:lvl6pPr>
            <a:lvl7pPr marL="0" marR="0" lvl="6" indent="0" algn="r" rtl="0">
              <a:spcBef>
                <a:spcPts val="0"/>
              </a:spcBef>
              <a:buNone/>
              <a:defRPr sz="1200" b="1" i="0" u="none" strike="noStrike" cap="none">
                <a:solidFill>
                  <a:srgbClr val="00376F"/>
                </a:solidFill>
                <a:latin typeface="Lato"/>
                <a:ea typeface="Lato"/>
                <a:cs typeface="Lato"/>
                <a:sym typeface="Lato"/>
              </a:defRPr>
            </a:lvl7pPr>
            <a:lvl8pPr marL="0" marR="0" lvl="7" indent="0" algn="r" rtl="0">
              <a:spcBef>
                <a:spcPts val="0"/>
              </a:spcBef>
              <a:buNone/>
              <a:defRPr sz="1200" b="1" i="0" u="none" strike="noStrike" cap="none">
                <a:solidFill>
                  <a:srgbClr val="00376F"/>
                </a:solidFill>
                <a:latin typeface="Lato"/>
                <a:ea typeface="Lato"/>
                <a:cs typeface="Lato"/>
                <a:sym typeface="Lato"/>
              </a:defRPr>
            </a:lvl8pPr>
            <a:lvl9pPr marL="0" marR="0" lvl="8" indent="0" algn="r" rtl="0">
              <a:spcBef>
                <a:spcPts val="0"/>
              </a:spcBef>
              <a:buNone/>
              <a:defRPr sz="1200" b="1" i="0" u="none" strike="noStrike" cap="none">
                <a:solidFill>
                  <a:srgbClr val="00376F"/>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Two Content">
  <p:cSld name="2_Two Content">
    <p:bg>
      <p:bgPr>
        <a:solidFill>
          <a:srgbClr val="FFFFFF"/>
        </a:solidFill>
        <a:effectLst/>
      </p:bgPr>
    </p:bg>
    <p:spTree>
      <p:nvGrpSpPr>
        <p:cNvPr id="1" name="Shape 70"/>
        <p:cNvGrpSpPr/>
        <p:nvPr/>
      </p:nvGrpSpPr>
      <p:grpSpPr>
        <a:xfrm>
          <a:off x="0" y="0"/>
          <a:ext cx="0" cy="0"/>
          <a:chOff x="0" y="0"/>
          <a:chExt cx="0" cy="0"/>
        </a:xfrm>
      </p:grpSpPr>
      <p:sp>
        <p:nvSpPr>
          <p:cNvPr id="71" name="Google Shape;71;p22"/>
          <p:cNvSpPr txBox="1">
            <a:spLocks noGrp="1"/>
          </p:cNvSpPr>
          <p:nvPr>
            <p:ph type="dt" idx="10"/>
          </p:nvPr>
        </p:nvSpPr>
        <p:spPr>
          <a:xfrm>
            <a:off x="838200" y="6486006"/>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00376F"/>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2" name="Google Shape;72;p22"/>
          <p:cNvSpPr txBox="1">
            <a:spLocks noGrp="1"/>
          </p:cNvSpPr>
          <p:nvPr>
            <p:ph type="ftr" idx="11"/>
          </p:nvPr>
        </p:nvSpPr>
        <p:spPr>
          <a:xfrm>
            <a:off x="4038600" y="6486006"/>
            <a:ext cx="41148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00376F"/>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3" name="Google Shape;73;p22"/>
          <p:cNvSpPr txBox="1">
            <a:spLocks noGrp="1"/>
          </p:cNvSpPr>
          <p:nvPr>
            <p:ph type="sldNum" idx="12"/>
          </p:nvPr>
        </p:nvSpPr>
        <p:spPr>
          <a:xfrm>
            <a:off x="9156511" y="6492875"/>
            <a:ext cx="27432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00376F"/>
                </a:solidFill>
                <a:latin typeface="Lato"/>
                <a:ea typeface="Lato"/>
                <a:cs typeface="Lato"/>
                <a:sym typeface="Lato"/>
              </a:defRPr>
            </a:lvl1pPr>
            <a:lvl2pPr marL="0" marR="0" lvl="1" indent="0" algn="r" rtl="0">
              <a:spcBef>
                <a:spcPts val="0"/>
              </a:spcBef>
              <a:buNone/>
              <a:defRPr sz="1200" b="1" i="0" u="none" strike="noStrike" cap="none">
                <a:solidFill>
                  <a:srgbClr val="00376F"/>
                </a:solidFill>
                <a:latin typeface="Lato"/>
                <a:ea typeface="Lato"/>
                <a:cs typeface="Lato"/>
                <a:sym typeface="Lato"/>
              </a:defRPr>
            </a:lvl2pPr>
            <a:lvl3pPr marL="0" marR="0" lvl="2" indent="0" algn="r" rtl="0">
              <a:spcBef>
                <a:spcPts val="0"/>
              </a:spcBef>
              <a:buNone/>
              <a:defRPr sz="1200" b="1" i="0" u="none" strike="noStrike" cap="none">
                <a:solidFill>
                  <a:srgbClr val="00376F"/>
                </a:solidFill>
                <a:latin typeface="Lato"/>
                <a:ea typeface="Lato"/>
                <a:cs typeface="Lato"/>
                <a:sym typeface="Lato"/>
              </a:defRPr>
            </a:lvl3pPr>
            <a:lvl4pPr marL="0" marR="0" lvl="3" indent="0" algn="r" rtl="0">
              <a:spcBef>
                <a:spcPts val="0"/>
              </a:spcBef>
              <a:buNone/>
              <a:defRPr sz="1200" b="1" i="0" u="none" strike="noStrike" cap="none">
                <a:solidFill>
                  <a:srgbClr val="00376F"/>
                </a:solidFill>
                <a:latin typeface="Lato"/>
                <a:ea typeface="Lato"/>
                <a:cs typeface="Lato"/>
                <a:sym typeface="Lato"/>
              </a:defRPr>
            </a:lvl4pPr>
            <a:lvl5pPr marL="0" marR="0" lvl="4" indent="0" algn="r" rtl="0">
              <a:spcBef>
                <a:spcPts val="0"/>
              </a:spcBef>
              <a:buNone/>
              <a:defRPr sz="1200" b="1" i="0" u="none" strike="noStrike" cap="none">
                <a:solidFill>
                  <a:srgbClr val="00376F"/>
                </a:solidFill>
                <a:latin typeface="Lato"/>
                <a:ea typeface="Lato"/>
                <a:cs typeface="Lato"/>
                <a:sym typeface="Lato"/>
              </a:defRPr>
            </a:lvl5pPr>
            <a:lvl6pPr marL="0" marR="0" lvl="5" indent="0" algn="r" rtl="0">
              <a:spcBef>
                <a:spcPts val="0"/>
              </a:spcBef>
              <a:buNone/>
              <a:defRPr sz="1200" b="1" i="0" u="none" strike="noStrike" cap="none">
                <a:solidFill>
                  <a:srgbClr val="00376F"/>
                </a:solidFill>
                <a:latin typeface="Lato"/>
                <a:ea typeface="Lato"/>
                <a:cs typeface="Lato"/>
                <a:sym typeface="Lato"/>
              </a:defRPr>
            </a:lvl6pPr>
            <a:lvl7pPr marL="0" marR="0" lvl="6" indent="0" algn="r" rtl="0">
              <a:spcBef>
                <a:spcPts val="0"/>
              </a:spcBef>
              <a:buNone/>
              <a:defRPr sz="1200" b="1" i="0" u="none" strike="noStrike" cap="none">
                <a:solidFill>
                  <a:srgbClr val="00376F"/>
                </a:solidFill>
                <a:latin typeface="Lato"/>
                <a:ea typeface="Lato"/>
                <a:cs typeface="Lato"/>
                <a:sym typeface="Lato"/>
              </a:defRPr>
            </a:lvl7pPr>
            <a:lvl8pPr marL="0" marR="0" lvl="7" indent="0" algn="r" rtl="0">
              <a:spcBef>
                <a:spcPts val="0"/>
              </a:spcBef>
              <a:buNone/>
              <a:defRPr sz="1200" b="1" i="0" u="none" strike="noStrike" cap="none">
                <a:solidFill>
                  <a:srgbClr val="00376F"/>
                </a:solidFill>
                <a:latin typeface="Lato"/>
                <a:ea typeface="Lato"/>
                <a:cs typeface="Lato"/>
                <a:sym typeface="Lato"/>
              </a:defRPr>
            </a:lvl8pPr>
            <a:lvl9pPr marL="0" marR="0" lvl="8" indent="0" algn="r" rtl="0">
              <a:spcBef>
                <a:spcPts val="0"/>
              </a:spcBef>
              <a:buNone/>
              <a:defRPr sz="1200" b="1" i="0" u="none" strike="noStrike" cap="none">
                <a:solidFill>
                  <a:srgbClr val="00376F"/>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74" name="Google Shape;74;p22"/>
          <p:cNvSpPr txBox="1">
            <a:spLocks noGrp="1"/>
          </p:cNvSpPr>
          <p:nvPr>
            <p:ph type="title"/>
          </p:nvPr>
        </p:nvSpPr>
        <p:spPr>
          <a:xfrm>
            <a:off x="338736" y="112543"/>
            <a:ext cx="11514528" cy="436098"/>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5" name="Google Shape;75;p22"/>
          <p:cNvSpPr>
            <a:spLocks noGrp="1"/>
          </p:cNvSpPr>
          <p:nvPr>
            <p:ph type="chart" idx="2"/>
          </p:nvPr>
        </p:nvSpPr>
        <p:spPr>
          <a:xfrm>
            <a:off x="330201" y="1406769"/>
            <a:ext cx="5765800" cy="4655894"/>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6" name="Google Shape;76;p22"/>
          <p:cNvSpPr>
            <a:spLocks noGrp="1"/>
          </p:cNvSpPr>
          <p:nvPr>
            <p:ph type="pic" idx="3"/>
          </p:nvPr>
        </p:nvSpPr>
        <p:spPr>
          <a:xfrm>
            <a:off x="6238875" y="1414463"/>
            <a:ext cx="5445125" cy="4656137"/>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p:cSld name="Title Slide">
    <p:bg>
      <p:bgPr>
        <a:solidFill>
          <a:srgbClr val="FFFFFF"/>
        </a:solidFill>
        <a:effectLst/>
      </p:bgPr>
    </p:bg>
    <p:spTree>
      <p:nvGrpSpPr>
        <p:cNvPr id="1" name="Shape 77"/>
        <p:cNvGrpSpPr/>
        <p:nvPr/>
      </p:nvGrpSpPr>
      <p:grpSpPr>
        <a:xfrm>
          <a:off x="0" y="0"/>
          <a:ext cx="0" cy="0"/>
          <a:chOff x="0" y="0"/>
          <a:chExt cx="0" cy="0"/>
        </a:xfrm>
      </p:grpSpPr>
      <p:sp>
        <p:nvSpPr>
          <p:cNvPr id="78" name="Google Shape;78;p23"/>
          <p:cNvSpPr txBox="1">
            <a:spLocks noGrp="1"/>
          </p:cNvSpPr>
          <p:nvPr>
            <p:ph type="title"/>
          </p:nvPr>
        </p:nvSpPr>
        <p:spPr>
          <a:xfrm>
            <a:off x="3788898" y="2461846"/>
            <a:ext cx="4614203" cy="193430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lt1"/>
              </a:buClr>
              <a:buSzPts val="4800"/>
              <a:buFont typeface="Lato"/>
              <a:buNone/>
              <a:defRPr sz="4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5">
            <a:alphaModFix/>
          </a:blip>
          <a:stretch>
            <a:fillRect/>
          </a:stretch>
        </a:blip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NotesNew" Type="http://schemas.openxmlformats.org/officeDocument/2006/relationships/notesSlide" Target="../notesSlides/notesSlide1.xml"/><Relationship Id="rId1" Type="http://schemas.openxmlformats.org/officeDocument/2006/relationships/slideLayout" Target="../slideLayouts/slideLayout2.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NotesNew"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NotesNew"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NotesNew"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NotesNew"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NotesNew"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NotesNew"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NotesNew"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NotesNew"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NotesNew"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NotesNew"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NotesNew"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NotesNew"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NotesNew"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NotesNew"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NotesNew"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NotesNew"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NotesNew"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NotesNew"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NotesNew"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NotesNew"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NotesNew"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NotesNew"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NotesNew"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NotesNew"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NotesNew"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NotesNew"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NotesNew"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NotesNew"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NotesNew"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NotesNew"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NotesNew"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NotesNew"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NotesNew"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NotesNew"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NotesNew"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NotesNew"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NotesNew"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NotesNew"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NotesNew"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NotesNew" Type="http://schemas.openxmlformats.org/officeDocument/2006/relationships/notesSlide" Target="../notesSlides/notesSlide4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386634" y="331380"/>
            <a:ext cx="3174367" cy="952975"/>
          </a:xfrm>
          <a:prstGeom prst="rect">
            <a:avLst/>
          </a:prstGeom>
        </p:spPr>
      </p:pic>
      <p:sp>
        <p:nvSpPr>
          <p:cNvPr id="3" name="TextBox 2"/>
          <p:cNvSpPr txBox="1"/>
          <p:nvPr/>
        </p:nvSpPr>
        <p:spPr>
          <a:xfrm>
            <a:off x="512064" y="1554480"/>
            <a:ext cx="7498079" cy="320040"/>
          </a:xfrm>
          <a:prstGeom prst="rect">
            <a:avLst/>
          </a:prstGeom>
          <a:noFill/>
        </p:spPr>
        <p:txBody>
          <a:bodyPr wrap="square" lIns="0" tIns="0" rIns="0" bIns="0" anchor="t">
            <a:noAutofit/>
          </a:bodyPr>
          <a:lstStyle/>
          <a:p>
            <a:pPr algn="l">
              <a:lnSpc>
                <a:spcPct val="105000"/>
              </a:lnSpc>
              <a:spcBef>
                <a:spcPts val="0"/>
              </a:spcBef>
              <a:spcAft>
                <a:spcPts val="0"/>
              </a:spcAft>
            </a:pPr>
            <a:r>
              <a:rPr lang="vi-VN" sz="1700" b="1">
                <a:solidFill>
                  <a:srgbClr val="003366"/>
                </a:solidFill>
                <a:latin typeface="Arial"/>
              </a:rPr>
              <a:t>BÁO CÁO ĐỀ XUẤT ĐỀ TÀI</a:t>
            </a:r>
          </a:p>
        </p:txBody>
      </p:sp>
      <p:sp>
        <p:nvSpPr>
          <p:cNvPr id="4" name="TextBox 4"/>
          <p:cNvSpPr txBox="1"/>
          <p:nvPr/>
        </p:nvSpPr>
        <p:spPr>
          <a:xfrm>
            <a:off x="512064" y="6547104"/>
            <a:ext cx="5486400" cy="182880"/>
          </a:xfrm>
          <a:prstGeom prst="rect">
            <a:avLst/>
          </a:prstGeom>
          <a:noFill/>
        </p:spPr>
        <p:txBody>
          <a:bodyPr wrap="square" lIns="0" tIns="0" rIns="0" bIns="0" anchor="t">
            <a:noAutofit/>
          </a:bodyPr>
          <a:lstStyle/>
          <a:p>
            <a:pPr algn="l">
              <a:lnSpc>
                <a:spcPct val="105000"/>
              </a:lnSpc>
              <a:spcBef>
                <a:spcPts val="0"/>
              </a:spcBef>
              <a:spcAft>
                <a:spcPts val="0"/>
              </a:spcAft>
            </a:pPr>
            <a:endParaRPr lang="vi-VN" sz="900" b="0" dirty="0">
              <a:solidFill>
                <a:srgbClr val="536373"/>
              </a:solidFill>
              <a:latin typeface="Arial"/>
            </a:endParaRPr>
          </a:p>
        </p:txBody>
      </p:sp>
      <p:sp>
        <p:nvSpPr>
          <p:cNvPr id="5" name="TextBox 5"/>
          <p:cNvSpPr txBox="1"/>
          <p:nvPr/>
        </p:nvSpPr>
        <p:spPr>
          <a:xfrm>
            <a:off x="10561320" y="6519672"/>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01 / 41</a:t>
            </a:r>
          </a:p>
        </p:txBody>
      </p:sp>
      <p:sp>
        <p:nvSpPr>
          <p:cNvPr id="6" name="TextBox 7"/>
          <p:cNvSpPr txBox="1"/>
          <p:nvPr/>
        </p:nvSpPr>
        <p:spPr>
          <a:xfrm>
            <a:off x="548640" y="5669280"/>
            <a:ext cx="5486400" cy="274320"/>
          </a:xfrm>
          <a:prstGeom prst="rect">
            <a:avLst/>
          </a:prstGeom>
          <a:noFill/>
        </p:spPr>
        <p:txBody>
          <a:bodyPr wrap="square" lIns="0" tIns="0" rIns="0" bIns="0" anchor="t">
            <a:noAutofit/>
          </a:bodyPr>
          <a:lstStyle/>
          <a:p>
            <a:pPr algn="l">
              <a:lnSpc>
                <a:spcPct val="105000"/>
              </a:lnSpc>
              <a:spcBef>
                <a:spcPts val="0"/>
              </a:spcBef>
              <a:spcAft>
                <a:spcPts val="0"/>
              </a:spcAft>
            </a:pPr>
            <a:endParaRPr lang="vi-VN" sz="1400" b="1" dirty="0">
              <a:solidFill>
                <a:srgbClr val="C41230"/>
              </a:solidFill>
              <a:latin typeface="Arial"/>
            </a:endParaRPr>
          </a:p>
        </p:txBody>
      </p:sp>
      <p:sp>
        <p:nvSpPr>
          <p:cNvPr id="7" name="TextBox 8"/>
          <p:cNvSpPr txBox="1"/>
          <p:nvPr/>
        </p:nvSpPr>
        <p:spPr>
          <a:xfrm>
            <a:off x="490292" y="2994660"/>
            <a:ext cx="8882307" cy="1783080"/>
          </a:xfrm>
          <a:prstGeom prst="rect">
            <a:avLst/>
          </a:prstGeom>
          <a:noFill/>
        </p:spPr>
        <p:txBody>
          <a:bodyPr wrap="square" lIns="0" tIns="0" rIns="0" bIns="0" anchor="t">
            <a:noAutofit/>
          </a:bodyPr>
          <a:lstStyle/>
          <a:p>
            <a:pPr algn="l">
              <a:lnSpc>
                <a:spcPct val="105000"/>
              </a:lnSpc>
              <a:spcBef>
                <a:spcPts val="0"/>
              </a:spcBef>
              <a:spcAft>
                <a:spcPts val="0"/>
              </a:spcAft>
            </a:pPr>
            <a:r>
              <a:rPr lang="vi-VN" sz="3400" b="1" dirty="0">
                <a:solidFill>
                  <a:srgbClr val="C00000"/>
                </a:solidFill>
                <a:latin typeface="Arial"/>
              </a:rPr>
              <a:t>Gợi ý sản phẩm cá nhân hóa từ tương tác</a:t>
            </a:r>
            <a:endParaRPr lang="vi-VN" sz="3400" b="1" dirty="0">
              <a:solidFill>
                <a:srgbClr val="C00000"/>
              </a:solidFill>
              <a:latin typeface="Arial"/>
            </a:endParaRPr>
          </a:p>
          <a:p>
            <a:pPr algn="l">
              <a:lnSpc>
                <a:spcPct val="105000"/>
              </a:lnSpc>
              <a:spcBef>
                <a:spcPts val="0"/>
              </a:spcBef>
              <a:spcAft>
                <a:spcPts val="0"/>
              </a:spcAft>
            </a:pPr>
            <a:r>
              <a:rPr lang="vi-VN" sz="3400" b="1" dirty="0">
                <a:solidFill>
                  <a:srgbClr val="C00000"/>
                </a:solidFill>
                <a:latin typeface="Arial"/>
              </a:rPr>
              <a:t>đa hành vi theo phiên — RetailRocket</a:t>
            </a:r>
          </a:p>
        </p:txBody>
      </p:sp>
      <p:sp>
        <p:nvSpPr>
          <p:cNvPr id="8" name="TextBox 9"/>
          <p:cNvSpPr txBox="1"/>
          <p:nvPr/>
        </p:nvSpPr>
        <p:spPr>
          <a:xfrm>
            <a:off x="548640" y="4041648"/>
            <a:ext cx="7406640" cy="411480"/>
          </a:xfrm>
          <a:prstGeom prst="rect">
            <a:avLst/>
          </a:prstGeom>
          <a:noFill/>
        </p:spPr>
        <p:txBody>
          <a:bodyPr wrap="square" lIns="0" tIns="0" rIns="0" bIns="0" anchor="t">
            <a:noAutofit/>
          </a:bodyPr>
          <a:lstStyle/>
          <a:p>
            <a:pPr algn="l">
              <a:lnSpc>
                <a:spcPct val="105000"/>
              </a:lnSpc>
              <a:spcBef>
                <a:spcPts val="0"/>
              </a:spcBef>
              <a:spcAft>
                <a:spcPts val="0"/>
              </a:spcAft>
            </a:pPr>
            <a:endParaRPr lang="vi-VN" sz="2400" b="0" dirty="0">
              <a:solidFill>
                <a:srgbClr val="003366"/>
              </a:solidFill>
              <a:latin typeface="Arial"/>
            </a:endParaRPr>
          </a:p>
        </p:txBody>
      </p:sp>
      <p:sp>
        <p:nvSpPr>
          <p:cNvPr id="9" name="TextBox 10"/>
          <p:cNvSpPr txBox="1"/>
          <p:nvPr/>
        </p:nvSpPr>
        <p:spPr>
          <a:xfrm>
            <a:off x="548640" y="4709160"/>
            <a:ext cx="7772400" cy="658368"/>
          </a:xfrm>
          <a:prstGeom prst="rect">
            <a:avLst/>
          </a:prstGeom>
          <a:noFill/>
        </p:spPr>
        <p:txBody>
          <a:bodyPr wrap="square" lIns="0" tIns="0" rIns="0" bIns="0" anchor="t">
            <a:noAutofit/>
          </a:bodyPr>
          <a:lstStyle/>
          <a:p>
            <a:pPr algn="l">
              <a:lnSpc>
                <a:spcPct val="105000"/>
              </a:lnSpc>
              <a:spcBef>
                <a:spcPts val="0"/>
              </a:spcBef>
              <a:spcAft>
                <a:spcPts val="0"/>
              </a:spcAft>
            </a:pPr>
            <a:r>
              <a:rPr sz="1600">
                <a:solidFill>
                  <a:srgbClr val="003569"/>
                </a:solidFill>
              </a:rPr>
              <a:t>Vũ Hải Minh  •  MSSV 20235166</a:t>
            </a:r>
            <a:endParaRPr lang="vi-VN" sz="1700" b="0" dirty="0">
              <a:solidFill>
                <a:srgbClr val="364656"/>
              </a:solidFill>
              <a:latin typeface="Arial"/>
            </a:endParaRPr>
          </a:p>
          <a:p>
            <a:pPr algn="l">
              <a:lnSpc>
                <a:spcPct val="105000"/>
              </a:lnSpc>
              <a:spcBef>
                <a:spcPts val="0"/>
              </a:spcBef>
              <a:spcAft>
                <a:spcPts val="0"/>
              </a:spcAft>
            </a:pPr>
            <a:r>
              <a:rPr sz="1600">
                <a:solidFill>
                  <a:srgbClr val="003569"/>
                </a:solidFill>
              </a:rPr>
              <a:t>Dữ liệu next-step đã hoàn tất • Phương pháp gợi ý đề xuất</a:t>
            </a:r>
          </a:p>
        </p:txBody>
      </p:sp>
      <p:sp>
        <p:nvSpPr>
          <p:cNvPr id="10" name="TextBox 11"/>
          <p:cNvSpPr txBox="1"/>
          <p:nvPr/>
        </p:nvSpPr>
        <p:spPr>
          <a:xfrm>
            <a:off x="548640" y="5477256"/>
            <a:ext cx="7772400" cy="228600"/>
          </a:xfrm>
          <a:prstGeom prst="rect">
            <a:avLst/>
          </a:prstGeom>
          <a:noFill/>
        </p:spPr>
        <p:txBody>
          <a:bodyPr wrap="square" lIns="0" tIns="0" rIns="0" bIns="0" anchor="t">
            <a:noAutofit/>
          </a:bodyPr>
          <a:lstStyle/>
          <a:p>
            <a:pPr algn="l">
              <a:lnSpc>
                <a:spcPct val="105000"/>
              </a:lnSpc>
              <a:spcBef>
                <a:spcPts val="0"/>
              </a:spcBef>
              <a:spcAft>
                <a:spcPts val="0"/>
              </a:spcAft>
            </a:pPr>
            <a:endParaRPr lang="vi-VN" sz="1100" b="0" dirty="0">
              <a:solidFill>
                <a:srgbClr val="536373"/>
              </a:solidFill>
              <a:latin typeface="Arial"/>
            </a:endParaRPr>
          </a:p>
        </p:txBody>
      </p:sp>
      <p:sp>
        <p:nvSpPr>
          <p:cNvPr id="11" name="TextBox 14"/>
          <p:cNvSpPr txBox="1"/>
          <p:nvPr/>
        </p:nvSpPr>
        <p:spPr>
          <a:xfrm>
            <a:off x="8275320" y="2331720"/>
            <a:ext cx="1828800" cy="274320"/>
          </a:xfrm>
          <a:prstGeom prst="rect">
            <a:avLst/>
          </a:prstGeom>
          <a:noFill/>
        </p:spPr>
        <p:txBody>
          <a:bodyPr wrap="square" lIns="0" tIns="0" rIns="0" bIns="0" anchor="t">
            <a:noAutofit/>
          </a:bodyPr>
          <a:lstStyle/>
          <a:p>
            <a:pPr algn="l">
              <a:lnSpc>
                <a:spcPct val="105000"/>
              </a:lnSpc>
              <a:spcBef>
                <a:spcPts val="0"/>
              </a:spcBef>
              <a:spcAft>
                <a:spcPts val="0"/>
              </a:spcAft>
            </a:pPr>
            <a:endParaRPr lang="vi-VN" sz="1700" b="1" dirty="0">
              <a:solidFill>
                <a:srgbClr val="003366"/>
              </a:solidFill>
              <a:latin typeface="Arial"/>
            </a:endParaRPr>
          </a:p>
        </p:txBody>
      </p:sp>
      <p:sp>
        <p:nvSpPr>
          <p:cNvPr id="12" name="TextBox 17"/>
          <p:cNvSpPr txBox="1"/>
          <p:nvPr/>
        </p:nvSpPr>
        <p:spPr>
          <a:xfrm>
            <a:off x="8275320" y="2916936"/>
            <a:ext cx="1828800" cy="274320"/>
          </a:xfrm>
          <a:prstGeom prst="rect">
            <a:avLst/>
          </a:prstGeom>
          <a:noFill/>
        </p:spPr>
        <p:txBody>
          <a:bodyPr wrap="square" lIns="0" tIns="0" rIns="0" bIns="0" anchor="t">
            <a:noAutofit/>
          </a:bodyPr>
          <a:lstStyle/>
          <a:p>
            <a:pPr algn="l">
              <a:lnSpc>
                <a:spcPct val="105000"/>
              </a:lnSpc>
              <a:spcBef>
                <a:spcPts val="0"/>
              </a:spcBef>
              <a:spcAft>
                <a:spcPts val="0"/>
              </a:spcAft>
            </a:pPr>
            <a:endParaRPr lang="vi-VN" sz="1700" b="1" dirty="0">
              <a:solidFill>
                <a:srgbClr val="B77B19"/>
              </a:solidFill>
              <a:latin typeface="Arial"/>
            </a:endParaRPr>
          </a:p>
        </p:txBody>
      </p:sp>
      <p:sp>
        <p:nvSpPr>
          <p:cNvPr id="13" name="TextBox 20"/>
          <p:cNvSpPr txBox="1"/>
          <p:nvPr/>
        </p:nvSpPr>
        <p:spPr>
          <a:xfrm>
            <a:off x="8275320" y="3502152"/>
            <a:ext cx="1828800" cy="274320"/>
          </a:xfrm>
          <a:prstGeom prst="rect">
            <a:avLst/>
          </a:prstGeom>
          <a:noFill/>
        </p:spPr>
        <p:txBody>
          <a:bodyPr wrap="square" lIns="0" tIns="0" rIns="0" bIns="0" anchor="t">
            <a:noAutofit/>
          </a:bodyPr>
          <a:lstStyle/>
          <a:p>
            <a:pPr algn="l">
              <a:lnSpc>
                <a:spcPct val="105000"/>
              </a:lnSpc>
              <a:spcBef>
                <a:spcPts val="0"/>
              </a:spcBef>
              <a:spcAft>
                <a:spcPts val="0"/>
              </a:spcAft>
            </a:pPr>
            <a:endParaRPr lang="vi-VN" sz="1700" b="1" dirty="0">
              <a:solidFill>
                <a:srgbClr val="C41230"/>
              </a:solidFill>
              <a:latin typeface="Arial"/>
            </a:endParaRPr>
          </a:p>
        </p:txBody>
      </p:sp>
      <p:sp>
        <p:nvSpPr>
          <p:cNvPr id="14" name="TextBox 23"/>
          <p:cNvSpPr txBox="1"/>
          <p:nvPr/>
        </p:nvSpPr>
        <p:spPr>
          <a:xfrm>
            <a:off x="8183879" y="4251960"/>
            <a:ext cx="2377440" cy="384048"/>
          </a:xfrm>
          <a:prstGeom prst="rect">
            <a:avLst/>
          </a:prstGeom>
          <a:noFill/>
        </p:spPr>
        <p:txBody>
          <a:bodyPr wrap="square" lIns="0" tIns="0" rIns="0" bIns="0" anchor="t">
            <a:noAutofit/>
          </a:bodyPr>
          <a:lstStyle/>
          <a:p>
            <a:pPr algn="l">
              <a:lnSpc>
                <a:spcPct val="105000"/>
              </a:lnSpc>
              <a:spcBef>
                <a:spcPts val="0"/>
              </a:spcBef>
              <a:spcAft>
                <a:spcPts val="0"/>
              </a:spcAft>
            </a:pPr>
            <a:endParaRPr lang="vi-VN" sz="2200" b="1" dirty="0">
              <a:solidFill>
                <a:srgbClr val="003366"/>
              </a:solidFill>
              <a:latin typeface="Arial"/>
            </a:endParaRPr>
          </a:p>
        </p:txBody>
      </p:sp>
      <p:sp>
        <p:nvSpPr>
          <p:cNvPr id="15" name="TextBox 24"/>
          <p:cNvSpPr txBox="1"/>
          <p:nvPr/>
        </p:nvSpPr>
        <p:spPr>
          <a:xfrm>
            <a:off x="8183879" y="4791456"/>
            <a:ext cx="2286000" cy="731520"/>
          </a:xfrm>
          <a:prstGeom prst="rect">
            <a:avLst/>
          </a:prstGeom>
          <a:noFill/>
        </p:spPr>
        <p:txBody>
          <a:bodyPr wrap="square" lIns="0" tIns="0" rIns="0" bIns="0" anchor="t">
            <a:noAutofit/>
          </a:bodyPr>
          <a:lstStyle/>
          <a:p>
            <a:pPr algn="l">
              <a:lnSpc>
                <a:spcPct val="105000"/>
              </a:lnSpc>
              <a:spcBef>
                <a:spcPts val="0"/>
              </a:spcBef>
              <a:spcAft>
                <a:spcPts val="0"/>
              </a:spcAft>
            </a:pPr>
            <a:endParaRPr lang="vi-VN" sz="1400" b="0" dirty="0">
              <a:solidFill>
                <a:srgbClr val="536373"/>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20624" y="91440"/>
            <a:ext cx="11292840" cy="457200"/>
          </a:xfrm>
          <a:prstGeom prst="rect">
            <a:avLst/>
          </a:prstGeom>
          <a:noFill/>
          <a:effectLst/>
        </p:spPr>
        <p:txBody>
          <a:bodyPr wrap="none" lIns="0" tIns="0" rIns="0" bIns="0" anchor="ctr">
            <a:spAutoFit/>
          </a:bodyPr>
          <a:lstStyle/>
          <a:p>
            <a:pPr algn="l">
              <a:lnSpc>
                <a:spcPct val="105000"/>
              </a:lnSpc>
              <a:spcBef>
                <a:spcPts val="0"/>
              </a:spcBef>
              <a:spcAft>
                <a:spcPts val="0"/>
              </a:spcAft>
            </a:pPr>
            <a:r>
              <a:rPr lang="vi-VN" sz="2300" b="1">
                <a:solidFill>
                  <a:srgbClr val="FFFFFF"/>
                </a:solidFill>
                <a:latin typeface="Arial"/>
              </a:rPr>
              <a:t>01 / BÀI TOÁN THỰC TẾ</a:t>
            </a:r>
          </a:p>
        </p:txBody>
      </p:sp>
      <p:sp>
        <p:nvSpPr>
          <p:cNvPr id="3" name="TextBox 3"/>
          <p:cNvSpPr txBox="1"/>
          <p:nvPr/>
        </p:nvSpPr>
        <p:spPr>
          <a:xfrm>
            <a:off x="512064" y="969264"/>
            <a:ext cx="11109960" cy="694944"/>
          </a:xfrm>
          <a:prstGeom prst="rect">
            <a:avLst/>
          </a:prstGeom>
          <a:noFill/>
          <a:effectLst/>
        </p:spPr>
        <p:txBody>
          <a:bodyPr wrap="none" lIns="0" tIns="0" rIns="0" bIns="0" anchor="t">
            <a:spAutoFit/>
          </a:bodyPr>
          <a:lstStyle/>
          <a:p>
            <a:pPr algn="l">
              <a:lnSpc>
                <a:spcPct val="105000"/>
              </a:lnSpc>
              <a:spcBef>
                <a:spcPts val="0"/>
              </a:spcBef>
              <a:spcAft>
                <a:spcPts val="0"/>
              </a:spcAft>
            </a:pPr>
            <a:r>
              <a:rPr lang="vi-VN" sz="2900" b="1">
                <a:solidFill>
                  <a:srgbClr val="003366"/>
                </a:solidFill>
                <a:latin typeface="Arial"/>
              </a:rPr>
              <a:t>Khách xem nhiều, nhưng tín hiệu mua rất ít.</a:t>
            </a:r>
          </a:p>
        </p:txBody>
      </p:sp>
      <p:sp>
        <p:nvSpPr>
          <p:cNvPr id="4" name="TextBox 4"/>
          <p:cNvSpPr txBox="1"/>
          <p:nvPr/>
        </p:nvSpPr>
        <p:spPr>
          <a:xfrm>
            <a:off x="539496" y="1783080"/>
            <a:ext cx="10972800" cy="329184"/>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536373"/>
                </a:solidFill>
                <a:latin typeface="Arial"/>
              </a:rPr>
              <a:t>Phân bố sau làm sạch: lượt xem chiếm ưu thế, tín hiệu mua ít nhưng có ý nghĩa riêng.</a:t>
            </a:r>
          </a:p>
        </p:txBody>
      </p:sp>
      <p:sp>
        <p:nvSpPr>
          <p:cNvPr id="6" name="TextBox 7"/>
          <p:cNvSpPr txBox="1"/>
          <p:nvPr/>
        </p:nvSpPr>
        <p:spPr>
          <a:xfrm>
            <a:off x="10561320" y="6510528"/>
            <a:ext cx="1097280" cy="210312"/>
          </a:xfrm>
          <a:prstGeom prst="rect">
            <a:avLst/>
          </a:prstGeom>
          <a:noFill/>
          <a:effectLst/>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02 / 41</a:t>
            </a:r>
          </a:p>
        </p:txBody>
      </p:sp>
      <p:sp>
        <p:nvSpPr>
          <p:cNvPr id="8" name="TextBox 9"/>
          <p:cNvSpPr txBox="1"/>
          <p:nvPr/>
        </p:nvSpPr>
        <p:spPr>
          <a:xfrm>
            <a:off x="566928" y="2322576"/>
            <a:ext cx="3246120" cy="768096"/>
          </a:xfrm>
          <a:prstGeom prst="rect">
            <a:avLst/>
          </a:prstGeom>
          <a:noFill/>
          <a:effectLst/>
        </p:spPr>
        <p:txBody>
          <a:bodyPr wrap="none" lIns="0" tIns="0" rIns="0" bIns="0" anchor="t">
            <a:spAutoFit/>
          </a:bodyPr>
          <a:lstStyle/>
          <a:p>
            <a:pPr algn="l">
              <a:lnSpc>
                <a:spcPts val="5116"/>
              </a:lnSpc>
              <a:spcBef>
                <a:spcPts val="0"/>
              </a:spcBef>
              <a:spcAft>
                <a:spcPts val="0"/>
              </a:spcAft>
            </a:pPr>
            <a:r>
              <a:rPr lang="vi-VN" sz="4300" b="1">
                <a:solidFill>
                  <a:srgbClr val="005A9C"/>
                </a:solidFill>
                <a:latin typeface="Arial"/>
              </a:rPr>
              <a:t>96,68%</a:t>
            </a:r>
          </a:p>
        </p:txBody>
      </p:sp>
      <p:sp>
        <p:nvSpPr>
          <p:cNvPr id="9" name="TextBox 10"/>
          <p:cNvSpPr txBox="1"/>
          <p:nvPr/>
        </p:nvSpPr>
        <p:spPr>
          <a:xfrm>
            <a:off x="566928" y="3182112"/>
            <a:ext cx="3246120" cy="274320"/>
          </a:xfrm>
          <a:prstGeom prst="rect">
            <a:avLst/>
          </a:prstGeom>
          <a:noFill/>
          <a:effectLst/>
        </p:spPr>
        <p:txBody>
          <a:bodyPr wrap="none" lIns="0" tIns="0" rIns="0" bIns="0" anchor="t">
            <a:spAutoFit/>
          </a:bodyPr>
          <a:lstStyle/>
          <a:p>
            <a:pPr algn="l">
              <a:lnSpc>
                <a:spcPts val="1547"/>
              </a:lnSpc>
              <a:spcBef>
                <a:spcPts val="0"/>
              </a:spcBef>
              <a:spcAft>
                <a:spcPts val="0"/>
              </a:spcAft>
            </a:pPr>
            <a:r>
              <a:rPr lang="vi-VN" sz="1300" b="1">
                <a:solidFill>
                  <a:srgbClr val="003366"/>
                </a:solidFill>
                <a:latin typeface="Arial"/>
              </a:rPr>
              <a:t>XEM</a:t>
            </a:r>
          </a:p>
        </p:txBody>
      </p:sp>
      <p:sp>
        <p:nvSpPr>
          <p:cNvPr id="10" name="TextBox 11"/>
          <p:cNvSpPr txBox="1"/>
          <p:nvPr/>
        </p:nvSpPr>
        <p:spPr>
          <a:xfrm>
            <a:off x="566928" y="3584448"/>
            <a:ext cx="3246120" cy="384048"/>
          </a:xfrm>
          <a:prstGeom prst="rect">
            <a:avLst/>
          </a:prstGeom>
          <a:noFill/>
          <a:effectLst/>
        </p:spPr>
        <p:txBody>
          <a:bodyPr wrap="none" lIns="0" tIns="0" rIns="0" bIns="0" anchor="t">
            <a:spAutoFit/>
          </a:bodyPr>
          <a:lstStyle/>
          <a:p>
            <a:pPr algn="l">
              <a:lnSpc>
                <a:spcPts val="2023"/>
              </a:lnSpc>
              <a:spcBef>
                <a:spcPts val="0"/>
              </a:spcBef>
              <a:spcAft>
                <a:spcPts val="0"/>
              </a:spcAft>
            </a:pPr>
            <a:r>
              <a:rPr lang="vi-VN" sz="1700" b="0">
                <a:solidFill>
                  <a:srgbClr val="536373"/>
                </a:solidFill>
                <a:latin typeface="Arial"/>
              </a:rPr>
              <a:t>2.664.218 sự kiện</a:t>
            </a:r>
          </a:p>
        </p:txBody>
      </p:sp>
      <p:sp>
        <p:nvSpPr>
          <p:cNvPr id="11" name="TextBox 12"/>
          <p:cNvSpPr txBox="1"/>
          <p:nvPr/>
        </p:nvSpPr>
        <p:spPr>
          <a:xfrm>
            <a:off x="4498848" y="2322576"/>
            <a:ext cx="3246120" cy="768096"/>
          </a:xfrm>
          <a:prstGeom prst="rect">
            <a:avLst/>
          </a:prstGeom>
          <a:noFill/>
          <a:effectLst/>
        </p:spPr>
        <p:txBody>
          <a:bodyPr wrap="none" lIns="0" tIns="0" rIns="0" bIns="0" anchor="t">
            <a:spAutoFit/>
          </a:bodyPr>
          <a:lstStyle/>
          <a:p>
            <a:pPr algn="l">
              <a:lnSpc>
                <a:spcPts val="5116"/>
              </a:lnSpc>
              <a:spcBef>
                <a:spcPts val="0"/>
              </a:spcBef>
              <a:spcAft>
                <a:spcPts val="0"/>
              </a:spcAft>
            </a:pPr>
            <a:r>
              <a:rPr lang="vi-VN" sz="4300" b="1">
                <a:solidFill>
                  <a:srgbClr val="B77B19"/>
                </a:solidFill>
                <a:latin typeface="Arial"/>
              </a:rPr>
              <a:t>2,50%</a:t>
            </a:r>
          </a:p>
        </p:txBody>
      </p:sp>
      <p:sp>
        <p:nvSpPr>
          <p:cNvPr id="12" name="TextBox 13"/>
          <p:cNvSpPr txBox="1"/>
          <p:nvPr/>
        </p:nvSpPr>
        <p:spPr>
          <a:xfrm>
            <a:off x="4498848" y="3182112"/>
            <a:ext cx="3246120" cy="274320"/>
          </a:xfrm>
          <a:prstGeom prst="rect">
            <a:avLst/>
          </a:prstGeom>
          <a:noFill/>
          <a:effectLst/>
        </p:spPr>
        <p:txBody>
          <a:bodyPr wrap="none" lIns="0" tIns="0" rIns="0" bIns="0" anchor="t">
            <a:spAutoFit/>
          </a:bodyPr>
          <a:lstStyle/>
          <a:p>
            <a:pPr algn="l">
              <a:lnSpc>
                <a:spcPts val="1547"/>
              </a:lnSpc>
              <a:spcBef>
                <a:spcPts val="0"/>
              </a:spcBef>
              <a:spcAft>
                <a:spcPts val="0"/>
              </a:spcAft>
            </a:pPr>
            <a:r>
              <a:rPr lang="vi-VN" sz="1300" b="1">
                <a:solidFill>
                  <a:srgbClr val="003366"/>
                </a:solidFill>
                <a:latin typeface="Arial"/>
              </a:rPr>
              <a:t>THÊM GIỎ</a:t>
            </a:r>
          </a:p>
        </p:txBody>
      </p:sp>
      <p:sp>
        <p:nvSpPr>
          <p:cNvPr id="13" name="TextBox 14"/>
          <p:cNvSpPr txBox="1"/>
          <p:nvPr/>
        </p:nvSpPr>
        <p:spPr>
          <a:xfrm>
            <a:off x="4498848" y="3584448"/>
            <a:ext cx="3246120" cy="384048"/>
          </a:xfrm>
          <a:prstGeom prst="rect">
            <a:avLst/>
          </a:prstGeom>
          <a:noFill/>
          <a:effectLst/>
        </p:spPr>
        <p:txBody>
          <a:bodyPr wrap="none" lIns="0" tIns="0" rIns="0" bIns="0" anchor="t">
            <a:spAutoFit/>
          </a:bodyPr>
          <a:lstStyle/>
          <a:p>
            <a:pPr algn="l">
              <a:lnSpc>
                <a:spcPts val="2023"/>
              </a:lnSpc>
              <a:spcBef>
                <a:spcPts val="0"/>
              </a:spcBef>
              <a:spcAft>
                <a:spcPts val="0"/>
              </a:spcAft>
            </a:pPr>
            <a:r>
              <a:rPr lang="vi-VN" sz="1700" b="0">
                <a:solidFill>
                  <a:srgbClr val="536373"/>
                </a:solidFill>
                <a:latin typeface="Arial"/>
              </a:rPr>
              <a:t>68.966 sự kiện</a:t>
            </a:r>
          </a:p>
        </p:txBody>
      </p:sp>
      <p:sp>
        <p:nvSpPr>
          <p:cNvPr id="14" name="TextBox 15"/>
          <p:cNvSpPr txBox="1"/>
          <p:nvPr/>
        </p:nvSpPr>
        <p:spPr>
          <a:xfrm>
            <a:off x="8339327" y="2322576"/>
            <a:ext cx="3246120" cy="768096"/>
          </a:xfrm>
          <a:prstGeom prst="rect">
            <a:avLst/>
          </a:prstGeom>
          <a:noFill/>
          <a:effectLst/>
        </p:spPr>
        <p:txBody>
          <a:bodyPr wrap="none" lIns="0" tIns="0" rIns="0" bIns="0" anchor="t">
            <a:spAutoFit/>
          </a:bodyPr>
          <a:lstStyle/>
          <a:p>
            <a:pPr algn="l">
              <a:lnSpc>
                <a:spcPts val="5116"/>
              </a:lnSpc>
              <a:spcBef>
                <a:spcPts val="0"/>
              </a:spcBef>
              <a:spcAft>
                <a:spcPts val="0"/>
              </a:spcAft>
            </a:pPr>
            <a:r>
              <a:rPr lang="vi-VN" sz="4300" b="1">
                <a:solidFill>
                  <a:srgbClr val="C41230"/>
                </a:solidFill>
                <a:latin typeface="Arial"/>
              </a:rPr>
              <a:t>0,81%</a:t>
            </a:r>
          </a:p>
        </p:txBody>
      </p:sp>
      <p:sp>
        <p:nvSpPr>
          <p:cNvPr id="15" name="TextBox 16"/>
          <p:cNvSpPr txBox="1"/>
          <p:nvPr/>
        </p:nvSpPr>
        <p:spPr>
          <a:xfrm>
            <a:off x="8339327" y="3182112"/>
            <a:ext cx="3246120" cy="274320"/>
          </a:xfrm>
          <a:prstGeom prst="rect">
            <a:avLst/>
          </a:prstGeom>
          <a:noFill/>
          <a:effectLst/>
        </p:spPr>
        <p:txBody>
          <a:bodyPr wrap="none" lIns="0" tIns="0" rIns="0" bIns="0" anchor="t">
            <a:spAutoFit/>
          </a:bodyPr>
          <a:lstStyle/>
          <a:p>
            <a:pPr algn="l">
              <a:lnSpc>
                <a:spcPts val="1547"/>
              </a:lnSpc>
              <a:spcBef>
                <a:spcPts val="0"/>
              </a:spcBef>
              <a:spcAft>
                <a:spcPts val="0"/>
              </a:spcAft>
            </a:pPr>
            <a:r>
              <a:rPr lang="vi-VN" sz="1300" b="1">
                <a:solidFill>
                  <a:srgbClr val="003366"/>
                </a:solidFill>
                <a:latin typeface="Arial"/>
              </a:rPr>
              <a:t>MUA</a:t>
            </a:r>
          </a:p>
        </p:txBody>
      </p:sp>
      <p:sp>
        <p:nvSpPr>
          <p:cNvPr id="16" name="TextBox 17"/>
          <p:cNvSpPr txBox="1"/>
          <p:nvPr/>
        </p:nvSpPr>
        <p:spPr>
          <a:xfrm>
            <a:off x="8339327" y="3584448"/>
            <a:ext cx="3246120" cy="384048"/>
          </a:xfrm>
          <a:prstGeom prst="rect">
            <a:avLst/>
          </a:prstGeom>
          <a:noFill/>
          <a:effectLst/>
        </p:spPr>
        <p:txBody>
          <a:bodyPr wrap="none" lIns="0" tIns="0" rIns="0" bIns="0" anchor="t">
            <a:spAutoFit/>
          </a:bodyPr>
          <a:lstStyle/>
          <a:p>
            <a:pPr algn="l">
              <a:lnSpc>
                <a:spcPts val="2023"/>
              </a:lnSpc>
              <a:spcBef>
                <a:spcPts val="0"/>
              </a:spcBef>
              <a:spcAft>
                <a:spcPts val="0"/>
              </a:spcAft>
            </a:pPr>
            <a:r>
              <a:rPr lang="vi-VN" sz="1700" b="0">
                <a:solidFill>
                  <a:srgbClr val="536373"/>
                </a:solidFill>
                <a:latin typeface="Arial"/>
              </a:rPr>
              <a:t>22.457 sự kiện</a:t>
            </a:r>
          </a:p>
        </p:txBody>
      </p:sp>
      <p:sp>
        <p:nvSpPr>
          <p:cNvPr id="17" name="Rectangle 18"/>
          <p:cNvSpPr/>
          <p:nvPr/>
        </p:nvSpPr>
        <p:spPr>
          <a:xfrm>
            <a:off x="576072" y="4187952"/>
            <a:ext cx="10626440" cy="128016"/>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9"/>
          <p:cNvSpPr/>
          <p:nvPr/>
        </p:nvSpPr>
        <p:spPr>
          <a:xfrm>
            <a:off x="11202512" y="4187952"/>
            <a:ext cx="275076" cy="128016"/>
          </a:xfrm>
          <a:prstGeom prst="rect">
            <a:avLst/>
          </a:prstGeom>
          <a:solidFill>
            <a:srgbClr val="B77B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20"/>
          <p:cNvSpPr/>
          <p:nvPr/>
        </p:nvSpPr>
        <p:spPr>
          <a:xfrm>
            <a:off x="11477588" y="4187952"/>
            <a:ext cx="89571" cy="128016"/>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21"/>
          <p:cNvSpPr txBox="1"/>
          <p:nvPr/>
        </p:nvSpPr>
        <p:spPr>
          <a:xfrm>
            <a:off x="576072" y="4590288"/>
            <a:ext cx="2880360" cy="429768"/>
          </a:xfrm>
          <a:prstGeom prst="rect">
            <a:avLst/>
          </a:prstGeom>
          <a:noFill/>
          <a:effectLst/>
        </p:spPr>
        <p:txBody>
          <a:bodyPr wrap="none" lIns="0" tIns="0" rIns="0" bIns="0" anchor="t">
            <a:spAutoFit/>
          </a:bodyPr>
          <a:lstStyle/>
          <a:p>
            <a:pPr algn="l">
              <a:lnSpc>
                <a:spcPts val="2856"/>
              </a:lnSpc>
              <a:spcBef>
                <a:spcPts val="0"/>
              </a:spcBef>
              <a:spcAft>
                <a:spcPts val="0"/>
              </a:spcAft>
            </a:pPr>
            <a:r>
              <a:rPr lang="vi-VN" sz="2400" b="1">
                <a:solidFill>
                  <a:srgbClr val="003366"/>
                </a:solidFill>
                <a:latin typeface="Arial"/>
              </a:rPr>
              <a:t>Nhu cầu thực tế</a:t>
            </a:r>
          </a:p>
        </p:txBody>
      </p:sp>
      <p:sp>
        <p:nvSpPr>
          <p:cNvPr id="21" name="TextBox 22"/>
          <p:cNvSpPr txBox="1"/>
          <p:nvPr/>
        </p:nvSpPr>
        <p:spPr>
          <a:xfrm>
            <a:off x="3813048" y="4562856"/>
            <a:ext cx="7653527" cy="960120"/>
          </a:xfrm>
          <a:prstGeom prst="rect">
            <a:avLst/>
          </a:prstGeom>
          <a:noFill/>
          <a:effectLst/>
        </p:spPr>
        <p:txBody>
          <a:bodyPr wrap="none" lIns="0" tIns="0" rIns="0" bIns="0" anchor="t">
            <a:spAutoFit/>
          </a:bodyPr>
          <a:lstStyle/>
          <a:p>
            <a:pPr algn="l">
              <a:lnSpc>
                <a:spcPts val="2736"/>
              </a:lnSpc>
              <a:spcBef>
                <a:spcPts val="0"/>
              </a:spcBef>
              <a:spcAft>
                <a:spcPts val="0"/>
              </a:spcAft>
            </a:pPr>
            <a:r>
              <a:rPr lang="vi-VN" sz="2300" b="0">
                <a:solidFill>
                  <a:srgbClr val="003366"/>
                </a:solidFill>
                <a:latin typeface="Arial"/>
              </a:rPr>
              <a:t>Đưa đúng sản phẩm lên trước, tận dụng cả khách chưa</a:t>
            </a:r>
          </a:p>
          <a:p>
            <a:pPr algn="l">
              <a:lnSpc>
                <a:spcPts val="2736"/>
              </a:lnSpc>
              <a:spcBef>
                <a:spcPts val="0"/>
              </a:spcBef>
              <a:spcAft>
                <a:spcPts val="0"/>
              </a:spcAft>
            </a:pPr>
            <a:r>
              <a:rPr lang="vi-VN" sz="2300" b="0">
                <a:solidFill>
                  <a:srgbClr val="003366"/>
                </a:solidFill>
                <a:latin typeface="Arial"/>
              </a:rPr>
              <a:t>từng mua và hành vi vừa quan sát.</a:t>
            </a:r>
          </a:p>
        </p:txBody>
      </p:sp>
      <p:sp>
        <p:nvSpPr>
          <p:cNvPr id="22" name="TextBox 23"/>
          <p:cNvSpPr txBox="1"/>
          <p:nvPr/>
        </p:nvSpPr>
        <p:spPr>
          <a:xfrm>
            <a:off x="585216" y="5715000"/>
            <a:ext cx="10972800" cy="329184"/>
          </a:xfrm>
          <a:prstGeom prst="rect">
            <a:avLst/>
          </a:prstGeom>
          <a:noFill/>
          <a:effectLst/>
        </p:spPr>
        <p:txBody>
          <a:bodyPr wrap="none" lIns="0" tIns="0" rIns="0" bIns="0" anchor="t">
            <a:spAutoFit/>
          </a:bodyPr>
          <a:lstStyle/>
          <a:p>
            <a:pPr algn="l">
              <a:lnSpc>
                <a:spcPts val="1547"/>
              </a:lnSpc>
              <a:spcBef>
                <a:spcPts val="0"/>
              </a:spcBef>
              <a:spcAft>
                <a:spcPts val="0"/>
              </a:spcAft>
            </a:pPr>
            <a:r>
              <a:rPr lang="vi-VN" sz="1300" b="0">
                <a:solidFill>
                  <a:srgbClr val="536373"/>
                </a:solidFill>
                <a:latin typeface="Arial"/>
              </a:rPr>
              <a:t>Ba loại hành vi được giữ riêng; không bắt buộc mọi lượt mua phải đi qua đủ xem → giỏ → mua.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20624" y="91440"/>
            <a:ext cx="11292840" cy="457200"/>
          </a:xfrm>
          <a:prstGeom prst="rect">
            <a:avLst/>
          </a:prstGeom>
          <a:noFill/>
          <a:effectLst/>
        </p:spPr>
        <p:txBody>
          <a:bodyPr wrap="none" lIns="0" tIns="0" rIns="0" bIns="0" anchor="ctr">
            <a:spAutoFit/>
          </a:bodyPr>
          <a:lstStyle/>
          <a:p>
            <a:pPr algn="l">
              <a:lnSpc>
                <a:spcPct val="105000"/>
              </a:lnSpc>
              <a:spcBef>
                <a:spcPts val="0"/>
              </a:spcBef>
              <a:spcAft>
                <a:spcPts val="0"/>
              </a:spcAft>
            </a:pPr>
            <a:r>
              <a:rPr lang="vi-VN" sz="2300" b="1">
                <a:solidFill>
                  <a:srgbClr val="FFFFFF"/>
                </a:solidFill>
                <a:latin typeface="Arial"/>
              </a:rPr>
              <a:t>01 / MỤC TIÊU VÀ YÊU CẦU</a:t>
            </a:r>
          </a:p>
        </p:txBody>
      </p:sp>
      <p:sp>
        <p:nvSpPr>
          <p:cNvPr id="3" name="TextBox 3"/>
          <p:cNvSpPr txBox="1"/>
          <p:nvPr/>
        </p:nvSpPr>
        <p:spPr>
          <a:xfrm>
            <a:off x="512064" y="969264"/>
            <a:ext cx="11109960" cy="694944"/>
          </a:xfrm>
          <a:prstGeom prst="rect">
            <a:avLst/>
          </a:prstGeom>
          <a:noFill/>
          <a:effectLst/>
        </p:spPr>
        <p:txBody>
          <a:bodyPr wrap="square" lIns="0" tIns="0" rIns="0" bIns="0" anchor="t">
            <a:noAutofit/>
          </a:bodyPr>
          <a:lstStyle/>
          <a:p>
            <a:pPr algn="l">
              <a:lnSpc>
                <a:spcPct val="108000"/>
              </a:lnSpc>
              <a:spcBef>
                <a:spcPts val="0"/>
              </a:spcBef>
              <a:spcAft>
                <a:spcPts val="0"/>
              </a:spcAft>
            </a:pPr>
            <a:r>
              <a:rPr sz="2800" b="1">
                <a:solidFill>
                  <a:srgbClr val="003366"/>
                </a:solidFill>
                <a:latin typeface="Arial"/>
              </a:rPr>
              <a:t>Từ phần phiên đã quan sát đến danh sách Top-K.</a:t>
            </a:r>
          </a:p>
        </p:txBody>
      </p:sp>
      <p:sp>
        <p:nvSpPr>
          <p:cNvPr id="4" name="TextBox 4"/>
          <p:cNvSpPr txBox="1"/>
          <p:nvPr/>
        </p:nvSpPr>
        <p:spPr>
          <a:xfrm>
            <a:off x="539496" y="1783080"/>
            <a:ext cx="10972800" cy="329184"/>
          </a:xfrm>
          <a:prstGeom prst="rect">
            <a:avLst/>
          </a:prstGeom>
          <a:noFill/>
          <a:effectLst/>
        </p:spPr>
        <p:txBody>
          <a:bodyPr wrap="square" lIns="0" tIns="0" rIns="0" bIns="0" anchor="t">
            <a:noAutofit/>
          </a:bodyPr>
          <a:lstStyle/>
          <a:p>
            <a:pPr algn="l">
              <a:lnSpc>
                <a:spcPct val="108000"/>
              </a:lnSpc>
              <a:spcBef>
                <a:spcPts val="0"/>
              </a:spcBef>
              <a:spcAft>
                <a:spcPts val="0"/>
              </a:spcAft>
            </a:pPr>
            <a:r>
              <a:rPr sz="1400" b="0">
                <a:solidFill>
                  <a:srgbClr val="536373"/>
                </a:solidFill>
                <a:latin typeface="Arial"/>
              </a:rPr>
              <a:t>Câu hỏi nghiên cứu: loại hành vi và diễn biến phiên có giúp dự đoán bước tiếp theo?</a:t>
            </a:r>
          </a:p>
        </p:txBody>
      </p:sp>
      <p:sp>
        <p:nvSpPr>
          <p:cNvPr id="6" name="TextBox 7"/>
          <p:cNvSpPr txBox="1"/>
          <p:nvPr/>
        </p:nvSpPr>
        <p:spPr>
          <a:xfrm>
            <a:off x="10561320" y="6510528"/>
            <a:ext cx="1097280" cy="210312"/>
          </a:xfrm>
          <a:prstGeom prst="rect">
            <a:avLst/>
          </a:prstGeom>
          <a:noFill/>
          <a:effectLst/>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03 / 41</a:t>
            </a:r>
          </a:p>
        </p:txBody>
      </p:sp>
      <p:sp>
        <p:nvSpPr>
          <p:cNvPr id="8" name="Rounded Rectangle 9"/>
          <p:cNvSpPr/>
          <p:nvPr/>
        </p:nvSpPr>
        <p:spPr>
          <a:xfrm>
            <a:off x="566928" y="2176272"/>
            <a:ext cx="11045952" cy="1024128"/>
          </a:xfrm>
          <a:prstGeom prst="roundRect">
            <a:avLst>
              <a:gd name="adj" fmla="val 8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10"/>
          <p:cNvSpPr txBox="1"/>
          <p:nvPr/>
        </p:nvSpPr>
        <p:spPr>
          <a:xfrm>
            <a:off x="822960" y="2386584"/>
            <a:ext cx="10515600" cy="694944"/>
          </a:xfrm>
          <a:prstGeom prst="rect">
            <a:avLst/>
          </a:prstGeom>
          <a:noFill/>
          <a:effectLst/>
        </p:spPr>
        <p:txBody>
          <a:bodyPr wrap="square" lIns="0" tIns="0" rIns="0" bIns="0" anchor="t">
            <a:noAutofit/>
          </a:bodyPr>
          <a:lstStyle/>
          <a:p>
            <a:pPr algn="l">
              <a:lnSpc>
                <a:spcPct val="108000"/>
              </a:lnSpc>
              <a:spcBef>
                <a:spcPts val="0"/>
              </a:spcBef>
              <a:spcAft>
                <a:spcPts val="0"/>
              </a:spcAft>
            </a:pPr>
            <a:r>
              <a:rPr sz="2100" b="1">
                <a:solidFill>
                  <a:srgbClr val="FFFFFF"/>
                </a:solidFill>
                <a:latin typeface="Arial"/>
              </a:rPr>
              <a:t>Tại thời điểm t, dùng phần phiên đã quan sát để gợi ý Top-10/20</a:t>
            </a:r>
          </a:p>
          <a:p>
            <a:pPr algn="l">
              <a:lnSpc>
                <a:spcPct val="108000"/>
              </a:lnSpc>
              <a:spcBef>
                <a:spcPts val="0"/>
              </a:spcBef>
              <a:spcAft>
                <a:spcPts val="0"/>
              </a:spcAft>
            </a:pPr>
            <a:r>
              <a:rPr sz="2100" b="1">
                <a:solidFill>
                  <a:srgbClr val="FFFFFF"/>
                </a:solidFill>
                <a:latin typeface="Arial"/>
              </a:rPr>
              <a:t>sản phẩm ở bước tương tác tiếp theo trong cùng phiên.</a:t>
            </a:r>
          </a:p>
        </p:txBody>
      </p:sp>
      <p:sp>
        <p:nvSpPr>
          <p:cNvPr id="10" name="TextBox 11"/>
          <p:cNvSpPr txBox="1"/>
          <p:nvPr/>
        </p:nvSpPr>
        <p:spPr>
          <a:xfrm>
            <a:off x="585216" y="3657600"/>
            <a:ext cx="548640" cy="493776"/>
          </a:xfrm>
          <a:prstGeom prst="rect">
            <a:avLst/>
          </a:prstGeom>
          <a:noFill/>
          <a:effectLst/>
        </p:spPr>
        <p:txBody>
          <a:bodyPr wrap="none" lIns="0" tIns="0" rIns="0" bIns="0" anchor="t">
            <a:spAutoFit/>
          </a:bodyPr>
          <a:lstStyle/>
          <a:p>
            <a:pPr algn="l">
              <a:lnSpc>
                <a:spcPts val="3332"/>
              </a:lnSpc>
              <a:spcBef>
                <a:spcPts val="0"/>
              </a:spcBef>
              <a:spcAft>
                <a:spcPts val="0"/>
              </a:spcAft>
            </a:pPr>
            <a:r>
              <a:rPr lang="vi-VN" sz="2800" b="1">
                <a:solidFill>
                  <a:srgbClr val="005A9C"/>
                </a:solidFill>
                <a:latin typeface="Arial"/>
              </a:rPr>
              <a:t>01</a:t>
            </a:r>
          </a:p>
        </p:txBody>
      </p:sp>
      <p:sp>
        <p:nvSpPr>
          <p:cNvPr id="11" name="TextBox 12"/>
          <p:cNvSpPr txBox="1"/>
          <p:nvPr/>
        </p:nvSpPr>
        <p:spPr>
          <a:xfrm>
            <a:off x="585216" y="4343400"/>
            <a:ext cx="3273552" cy="411480"/>
          </a:xfrm>
          <a:prstGeom prst="rect">
            <a:avLst/>
          </a:prstGeom>
          <a:noFill/>
          <a:effectLst/>
        </p:spPr>
        <p:txBody>
          <a:bodyPr wrap="none" lIns="0" tIns="0" rIns="0" bIns="0" anchor="t">
            <a:spAutoFit/>
          </a:bodyPr>
          <a:lstStyle/>
          <a:p>
            <a:pPr algn="l">
              <a:lnSpc>
                <a:spcPts val="2499"/>
              </a:lnSpc>
              <a:spcBef>
                <a:spcPts val="0"/>
              </a:spcBef>
              <a:spcAft>
                <a:spcPts val="0"/>
              </a:spcAft>
            </a:pPr>
            <a:r>
              <a:rPr lang="vi-VN" sz="2100" b="1">
                <a:solidFill>
                  <a:srgbClr val="003366"/>
                </a:solidFill>
                <a:latin typeface="Arial"/>
              </a:rPr>
              <a:t>Đúng thông tin</a:t>
            </a:r>
          </a:p>
        </p:txBody>
      </p:sp>
      <p:sp>
        <p:nvSpPr>
          <p:cNvPr id="12" name="TextBox 13"/>
          <p:cNvSpPr txBox="1"/>
          <p:nvPr/>
        </p:nvSpPr>
        <p:spPr>
          <a:xfrm>
            <a:off x="585216" y="4864608"/>
            <a:ext cx="3255264" cy="941832"/>
          </a:xfrm>
          <a:prstGeom prst="rect">
            <a:avLst/>
          </a:prstGeom>
          <a:noFill/>
          <a:effectLst/>
        </p:spPr>
        <p:txBody>
          <a:bodyPr wrap="none" lIns="0" tIns="0" rIns="0" bIns="0" anchor="t">
            <a:spAutoFit/>
          </a:bodyPr>
          <a:lstStyle/>
          <a:p>
            <a:pPr algn="l">
              <a:lnSpc>
                <a:spcPts val="2023"/>
              </a:lnSpc>
              <a:spcBef>
                <a:spcPts val="0"/>
              </a:spcBef>
              <a:spcAft>
                <a:spcPts val="0"/>
              </a:spcAft>
            </a:pPr>
            <a:r>
              <a:rPr lang="vi-VN" sz="1700" b="0">
                <a:solidFill>
                  <a:srgbClr val="536373"/>
                </a:solidFill>
                <a:latin typeface="Arial"/>
              </a:rPr>
              <a:t>Chỉ dùng lịch sử và thuộc tính đã</a:t>
            </a:r>
          </a:p>
          <a:p>
            <a:pPr algn="l">
              <a:lnSpc>
                <a:spcPts val="2023"/>
              </a:lnSpc>
              <a:spcBef>
                <a:spcPts val="0"/>
              </a:spcBef>
              <a:spcAft>
                <a:spcPts val="0"/>
              </a:spcAft>
            </a:pPr>
            <a:r>
              <a:rPr lang="vi-VN" sz="1700" b="0">
                <a:solidFill>
                  <a:srgbClr val="536373"/>
                </a:solidFill>
                <a:latin typeface="Arial"/>
              </a:rPr>
              <a:t>biết tại t.</a:t>
            </a:r>
          </a:p>
        </p:txBody>
      </p:sp>
      <p:sp>
        <p:nvSpPr>
          <p:cNvPr id="13" name="TextBox 14"/>
          <p:cNvSpPr txBox="1"/>
          <p:nvPr/>
        </p:nvSpPr>
        <p:spPr>
          <a:xfrm>
            <a:off x="4389120" y="3657600"/>
            <a:ext cx="548640" cy="493776"/>
          </a:xfrm>
          <a:prstGeom prst="rect">
            <a:avLst/>
          </a:prstGeom>
          <a:noFill/>
          <a:effectLst/>
        </p:spPr>
        <p:txBody>
          <a:bodyPr wrap="none" lIns="0" tIns="0" rIns="0" bIns="0" anchor="t">
            <a:spAutoFit/>
          </a:bodyPr>
          <a:lstStyle/>
          <a:p>
            <a:pPr algn="l">
              <a:lnSpc>
                <a:spcPts val="3332"/>
              </a:lnSpc>
              <a:spcBef>
                <a:spcPts val="0"/>
              </a:spcBef>
              <a:spcAft>
                <a:spcPts val="0"/>
              </a:spcAft>
            </a:pPr>
            <a:r>
              <a:rPr lang="vi-VN" sz="2800" b="1">
                <a:solidFill>
                  <a:srgbClr val="005A9C"/>
                </a:solidFill>
                <a:latin typeface="Arial"/>
              </a:rPr>
              <a:t>02</a:t>
            </a:r>
          </a:p>
        </p:txBody>
      </p:sp>
      <p:sp>
        <p:nvSpPr>
          <p:cNvPr id="14" name="TextBox 15"/>
          <p:cNvSpPr txBox="1"/>
          <p:nvPr/>
        </p:nvSpPr>
        <p:spPr>
          <a:xfrm>
            <a:off x="4389120" y="4343400"/>
            <a:ext cx="3273552" cy="411480"/>
          </a:xfrm>
          <a:prstGeom prst="rect">
            <a:avLst/>
          </a:prstGeom>
          <a:noFill/>
          <a:effectLst/>
        </p:spPr>
        <p:txBody>
          <a:bodyPr wrap="none" lIns="0" tIns="0" rIns="0" bIns="0" anchor="t">
            <a:spAutoFit/>
          </a:bodyPr>
          <a:lstStyle/>
          <a:p>
            <a:pPr algn="l">
              <a:lnSpc>
                <a:spcPts val="2499"/>
              </a:lnSpc>
              <a:spcBef>
                <a:spcPts val="0"/>
              </a:spcBef>
              <a:spcAft>
                <a:spcPts val="0"/>
              </a:spcAft>
            </a:pPr>
            <a:r>
              <a:rPr lang="vi-VN" sz="2100" b="1">
                <a:solidFill>
                  <a:srgbClr val="003366"/>
                </a:solidFill>
                <a:latin typeface="Arial"/>
              </a:rPr>
              <a:t>Đúng sản phẩm</a:t>
            </a:r>
          </a:p>
        </p:txBody>
      </p:sp>
      <p:sp>
        <p:nvSpPr>
          <p:cNvPr id="15" name="TextBox 16"/>
          <p:cNvSpPr txBox="1"/>
          <p:nvPr/>
        </p:nvSpPr>
        <p:spPr>
          <a:xfrm>
            <a:off x="4389120" y="4864608"/>
            <a:ext cx="3255264" cy="941832"/>
          </a:xfrm>
          <a:prstGeom prst="rect">
            <a:avLst/>
          </a:prstGeom>
          <a:noFill/>
          <a:effectLst/>
        </p:spPr>
        <p:txBody>
          <a:bodyPr wrap="none" lIns="0" tIns="0" rIns="0" bIns="0" anchor="t">
            <a:spAutoFit/>
          </a:bodyPr>
          <a:lstStyle/>
          <a:p>
            <a:pPr algn="l">
              <a:lnSpc>
                <a:spcPts val="2023"/>
              </a:lnSpc>
              <a:spcBef>
                <a:spcPts val="0"/>
              </a:spcBef>
              <a:spcAft>
                <a:spcPts val="0"/>
              </a:spcAft>
            </a:pPr>
            <a:r>
              <a:rPr lang="vi-VN" sz="1700" b="0">
                <a:solidFill>
                  <a:srgbClr val="536373"/>
                </a:solidFill>
                <a:latin typeface="Arial"/>
              </a:rPr>
              <a:t>Item đã biết; loại item có</a:t>
            </a:r>
          </a:p>
          <a:p>
            <a:pPr algn="l">
              <a:lnSpc>
                <a:spcPts val="2023"/>
              </a:lnSpc>
              <a:spcBef>
                <a:spcPts val="0"/>
              </a:spcBef>
              <a:spcAft>
                <a:spcPts val="0"/>
              </a:spcAft>
            </a:pPr>
            <a:r>
              <a:rPr lang="vi-VN" sz="1700" b="0">
                <a:solidFill>
                  <a:srgbClr val="536373"/>
                </a:solidFill>
                <a:latin typeface="Arial"/>
              </a:rPr>
              <a:t>available = 0 tại t.</a:t>
            </a:r>
          </a:p>
        </p:txBody>
      </p:sp>
      <p:sp>
        <p:nvSpPr>
          <p:cNvPr id="16" name="TextBox 17"/>
          <p:cNvSpPr txBox="1"/>
          <p:nvPr/>
        </p:nvSpPr>
        <p:spPr>
          <a:xfrm>
            <a:off x="8183879" y="3657600"/>
            <a:ext cx="548640" cy="493776"/>
          </a:xfrm>
          <a:prstGeom prst="rect">
            <a:avLst/>
          </a:prstGeom>
          <a:noFill/>
          <a:effectLst/>
        </p:spPr>
        <p:txBody>
          <a:bodyPr wrap="none" lIns="0" tIns="0" rIns="0" bIns="0" anchor="t">
            <a:spAutoFit/>
          </a:bodyPr>
          <a:lstStyle/>
          <a:p>
            <a:pPr algn="l">
              <a:lnSpc>
                <a:spcPts val="3332"/>
              </a:lnSpc>
              <a:spcBef>
                <a:spcPts val="0"/>
              </a:spcBef>
              <a:spcAft>
                <a:spcPts val="0"/>
              </a:spcAft>
            </a:pPr>
            <a:r>
              <a:rPr lang="vi-VN" sz="2800" b="1">
                <a:solidFill>
                  <a:srgbClr val="005A9C"/>
                </a:solidFill>
                <a:latin typeface="Arial"/>
              </a:rPr>
              <a:t>03</a:t>
            </a:r>
          </a:p>
        </p:txBody>
      </p:sp>
      <p:sp>
        <p:nvSpPr>
          <p:cNvPr id="17" name="TextBox 18"/>
          <p:cNvSpPr txBox="1"/>
          <p:nvPr/>
        </p:nvSpPr>
        <p:spPr>
          <a:xfrm>
            <a:off x="8183879" y="4343400"/>
            <a:ext cx="3273552" cy="411480"/>
          </a:xfrm>
          <a:prstGeom prst="rect">
            <a:avLst/>
          </a:prstGeom>
          <a:noFill/>
          <a:effectLst/>
        </p:spPr>
        <p:txBody>
          <a:bodyPr wrap="none" lIns="0" tIns="0" rIns="0" bIns="0" anchor="t">
            <a:spAutoFit/>
          </a:bodyPr>
          <a:lstStyle/>
          <a:p>
            <a:pPr algn="l">
              <a:lnSpc>
                <a:spcPts val="2499"/>
              </a:lnSpc>
              <a:spcBef>
                <a:spcPts val="0"/>
              </a:spcBef>
              <a:spcAft>
                <a:spcPts val="0"/>
              </a:spcAft>
            </a:pPr>
            <a:r>
              <a:rPr lang="vi-VN" sz="2100" b="1">
                <a:solidFill>
                  <a:srgbClr val="003366"/>
                </a:solidFill>
                <a:latin typeface="Arial"/>
              </a:rPr>
              <a:t>Đo được hiệu quả</a:t>
            </a:r>
          </a:p>
        </p:txBody>
      </p:sp>
      <p:sp>
        <p:nvSpPr>
          <p:cNvPr id="18" name="TextBox 19"/>
          <p:cNvSpPr txBox="1"/>
          <p:nvPr/>
        </p:nvSpPr>
        <p:spPr>
          <a:xfrm>
            <a:off x="8183879" y="4864608"/>
            <a:ext cx="3255264" cy="941832"/>
          </a:xfrm>
          <a:prstGeom prst="rect">
            <a:avLst/>
          </a:prstGeom>
          <a:noFill/>
          <a:effectLst/>
        </p:spPr>
        <p:txBody>
          <a:bodyPr wrap="none" lIns="0" tIns="0" rIns="0" bIns="0" anchor="t">
            <a:spAutoFit/>
          </a:bodyPr>
          <a:lstStyle/>
          <a:p>
            <a:pPr algn="l">
              <a:lnSpc>
                <a:spcPts val="2023"/>
              </a:lnSpc>
              <a:spcBef>
                <a:spcPts val="0"/>
              </a:spcBef>
              <a:spcAft>
                <a:spcPts val="0"/>
              </a:spcAft>
            </a:pPr>
            <a:r>
              <a:rPr lang="vi-VN" sz="1700" b="0">
                <a:solidFill>
                  <a:srgbClr val="536373"/>
                </a:solidFill>
                <a:latin typeface="Arial"/>
              </a:rPr>
              <a:t>So sánh cùng query, nhãn, ứng</a:t>
            </a:r>
          </a:p>
          <a:p>
            <a:pPr algn="l">
              <a:lnSpc>
                <a:spcPts val="2023"/>
              </a:lnSpc>
              <a:spcBef>
                <a:spcPts val="0"/>
              </a:spcBef>
              <a:spcAft>
                <a:spcPts val="0"/>
              </a:spcAft>
            </a:pPr>
            <a:r>
              <a:rPr lang="vi-VN" sz="1700" b="0">
                <a:solidFill>
                  <a:srgbClr val="536373"/>
                </a:solidFill>
                <a:latin typeface="Arial"/>
              </a:rPr>
              <a:t>viên và cách đo.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01 / PHẠM VI VÀ TIẾN ĐỘ</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Phân biệt nền dữ liệu và kết quả mô hình.</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Hiện trạng theo lần chạy đầy đủ trên bốn CSV thật; tách kiểm chứng dữ liệu khỏi chất lượng mô hình.</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04 / 41</a:t>
            </a:r>
          </a:p>
        </p:txBody>
      </p:sp>
      <p:sp>
        <p:nvSpPr>
          <p:cNvPr id="105" name="heading-0-0">
            <a:extLst>
              <a:ext uri="{FF2B5EF4-FFF2-40B4-BE49-F238E27FC236}">
                <a16:creationId xmlns:a16="http://schemas.microsoft.com/office/drawing/2014/main" id="{82C72AF2-7FC8-4C80-B92D-467C8BB35763}"/>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Đã cài đặt và kiểm thử</a:t>
            </a:r>
          </a:p>
        </p:txBody>
      </p:sp>
      <p:sp>
        <p:nvSpPr>
          <p:cNvPr id="106" name="body-0-0">
            <a:extLst>
              <a:ext uri="{FF2B5EF4-FFF2-40B4-BE49-F238E27FC236}">
                <a16:creationId xmlns:a16="http://schemas.microsoft.com/office/drawing/2014/main" id="{27FE5EA0-98B7-4A8D-9690-50342D133476}"/>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Pipeline schema v2 đã tạo 991.059 query và 993.336 cặp target; prefix cùng phiên, target đúng nhóm timestamp kế tiếp.</a:t>
            </a:r>
          </a:p>
        </p:txBody>
      </p:sp>
      <p:sp>
        <p:nvSpPr>
          <p:cNvPr id="107" name="heading-0-1">
            <a:extLst>
              <a:ext uri="{FF2B5EF4-FFF2-40B4-BE49-F238E27FC236}">
                <a16:creationId xmlns:a16="http://schemas.microsoft.com/office/drawing/2014/main" id="{4C3422B8-3DC5-4146-B399-F08891B3FBBF}"/>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Đã đóng gói</a:t>
            </a:r>
          </a:p>
        </p:txBody>
      </p:sp>
      <p:sp>
        <p:nvSpPr>
          <p:cNvPr id="108" name="body-0-1">
            <a:extLst>
              <a:ext uri="{FF2B5EF4-FFF2-40B4-BE49-F238E27FC236}">
                <a16:creationId xmlns:a16="http://schemas.microsoft.com/office/drawing/2014/main" id="{0A4502B5-5B75-4EF4-9108-2B2BEB99EC3B}"/>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30 kiểm thử đạt; 38 kiểm tra dữ liệu đạt; 20 Parquet khớp manifest. Ba notebook đã thực thi đầy đủ trên dữ liệu thật.</a:t>
            </a:r>
          </a:p>
        </p:txBody>
      </p:sp>
      <p:sp>
        <p:nvSpPr>
          <p:cNvPr id="109" name="heading-1-0">
            <a:extLst>
              <a:ext uri="{FF2B5EF4-FFF2-40B4-BE49-F238E27FC236}">
                <a16:creationId xmlns:a16="http://schemas.microsoft.com/office/drawing/2014/main" id="{E2165109-B27B-496F-9A97-9C83734290BC}"/>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Bước tiếp theo</a:t>
            </a:r>
          </a:p>
        </p:txBody>
      </p:sp>
      <p:sp>
        <p:nvSpPr>
          <p:cNvPr id="110" name="body-1-0">
            <a:extLst>
              <a:ext uri="{FF2B5EF4-FFF2-40B4-BE49-F238E27FC236}">
                <a16:creationId xmlns:a16="http://schemas.microsoft.com/office/drawing/2014/main" id="{22381B25-ACE2-4C77-AFC0-38267A3925DF}"/>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Bộ đánh giá xếp hạng, Popularity/ItemKNN/Session-KNN, một mô hình nâng cao và demo Top-K. Chưa có checkpoint hoặc chất lượng mô hình.</a:t>
            </a:r>
          </a:p>
        </p:txBody>
      </p:sp>
      <p:sp>
        <p:nvSpPr>
          <p:cNvPr id="111" name="heading-1-1">
            <a:extLst>
              <a:ext uri="{FF2B5EF4-FFF2-40B4-BE49-F238E27FC236}">
                <a16:creationId xmlns:a16="http://schemas.microsoft.com/office/drawing/2014/main" id="{F49BDD12-CE85-4664-B3DD-2EA14244D39B}"/>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Câu hỏi nghiên cứu</a:t>
            </a:r>
          </a:p>
        </p:txBody>
      </p:sp>
      <p:sp>
        <p:nvSpPr>
          <p:cNvPr id="112" name="body-1-1">
            <a:extLst>
              <a:ext uri="{FF2B5EF4-FFF2-40B4-BE49-F238E27FC236}">
                <a16:creationId xmlns:a16="http://schemas.microsoft.com/office/drawing/2014/main" id="{645246EC-C760-4095-9011-A42AE88A3000}"/>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Loại hành vi có cải thiện gợi ý? Diễn biến phiên có thêm giá trị? Mô hình nào cân bằng chất lượng, chi phí và khách ít lịch sử?</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20624" y="91440"/>
            <a:ext cx="11292840" cy="457200"/>
          </a:xfrm>
          <a:prstGeom prst="rect">
            <a:avLst/>
          </a:prstGeom>
          <a:noFill/>
          <a:effectLst/>
        </p:spPr>
        <p:txBody>
          <a:bodyPr wrap="none" lIns="0" tIns="0" rIns="0" bIns="0" anchor="ctr">
            <a:spAutoFit/>
          </a:bodyPr>
          <a:lstStyle/>
          <a:p>
            <a:pPr algn="l">
              <a:lnSpc>
                <a:spcPct val="105000"/>
              </a:lnSpc>
              <a:spcBef>
                <a:spcPts val="0"/>
              </a:spcBef>
              <a:spcAft>
                <a:spcPts val="0"/>
              </a:spcAft>
            </a:pPr>
            <a:r>
              <a:rPr lang="vi-VN" sz="2300" b="1">
                <a:solidFill>
                  <a:srgbClr val="FFFFFF"/>
                </a:solidFill>
                <a:latin typeface="Arial"/>
              </a:rPr>
              <a:t>01 / KỊCH BẢN ỨNG DỤNG</a:t>
            </a:r>
          </a:p>
        </p:txBody>
      </p:sp>
      <p:sp>
        <p:nvSpPr>
          <p:cNvPr id="3" name="TextBox 3"/>
          <p:cNvSpPr txBox="1"/>
          <p:nvPr/>
        </p:nvSpPr>
        <p:spPr>
          <a:xfrm>
            <a:off x="512064" y="969264"/>
            <a:ext cx="11109960" cy="694944"/>
          </a:xfrm>
          <a:prstGeom prst="rect">
            <a:avLst/>
          </a:prstGeom>
          <a:noFill/>
          <a:effectLst/>
        </p:spPr>
        <p:txBody>
          <a:bodyPr wrap="square" lIns="0" tIns="0" rIns="0" bIns="0" anchor="t">
            <a:noAutofit/>
          </a:bodyPr>
          <a:lstStyle/>
          <a:p>
            <a:pPr algn="l">
              <a:lnSpc>
                <a:spcPct val="108000"/>
              </a:lnSpc>
              <a:spcBef>
                <a:spcPts val="0"/>
              </a:spcBef>
              <a:spcAft>
                <a:spcPts val="0"/>
              </a:spcAft>
            </a:pPr>
            <a:r>
              <a:rPr sz="2800" b="1">
                <a:solidFill>
                  <a:srgbClr val="003366"/>
                </a:solidFill>
                <a:latin typeface="Arial"/>
              </a:rPr>
              <a:t>Cập nhật gợi ý khi phiên truy cập tiến triển.</a:t>
            </a:r>
          </a:p>
        </p:txBody>
      </p:sp>
      <p:sp>
        <p:nvSpPr>
          <p:cNvPr id="4" name="TextBox 4"/>
          <p:cNvSpPr txBox="1"/>
          <p:nvPr/>
        </p:nvSpPr>
        <p:spPr>
          <a:xfrm>
            <a:off x="539496" y="1783080"/>
            <a:ext cx="10972800" cy="329184"/>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536373"/>
                </a:solidFill>
                <a:latin typeface="Arial"/>
              </a:rPr>
              <a:t>Ví dụ minh họa bằng ID giả định; chưa phải kết quả của mô hình.</a:t>
            </a:r>
          </a:p>
        </p:txBody>
      </p:sp>
      <p:sp>
        <p:nvSpPr>
          <p:cNvPr id="6" name="TextBox 7"/>
          <p:cNvSpPr txBox="1"/>
          <p:nvPr/>
        </p:nvSpPr>
        <p:spPr>
          <a:xfrm>
            <a:off x="10561320" y="6510528"/>
            <a:ext cx="1097280" cy="210312"/>
          </a:xfrm>
          <a:prstGeom prst="rect">
            <a:avLst/>
          </a:prstGeom>
          <a:noFill/>
          <a:effectLst/>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05 / 41</a:t>
            </a:r>
          </a:p>
        </p:txBody>
      </p:sp>
      <p:sp>
        <p:nvSpPr>
          <p:cNvPr id="7" name="Rounded Rectangle 8"/>
          <p:cNvSpPr/>
          <p:nvPr/>
        </p:nvSpPr>
        <p:spPr>
          <a:xfrm>
            <a:off x="576072" y="2194560"/>
            <a:ext cx="4983480" cy="341985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9"/>
          <p:cNvSpPr txBox="1"/>
          <p:nvPr/>
        </p:nvSpPr>
        <p:spPr>
          <a:xfrm>
            <a:off x="804672" y="2423160"/>
            <a:ext cx="4489704" cy="265176"/>
          </a:xfrm>
          <a:prstGeom prst="rect">
            <a:avLst/>
          </a:prstGeom>
          <a:noFill/>
          <a:effectLst/>
        </p:spPr>
        <p:txBody>
          <a:bodyPr wrap="square" lIns="0" tIns="0" rIns="0" bIns="0" anchor="t">
            <a:noAutofit/>
          </a:bodyPr>
          <a:lstStyle/>
          <a:p>
            <a:pPr algn="l">
              <a:lnSpc>
                <a:spcPct val="108000"/>
              </a:lnSpc>
              <a:spcBef>
                <a:spcPts val="0"/>
              </a:spcBef>
              <a:spcAft>
                <a:spcPts val="0"/>
              </a:spcAft>
            </a:pPr>
            <a:r>
              <a:rPr sz="1600" b="1">
                <a:solidFill>
                  <a:srgbClr val="005A9C"/>
                </a:solidFill>
                <a:latin typeface="Arial"/>
              </a:rPr>
              <a:t>PHẦN PHIÊN ĐÃ QUAN SÁT</a:t>
            </a:r>
          </a:p>
        </p:txBody>
      </p:sp>
      <p:sp>
        <p:nvSpPr>
          <p:cNvPr id="9" name="Oval 10"/>
          <p:cNvSpPr/>
          <p:nvPr/>
        </p:nvSpPr>
        <p:spPr>
          <a:xfrm>
            <a:off x="841248" y="3054096"/>
            <a:ext cx="109728" cy="109728"/>
          </a:xfrm>
          <a:prstGeom prst="ellipse">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11"/>
          <p:cNvSpPr txBox="1"/>
          <p:nvPr/>
        </p:nvSpPr>
        <p:spPr>
          <a:xfrm>
            <a:off x="1115568" y="2999232"/>
            <a:ext cx="3986784" cy="329184"/>
          </a:xfrm>
          <a:prstGeom prst="rect">
            <a:avLst/>
          </a:prstGeom>
          <a:noFill/>
          <a:effectLst/>
        </p:spPr>
        <p:txBody>
          <a:bodyPr wrap="square" lIns="0" tIns="0" rIns="0" bIns="0" anchor="t">
            <a:noAutofit/>
          </a:bodyPr>
          <a:lstStyle/>
          <a:p>
            <a:pPr algn="l">
              <a:lnSpc>
                <a:spcPct val="108000"/>
              </a:lnSpc>
              <a:spcBef>
                <a:spcPts val="0"/>
              </a:spcBef>
              <a:spcAft>
                <a:spcPts val="0"/>
              </a:spcAft>
            </a:pPr>
            <a:r>
              <a:rPr sz="1900" b="1">
                <a:solidFill>
                  <a:srgbClr val="003366"/>
                </a:solidFill>
                <a:latin typeface="Arial"/>
              </a:rPr>
              <a:t>Bước trước trong phiên</a:t>
            </a:r>
          </a:p>
        </p:txBody>
      </p:sp>
      <p:sp>
        <p:nvSpPr>
          <p:cNvPr id="11" name="TextBox 12"/>
          <p:cNvSpPr txBox="1"/>
          <p:nvPr/>
        </p:nvSpPr>
        <p:spPr>
          <a:xfrm>
            <a:off x="1115568" y="3374136"/>
            <a:ext cx="3995928" cy="347472"/>
          </a:xfrm>
          <a:prstGeom prst="rect">
            <a:avLst/>
          </a:prstGeom>
          <a:noFill/>
          <a:effectLst/>
        </p:spPr>
        <p:txBody>
          <a:bodyPr wrap="none" lIns="0" tIns="0" rIns="0" bIns="0" anchor="t">
            <a:spAutoFit/>
          </a:bodyPr>
          <a:lstStyle/>
          <a:p>
            <a:pPr algn="l">
              <a:lnSpc>
                <a:spcPts val="1547"/>
              </a:lnSpc>
              <a:spcBef>
                <a:spcPts val="0"/>
              </a:spcBef>
              <a:spcAft>
                <a:spcPts val="0"/>
              </a:spcAft>
            </a:pPr>
            <a:r>
              <a:rPr lang="vi-VN" sz="1300" b="0">
                <a:solidFill>
                  <a:srgbClr val="536373"/>
                </a:solidFill>
                <a:latin typeface="Arial"/>
              </a:rPr>
              <a:t>Xem item_101; thêm giỏ item_205</a:t>
            </a:r>
          </a:p>
        </p:txBody>
      </p:sp>
      <p:sp>
        <p:nvSpPr>
          <p:cNvPr id="12" name="Oval 13"/>
          <p:cNvSpPr/>
          <p:nvPr/>
        </p:nvSpPr>
        <p:spPr>
          <a:xfrm>
            <a:off x="841248" y="3867911"/>
            <a:ext cx="109728" cy="109728"/>
          </a:xfrm>
          <a:prstGeom prst="ellipse">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4"/>
          <p:cNvSpPr txBox="1"/>
          <p:nvPr/>
        </p:nvSpPr>
        <p:spPr>
          <a:xfrm>
            <a:off x="1115568" y="3813048"/>
            <a:ext cx="3986784" cy="329184"/>
          </a:xfrm>
          <a:prstGeom prst="rect">
            <a:avLst/>
          </a:prstGeom>
          <a:noFill/>
          <a:effectLst/>
        </p:spPr>
        <p:txBody>
          <a:bodyPr wrap="square" lIns="0" tIns="0" rIns="0" bIns="0" anchor="t">
            <a:noAutofit/>
          </a:bodyPr>
          <a:lstStyle/>
          <a:p>
            <a:pPr algn="l">
              <a:lnSpc>
                <a:spcPct val="108000"/>
              </a:lnSpc>
              <a:spcBef>
                <a:spcPts val="0"/>
              </a:spcBef>
              <a:spcAft>
                <a:spcPts val="0"/>
              </a:spcAft>
            </a:pPr>
            <a:r>
              <a:rPr sz="1900" b="1">
                <a:solidFill>
                  <a:srgbClr val="003366"/>
                </a:solidFill>
                <a:latin typeface="Arial"/>
              </a:rPr>
              <a:t>Bước vừa quan sát</a:t>
            </a:r>
          </a:p>
        </p:txBody>
      </p:sp>
      <p:sp>
        <p:nvSpPr>
          <p:cNvPr id="14" name="TextBox 15"/>
          <p:cNvSpPr txBox="1"/>
          <p:nvPr/>
        </p:nvSpPr>
        <p:spPr>
          <a:xfrm>
            <a:off x="1115568" y="4187952"/>
            <a:ext cx="3995928" cy="347472"/>
          </a:xfrm>
          <a:prstGeom prst="rect">
            <a:avLst/>
          </a:prstGeom>
          <a:noFill/>
          <a:effectLst/>
        </p:spPr>
        <p:txBody>
          <a:bodyPr wrap="none" lIns="0" tIns="0" rIns="0" bIns="0" anchor="t">
            <a:spAutoFit/>
          </a:bodyPr>
          <a:lstStyle/>
          <a:p>
            <a:pPr algn="l">
              <a:lnSpc>
                <a:spcPts val="1547"/>
              </a:lnSpc>
              <a:spcBef>
                <a:spcPts val="0"/>
              </a:spcBef>
              <a:spcAft>
                <a:spcPts val="0"/>
              </a:spcAft>
            </a:pPr>
            <a:r>
              <a:rPr lang="vi-VN" sz="1300" b="0">
                <a:solidFill>
                  <a:srgbClr val="536373"/>
                </a:solidFill>
                <a:latin typeface="Arial"/>
              </a:rPr>
              <a:t>Xem item_305 → tạo query tại t</a:t>
            </a:r>
          </a:p>
        </p:txBody>
      </p:sp>
      <p:sp>
        <p:nvSpPr>
          <p:cNvPr id="15" name="Oval 16"/>
          <p:cNvSpPr/>
          <p:nvPr/>
        </p:nvSpPr>
        <p:spPr>
          <a:xfrm>
            <a:off x="841248" y="4681727"/>
            <a:ext cx="109728" cy="109728"/>
          </a:xfrm>
          <a:prstGeom prst="ellipse">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7"/>
          <p:cNvSpPr txBox="1"/>
          <p:nvPr/>
        </p:nvSpPr>
        <p:spPr>
          <a:xfrm>
            <a:off x="1115568" y="4626864"/>
            <a:ext cx="3986784" cy="329184"/>
          </a:xfrm>
          <a:prstGeom prst="rect">
            <a:avLst/>
          </a:prstGeom>
          <a:noFill/>
          <a:effectLst/>
        </p:spPr>
        <p:txBody>
          <a:bodyPr wrap="none" lIns="0" tIns="0" rIns="0" bIns="0" anchor="t">
            <a:spAutoFit/>
          </a:bodyPr>
          <a:lstStyle/>
          <a:p>
            <a:pPr algn="l">
              <a:lnSpc>
                <a:spcPts val="2023"/>
              </a:lnSpc>
              <a:spcBef>
                <a:spcPts val="0"/>
              </a:spcBef>
              <a:spcAft>
                <a:spcPts val="0"/>
              </a:spcAft>
            </a:pPr>
            <a:r>
              <a:rPr lang="vi-VN" sz="1700" b="1">
                <a:solidFill>
                  <a:srgbClr val="003366"/>
                </a:solidFill>
                <a:latin typeface="Arial"/>
              </a:rPr>
              <a:t>Tại thời điểm t</a:t>
            </a:r>
          </a:p>
        </p:txBody>
      </p:sp>
      <p:sp>
        <p:nvSpPr>
          <p:cNvPr id="17" name="TextBox 18"/>
          <p:cNvSpPr txBox="1"/>
          <p:nvPr/>
        </p:nvSpPr>
        <p:spPr>
          <a:xfrm>
            <a:off x="1115568" y="5001768"/>
            <a:ext cx="3995928" cy="347472"/>
          </a:xfrm>
          <a:prstGeom prst="rect">
            <a:avLst/>
          </a:prstGeom>
          <a:noFill/>
          <a:effectLst/>
        </p:spPr>
        <p:txBody>
          <a:bodyPr wrap="square" lIns="0" tIns="0" rIns="0" bIns="0" anchor="t">
            <a:noAutofit/>
          </a:bodyPr>
          <a:lstStyle/>
          <a:p>
            <a:pPr algn="l">
              <a:lnSpc>
                <a:spcPct val="108000"/>
              </a:lnSpc>
              <a:spcBef>
                <a:spcPts val="0"/>
              </a:spcBef>
              <a:spcAft>
                <a:spcPts val="0"/>
              </a:spcAft>
            </a:pPr>
            <a:r>
              <a:rPr sz="1400" b="0">
                <a:solidFill>
                  <a:srgbClr val="536373"/>
                </a:solidFill>
                <a:latin typeface="Arial"/>
              </a:rPr>
              <a:t>Dùng các nhóm timestamp đã quan sát</a:t>
            </a:r>
          </a:p>
        </p:txBody>
      </p:sp>
      <p:cxnSp>
        <p:nvCxnSpPr>
          <p:cNvPr id="18" name="Connector 19"/>
          <p:cNvCxnSpPr/>
          <p:nvPr/>
        </p:nvCxnSpPr>
        <p:spPr>
          <a:xfrm>
            <a:off x="5705856" y="3867912"/>
            <a:ext cx="667512" cy="0"/>
          </a:xfrm>
          <a:prstGeom prst="line">
            <a:avLst/>
          </a:prstGeom>
          <a:ln w="31750">
            <a:solidFill>
              <a:srgbClr val="005A9C"/>
            </a:solidFill>
          </a:ln>
          <a:effectLst/>
        </p:spPr>
        <p:style>
          <a:lnRef idx="2">
            <a:schemeClr val="accent1"/>
          </a:lnRef>
          <a:fillRef idx="0">
            <a:schemeClr val="accent1"/>
          </a:fillRef>
          <a:effectRef idx="1">
            <a:schemeClr val="accent1"/>
          </a:effectRef>
          <a:fontRef idx="minor">
            <a:schemeClr val="tx1"/>
          </a:fontRef>
        </p:style>
      </p:cxnSp>
      <p:sp>
        <p:nvSpPr>
          <p:cNvPr id="19" name="Isosceles Triangle 20"/>
          <p:cNvSpPr/>
          <p:nvPr/>
        </p:nvSpPr>
        <p:spPr>
          <a:xfrm rot="5400000">
            <a:off x="6345936" y="3808476"/>
            <a:ext cx="118872" cy="118872"/>
          </a:xfrm>
          <a:prstGeom prst="triangle">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21"/>
          <p:cNvSpPr/>
          <p:nvPr/>
        </p:nvSpPr>
        <p:spPr>
          <a:xfrm>
            <a:off x="6620256" y="2194560"/>
            <a:ext cx="4956048" cy="3419856"/>
          </a:xfrm>
          <a:prstGeom prst="roundRect">
            <a:avLst>
              <a:gd name="adj" fmla="val 8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2"/>
          <p:cNvSpPr txBox="1"/>
          <p:nvPr/>
        </p:nvSpPr>
        <p:spPr>
          <a:xfrm>
            <a:off x="6885432" y="2450592"/>
            <a:ext cx="4443984" cy="274320"/>
          </a:xfrm>
          <a:prstGeom prst="rect">
            <a:avLst/>
          </a:prstGeom>
          <a:noFill/>
          <a:effectLst/>
        </p:spPr>
        <p:txBody>
          <a:bodyPr wrap="none" lIns="0" tIns="0" rIns="0" bIns="0" anchor="t">
            <a:spAutoFit/>
          </a:bodyPr>
          <a:lstStyle/>
          <a:p>
            <a:pPr algn="l">
              <a:lnSpc>
                <a:spcPts val="1428"/>
              </a:lnSpc>
              <a:spcBef>
                <a:spcPts val="0"/>
              </a:spcBef>
              <a:spcAft>
                <a:spcPts val="0"/>
              </a:spcAft>
            </a:pPr>
            <a:r>
              <a:rPr lang="vi-VN" sz="1200" b="1">
                <a:solidFill>
                  <a:srgbClr val="F4C96B"/>
                </a:solidFill>
                <a:latin typeface="Arial"/>
              </a:rPr>
              <a:t>KHỐI GỢI Ý DỰ KIẾN</a:t>
            </a:r>
          </a:p>
        </p:txBody>
      </p:sp>
      <p:sp>
        <p:nvSpPr>
          <p:cNvPr id="22" name="TextBox 23"/>
          <p:cNvSpPr txBox="1"/>
          <p:nvPr/>
        </p:nvSpPr>
        <p:spPr>
          <a:xfrm>
            <a:off x="6894576" y="3090672"/>
            <a:ext cx="457200" cy="393192"/>
          </a:xfrm>
          <a:prstGeom prst="rect">
            <a:avLst/>
          </a:prstGeom>
          <a:noFill/>
          <a:effectLst/>
        </p:spPr>
        <p:txBody>
          <a:bodyPr wrap="none" lIns="0" tIns="0" rIns="0" bIns="0" anchor="t">
            <a:spAutoFit/>
          </a:bodyPr>
          <a:lstStyle/>
          <a:p>
            <a:pPr algn="l">
              <a:lnSpc>
                <a:spcPts val="2499"/>
              </a:lnSpc>
              <a:spcBef>
                <a:spcPts val="0"/>
              </a:spcBef>
              <a:spcAft>
                <a:spcPts val="0"/>
              </a:spcAft>
            </a:pPr>
            <a:r>
              <a:rPr lang="vi-VN" sz="2100" b="1">
                <a:solidFill>
                  <a:srgbClr val="F4C96B"/>
                </a:solidFill>
                <a:latin typeface="Arial"/>
              </a:rPr>
              <a:t>01</a:t>
            </a:r>
          </a:p>
        </p:txBody>
      </p:sp>
      <p:sp>
        <p:nvSpPr>
          <p:cNvPr id="23" name="TextBox 24"/>
          <p:cNvSpPr txBox="1"/>
          <p:nvPr/>
        </p:nvSpPr>
        <p:spPr>
          <a:xfrm>
            <a:off x="7516368" y="3090672"/>
            <a:ext cx="3648456" cy="347472"/>
          </a:xfrm>
          <a:prstGeom prst="rect">
            <a:avLst/>
          </a:prstGeom>
          <a:noFill/>
          <a:effectLst/>
        </p:spPr>
        <p:txBody>
          <a:bodyPr wrap="none" lIns="0" tIns="0" rIns="0" bIns="0" anchor="t">
            <a:spAutoFit/>
          </a:bodyPr>
          <a:lstStyle/>
          <a:p>
            <a:pPr algn="l">
              <a:lnSpc>
                <a:spcPts val="2261"/>
              </a:lnSpc>
              <a:spcBef>
                <a:spcPts val="0"/>
              </a:spcBef>
              <a:spcAft>
                <a:spcPts val="0"/>
              </a:spcAft>
            </a:pPr>
            <a:r>
              <a:rPr lang="vi-VN" sz="1900" b="1">
                <a:solidFill>
                  <a:srgbClr val="FFFFFF"/>
                </a:solidFill>
                <a:latin typeface="Arial"/>
              </a:rPr>
              <a:t>item_410</a:t>
            </a:r>
          </a:p>
        </p:txBody>
      </p:sp>
      <p:sp>
        <p:nvSpPr>
          <p:cNvPr id="24" name="TextBox 25"/>
          <p:cNvSpPr txBox="1"/>
          <p:nvPr/>
        </p:nvSpPr>
        <p:spPr>
          <a:xfrm>
            <a:off x="7516368" y="3465576"/>
            <a:ext cx="3648456" cy="329184"/>
          </a:xfrm>
          <a:prstGeom prst="rect">
            <a:avLst/>
          </a:prstGeom>
          <a:noFill/>
          <a:effectLst/>
        </p:spPr>
        <p:txBody>
          <a:bodyPr wrap="none" lIns="0" tIns="0" rIns="0" bIns="0" anchor="t">
            <a:spAutoFit/>
          </a:bodyPr>
          <a:lstStyle/>
          <a:p>
            <a:pPr algn="l">
              <a:lnSpc>
                <a:spcPts val="1428"/>
              </a:lnSpc>
              <a:spcBef>
                <a:spcPts val="0"/>
              </a:spcBef>
              <a:spcAft>
                <a:spcPts val="0"/>
              </a:spcAft>
            </a:pPr>
            <a:r>
              <a:rPr lang="vi-VN" sz="1200" b="0">
                <a:solidFill>
                  <a:srgbClr val="DCE7F2"/>
                </a:solidFill>
                <a:latin typeface="Arial"/>
              </a:rPr>
              <a:t>Điểm tương đồng từ mô hình (minh họa)</a:t>
            </a:r>
          </a:p>
        </p:txBody>
      </p:sp>
      <p:sp>
        <p:nvSpPr>
          <p:cNvPr id="25" name="TextBox 26"/>
          <p:cNvSpPr txBox="1"/>
          <p:nvPr/>
        </p:nvSpPr>
        <p:spPr>
          <a:xfrm>
            <a:off x="6894576" y="3831336"/>
            <a:ext cx="457200" cy="393192"/>
          </a:xfrm>
          <a:prstGeom prst="rect">
            <a:avLst/>
          </a:prstGeom>
          <a:noFill/>
          <a:effectLst/>
        </p:spPr>
        <p:txBody>
          <a:bodyPr wrap="none" lIns="0" tIns="0" rIns="0" bIns="0" anchor="t">
            <a:spAutoFit/>
          </a:bodyPr>
          <a:lstStyle/>
          <a:p>
            <a:pPr algn="l">
              <a:lnSpc>
                <a:spcPts val="2499"/>
              </a:lnSpc>
              <a:spcBef>
                <a:spcPts val="0"/>
              </a:spcBef>
              <a:spcAft>
                <a:spcPts val="0"/>
              </a:spcAft>
            </a:pPr>
            <a:r>
              <a:rPr lang="vi-VN" sz="2100" b="1">
                <a:solidFill>
                  <a:srgbClr val="F4C96B"/>
                </a:solidFill>
                <a:latin typeface="Arial"/>
              </a:rPr>
              <a:t>02</a:t>
            </a:r>
          </a:p>
        </p:txBody>
      </p:sp>
      <p:sp>
        <p:nvSpPr>
          <p:cNvPr id="26" name="TextBox 27"/>
          <p:cNvSpPr txBox="1"/>
          <p:nvPr/>
        </p:nvSpPr>
        <p:spPr>
          <a:xfrm>
            <a:off x="7516368" y="3831336"/>
            <a:ext cx="3648456" cy="347472"/>
          </a:xfrm>
          <a:prstGeom prst="rect">
            <a:avLst/>
          </a:prstGeom>
          <a:noFill/>
          <a:effectLst/>
        </p:spPr>
        <p:txBody>
          <a:bodyPr wrap="none" lIns="0" tIns="0" rIns="0" bIns="0" anchor="t">
            <a:spAutoFit/>
          </a:bodyPr>
          <a:lstStyle/>
          <a:p>
            <a:pPr algn="l">
              <a:lnSpc>
                <a:spcPts val="2261"/>
              </a:lnSpc>
              <a:spcBef>
                <a:spcPts val="0"/>
              </a:spcBef>
              <a:spcAft>
                <a:spcPts val="0"/>
              </a:spcAft>
            </a:pPr>
            <a:r>
              <a:rPr lang="vi-VN" sz="1900" b="1">
                <a:solidFill>
                  <a:srgbClr val="FFFFFF"/>
                </a:solidFill>
                <a:latin typeface="Arial"/>
              </a:rPr>
              <a:t>item_205</a:t>
            </a:r>
          </a:p>
        </p:txBody>
      </p:sp>
      <p:sp>
        <p:nvSpPr>
          <p:cNvPr id="27" name="TextBox 28"/>
          <p:cNvSpPr txBox="1"/>
          <p:nvPr/>
        </p:nvSpPr>
        <p:spPr>
          <a:xfrm>
            <a:off x="7516368" y="4206240"/>
            <a:ext cx="3648456" cy="329184"/>
          </a:xfrm>
          <a:prstGeom prst="rect">
            <a:avLst/>
          </a:prstGeom>
          <a:noFill/>
          <a:effectLst/>
        </p:spPr>
        <p:txBody>
          <a:bodyPr wrap="none" lIns="0" tIns="0" rIns="0" bIns="0" anchor="t">
            <a:spAutoFit/>
          </a:bodyPr>
          <a:lstStyle/>
          <a:p>
            <a:pPr algn="l">
              <a:lnSpc>
                <a:spcPts val="1428"/>
              </a:lnSpc>
              <a:spcBef>
                <a:spcPts val="0"/>
              </a:spcBef>
              <a:spcAft>
                <a:spcPts val="0"/>
              </a:spcAft>
            </a:pPr>
            <a:r>
              <a:rPr lang="vi-VN" sz="1200" b="0">
                <a:solidFill>
                  <a:srgbClr val="DCE7F2"/>
                </a:solidFill>
                <a:latin typeface="Arial"/>
              </a:rPr>
              <a:t>Cho phép gợi ý lại item đã tương tác</a:t>
            </a:r>
          </a:p>
        </p:txBody>
      </p:sp>
      <p:sp>
        <p:nvSpPr>
          <p:cNvPr id="28" name="TextBox 29"/>
          <p:cNvSpPr txBox="1"/>
          <p:nvPr/>
        </p:nvSpPr>
        <p:spPr>
          <a:xfrm>
            <a:off x="6894576" y="4572000"/>
            <a:ext cx="457200" cy="393192"/>
          </a:xfrm>
          <a:prstGeom prst="rect">
            <a:avLst/>
          </a:prstGeom>
          <a:noFill/>
          <a:effectLst/>
        </p:spPr>
        <p:txBody>
          <a:bodyPr wrap="none" lIns="0" tIns="0" rIns="0" bIns="0" anchor="t">
            <a:spAutoFit/>
          </a:bodyPr>
          <a:lstStyle/>
          <a:p>
            <a:pPr algn="l">
              <a:lnSpc>
                <a:spcPts val="2499"/>
              </a:lnSpc>
              <a:spcBef>
                <a:spcPts val="0"/>
              </a:spcBef>
              <a:spcAft>
                <a:spcPts val="0"/>
              </a:spcAft>
            </a:pPr>
            <a:r>
              <a:rPr lang="vi-VN" sz="2100" b="1">
                <a:solidFill>
                  <a:srgbClr val="F4C96B"/>
                </a:solidFill>
                <a:latin typeface="Arial"/>
              </a:rPr>
              <a:t>03</a:t>
            </a:r>
          </a:p>
        </p:txBody>
      </p:sp>
      <p:sp>
        <p:nvSpPr>
          <p:cNvPr id="29" name="TextBox 30"/>
          <p:cNvSpPr txBox="1"/>
          <p:nvPr/>
        </p:nvSpPr>
        <p:spPr>
          <a:xfrm>
            <a:off x="7516368" y="4572000"/>
            <a:ext cx="3648456" cy="347472"/>
          </a:xfrm>
          <a:prstGeom prst="rect">
            <a:avLst/>
          </a:prstGeom>
          <a:noFill/>
          <a:effectLst/>
        </p:spPr>
        <p:txBody>
          <a:bodyPr wrap="none" lIns="0" tIns="0" rIns="0" bIns="0" anchor="t">
            <a:spAutoFit/>
          </a:bodyPr>
          <a:lstStyle/>
          <a:p>
            <a:pPr algn="l">
              <a:lnSpc>
                <a:spcPts val="2261"/>
              </a:lnSpc>
              <a:spcBef>
                <a:spcPts val="0"/>
              </a:spcBef>
              <a:spcAft>
                <a:spcPts val="0"/>
              </a:spcAft>
            </a:pPr>
            <a:r>
              <a:rPr lang="vi-VN" sz="1900" b="1">
                <a:solidFill>
                  <a:srgbClr val="FFFFFF"/>
                </a:solidFill>
                <a:latin typeface="Arial"/>
              </a:rPr>
              <a:t>item_611</a:t>
            </a:r>
          </a:p>
        </p:txBody>
      </p:sp>
      <p:sp>
        <p:nvSpPr>
          <p:cNvPr id="30" name="TextBox 31"/>
          <p:cNvSpPr txBox="1"/>
          <p:nvPr/>
        </p:nvSpPr>
        <p:spPr>
          <a:xfrm>
            <a:off x="7516368" y="4946904"/>
            <a:ext cx="3648456" cy="329184"/>
          </a:xfrm>
          <a:prstGeom prst="rect">
            <a:avLst/>
          </a:prstGeom>
          <a:noFill/>
          <a:effectLst/>
        </p:spPr>
        <p:txBody>
          <a:bodyPr wrap="none" lIns="0" tIns="0" rIns="0" bIns="0" anchor="t">
            <a:spAutoFit/>
          </a:bodyPr>
          <a:lstStyle/>
          <a:p>
            <a:pPr algn="l">
              <a:lnSpc>
                <a:spcPts val="1428"/>
              </a:lnSpc>
              <a:spcBef>
                <a:spcPts val="0"/>
              </a:spcBef>
              <a:spcAft>
                <a:spcPts val="0"/>
              </a:spcAft>
            </a:pPr>
            <a:r>
              <a:rPr lang="vi-VN" sz="1200" b="0">
                <a:solidFill>
                  <a:srgbClr val="DCE7F2"/>
                </a:solidFill>
                <a:latin typeface="Arial"/>
              </a:rPr>
              <a:t>Phổ biến; đủ điều kiện tại t</a:t>
            </a:r>
          </a:p>
        </p:txBody>
      </p:sp>
      <p:sp>
        <p:nvSpPr>
          <p:cNvPr id="31" name="TextBox 32"/>
          <p:cNvSpPr txBox="1"/>
          <p:nvPr/>
        </p:nvSpPr>
        <p:spPr>
          <a:xfrm>
            <a:off x="594360" y="5797296"/>
            <a:ext cx="10963656" cy="320040"/>
          </a:xfrm>
          <a:prstGeom prst="rect">
            <a:avLst/>
          </a:prstGeom>
          <a:noFill/>
          <a:effectLst/>
        </p:spPr>
        <p:txBody>
          <a:bodyPr wrap="none" lIns="0" tIns="0" rIns="0" bIns="0" anchor="t">
            <a:spAutoFit/>
          </a:bodyPr>
          <a:lstStyle/>
          <a:p>
            <a:pPr algn="l">
              <a:lnSpc>
                <a:spcPts val="1547"/>
              </a:lnSpc>
              <a:spcBef>
                <a:spcPts val="0"/>
              </a:spcBef>
              <a:spcAft>
                <a:spcPts val="0"/>
              </a:spcAft>
            </a:pPr>
            <a:r>
              <a:rPr lang="vi-VN" sz="1300" b="0">
                <a:solidFill>
                  <a:srgbClr val="536373"/>
                </a:solidFill>
                <a:latin typeface="Arial"/>
              </a:rPr>
              <a:t>Khách ngoài train vẫn có thể có lịch sử vừa quan sát; khi thiếu tín hiệu, dùng gợi ý phổ biến dự phòng.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20624" y="91440"/>
            <a:ext cx="11292840" cy="457200"/>
          </a:xfrm>
          <a:prstGeom prst="rect">
            <a:avLst/>
          </a:prstGeom>
          <a:noFill/>
          <a:effectLst/>
        </p:spPr>
        <p:txBody>
          <a:bodyPr wrap="none" lIns="0" tIns="0" rIns="0" bIns="0" anchor="ctr">
            <a:spAutoFit/>
          </a:bodyPr>
          <a:lstStyle/>
          <a:p>
            <a:pPr algn="l">
              <a:lnSpc>
                <a:spcPct val="105000"/>
              </a:lnSpc>
              <a:spcBef>
                <a:spcPts val="0"/>
              </a:spcBef>
              <a:spcAft>
                <a:spcPts val="0"/>
              </a:spcAft>
            </a:pPr>
            <a:r>
              <a:rPr lang="vi-VN" sz="2300" b="1">
                <a:solidFill>
                  <a:srgbClr val="FFFFFF"/>
                </a:solidFill>
                <a:latin typeface="Arial"/>
              </a:rPr>
              <a:t>02 / INPUT – OUTPUT</a:t>
            </a:r>
          </a:p>
        </p:txBody>
      </p:sp>
      <p:sp>
        <p:nvSpPr>
          <p:cNvPr id="3" name="TextBox 3"/>
          <p:cNvSpPr txBox="1"/>
          <p:nvPr/>
        </p:nvSpPr>
        <p:spPr>
          <a:xfrm>
            <a:off x="512064" y="969264"/>
            <a:ext cx="11109960" cy="694944"/>
          </a:xfrm>
          <a:prstGeom prst="rect">
            <a:avLst/>
          </a:prstGeom>
          <a:noFill/>
          <a:effectLst/>
        </p:spPr>
        <p:txBody>
          <a:bodyPr wrap="none" lIns="0" tIns="0" rIns="0" bIns="0" anchor="t">
            <a:spAutoFit/>
          </a:bodyPr>
          <a:lstStyle/>
          <a:p>
            <a:pPr algn="l">
              <a:lnSpc>
                <a:spcPct val="105000"/>
              </a:lnSpc>
              <a:spcBef>
                <a:spcPts val="0"/>
              </a:spcBef>
              <a:spcAft>
                <a:spcPts val="0"/>
              </a:spcAft>
            </a:pPr>
            <a:r>
              <a:rPr lang="vi-VN" sz="2900" b="1">
                <a:solidFill>
                  <a:srgbClr val="003366"/>
                </a:solidFill>
                <a:latin typeface="Arial"/>
              </a:rPr>
              <a:t>Hệ thống nhận gì và trả về gì?</a:t>
            </a:r>
          </a:p>
        </p:txBody>
      </p:sp>
      <p:sp>
        <p:nvSpPr>
          <p:cNvPr id="4" name="TextBox 4"/>
          <p:cNvSpPr txBox="1"/>
          <p:nvPr/>
        </p:nvSpPr>
        <p:spPr>
          <a:xfrm>
            <a:off x="539496" y="1783080"/>
            <a:ext cx="10972800" cy="329184"/>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536373"/>
                </a:solidFill>
                <a:latin typeface="Arial"/>
              </a:rPr>
              <a:t>Hợp đồng dữ liệu cho khối sinh gợi ý dự kiến; không mô tả một API đã triển khai.</a:t>
            </a:r>
          </a:p>
        </p:txBody>
      </p:sp>
      <p:sp>
        <p:nvSpPr>
          <p:cNvPr id="6" name="TextBox 7"/>
          <p:cNvSpPr txBox="1"/>
          <p:nvPr/>
        </p:nvSpPr>
        <p:spPr>
          <a:xfrm>
            <a:off x="10561320" y="6510528"/>
            <a:ext cx="1097280" cy="210312"/>
          </a:xfrm>
          <a:prstGeom prst="rect">
            <a:avLst/>
          </a:prstGeom>
          <a:noFill/>
          <a:effectLst/>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06 / 41</a:t>
            </a:r>
          </a:p>
        </p:txBody>
      </p:sp>
      <p:sp>
        <p:nvSpPr>
          <p:cNvPr id="8" name="Rounded Rectangle 9"/>
          <p:cNvSpPr/>
          <p:nvPr/>
        </p:nvSpPr>
        <p:spPr>
          <a:xfrm>
            <a:off x="576072" y="2157984"/>
            <a:ext cx="5074920" cy="3621024"/>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10"/>
          <p:cNvSpPr txBox="1"/>
          <p:nvPr/>
        </p:nvSpPr>
        <p:spPr>
          <a:xfrm>
            <a:off x="822960" y="2395728"/>
            <a:ext cx="4544568" cy="448056"/>
          </a:xfrm>
          <a:prstGeom prst="rect">
            <a:avLst/>
          </a:prstGeom>
          <a:noFill/>
          <a:effectLst/>
        </p:spPr>
        <p:txBody>
          <a:bodyPr wrap="none" lIns="0" tIns="0" rIns="0" bIns="0" anchor="t">
            <a:spAutoFit/>
          </a:bodyPr>
          <a:lstStyle/>
          <a:p>
            <a:pPr algn="l">
              <a:lnSpc>
                <a:spcPts val="2975"/>
              </a:lnSpc>
              <a:spcBef>
                <a:spcPts val="0"/>
              </a:spcBef>
              <a:spcAft>
                <a:spcPts val="0"/>
              </a:spcAft>
            </a:pPr>
            <a:r>
              <a:rPr lang="vi-VN" sz="2500" b="1">
                <a:solidFill>
                  <a:srgbClr val="003366"/>
                </a:solidFill>
                <a:latin typeface="Arial"/>
              </a:rPr>
              <a:t>INPUT</a:t>
            </a:r>
          </a:p>
        </p:txBody>
      </p:sp>
      <p:sp>
        <p:nvSpPr>
          <p:cNvPr id="10" name="Rounded Rectangle 11"/>
          <p:cNvSpPr/>
          <p:nvPr/>
        </p:nvSpPr>
        <p:spPr>
          <a:xfrm>
            <a:off x="822960" y="2898648"/>
            <a:ext cx="2377440" cy="310896"/>
          </a:xfrm>
          <a:prstGeom prst="roundRect">
            <a:avLst>
              <a:gd name="adj" fmla="val 8000"/>
            </a:avLst>
          </a:prstGeom>
          <a:solidFill>
            <a:srgbClr val="EA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2"/>
          <p:cNvSpPr txBox="1"/>
          <p:nvPr/>
        </p:nvSpPr>
        <p:spPr>
          <a:xfrm>
            <a:off x="905256" y="2958084"/>
            <a:ext cx="2212848" cy="210312"/>
          </a:xfrm>
          <a:prstGeom prst="rect">
            <a:avLst/>
          </a:prstGeom>
          <a:noFill/>
          <a:effectLst/>
        </p:spPr>
        <p:txBody>
          <a:bodyPr wrap="none" lIns="0" tIns="0" rIns="0" bIns="0" anchor="t">
            <a:spAutoFit/>
          </a:bodyPr>
          <a:lstStyle/>
          <a:p>
            <a:pPr algn="ctr">
              <a:lnSpc>
                <a:spcPts val="1082"/>
              </a:lnSpc>
              <a:spcBef>
                <a:spcPts val="0"/>
              </a:spcBef>
              <a:spcAft>
                <a:spcPts val="0"/>
              </a:spcAft>
            </a:pPr>
            <a:r>
              <a:rPr lang="vi-VN" sz="910" b="1">
                <a:solidFill>
                  <a:srgbClr val="005A9C"/>
                </a:solidFill>
                <a:latin typeface="Arial"/>
              </a:rPr>
              <a:t>THÔNG TIN TẠI t</a:t>
            </a:r>
          </a:p>
        </p:txBody>
      </p:sp>
      <p:sp>
        <p:nvSpPr>
          <p:cNvPr id="12" name="Rounded Rectangle 13"/>
          <p:cNvSpPr/>
          <p:nvPr/>
        </p:nvSpPr>
        <p:spPr>
          <a:xfrm>
            <a:off x="6528816" y="2157984"/>
            <a:ext cx="5074920" cy="3621024"/>
          </a:xfrm>
          <a:prstGeom prst="roundRect">
            <a:avLst>
              <a:gd name="adj" fmla="val 8000"/>
            </a:avLst>
          </a:prstGeom>
          <a:solidFill>
            <a:srgbClr val="EA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4"/>
          <p:cNvSpPr txBox="1"/>
          <p:nvPr/>
        </p:nvSpPr>
        <p:spPr>
          <a:xfrm>
            <a:off x="6775704" y="2395728"/>
            <a:ext cx="4544568" cy="448056"/>
          </a:xfrm>
          <a:prstGeom prst="rect">
            <a:avLst/>
          </a:prstGeom>
          <a:noFill/>
          <a:effectLst/>
        </p:spPr>
        <p:txBody>
          <a:bodyPr wrap="none" lIns="0" tIns="0" rIns="0" bIns="0" anchor="t">
            <a:spAutoFit/>
          </a:bodyPr>
          <a:lstStyle/>
          <a:p>
            <a:pPr algn="l">
              <a:lnSpc>
                <a:spcPts val="2975"/>
              </a:lnSpc>
              <a:spcBef>
                <a:spcPts val="0"/>
              </a:spcBef>
              <a:spcAft>
                <a:spcPts val="0"/>
              </a:spcAft>
            </a:pPr>
            <a:r>
              <a:rPr lang="vi-VN" sz="2500" b="1">
                <a:solidFill>
                  <a:srgbClr val="003366"/>
                </a:solidFill>
                <a:latin typeface="Arial"/>
              </a:rPr>
              <a:t>OUTPUT</a:t>
            </a:r>
          </a:p>
        </p:txBody>
      </p:sp>
      <p:sp>
        <p:nvSpPr>
          <p:cNvPr id="14" name="Rounded Rectangle 15"/>
          <p:cNvSpPr/>
          <p:nvPr/>
        </p:nvSpPr>
        <p:spPr>
          <a:xfrm>
            <a:off x="6775704" y="2898648"/>
            <a:ext cx="2377440" cy="310896"/>
          </a:xfrm>
          <a:prstGeom prst="roundRect">
            <a:avLst>
              <a:gd name="adj" fmla="val 8000"/>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6"/>
          <p:cNvSpPr txBox="1"/>
          <p:nvPr/>
        </p:nvSpPr>
        <p:spPr>
          <a:xfrm>
            <a:off x="6858000" y="2958084"/>
            <a:ext cx="2212848" cy="210312"/>
          </a:xfrm>
          <a:prstGeom prst="rect">
            <a:avLst/>
          </a:prstGeom>
          <a:noFill/>
          <a:effectLst/>
        </p:spPr>
        <p:txBody>
          <a:bodyPr wrap="none" lIns="0" tIns="0" rIns="0" bIns="0" anchor="t">
            <a:spAutoFit/>
          </a:bodyPr>
          <a:lstStyle/>
          <a:p>
            <a:pPr algn="ctr">
              <a:lnSpc>
                <a:spcPts val="1082"/>
              </a:lnSpc>
              <a:spcBef>
                <a:spcPts val="0"/>
              </a:spcBef>
              <a:spcAft>
                <a:spcPts val="0"/>
              </a:spcAft>
            </a:pPr>
            <a:r>
              <a:rPr lang="vi-VN" sz="910" b="1">
                <a:solidFill>
                  <a:srgbClr val="FFFFFF"/>
                </a:solidFill>
                <a:latin typeface="Arial"/>
              </a:rPr>
              <a:t>KẾT QUẢ DỰ KIẾN</a:t>
            </a:r>
          </a:p>
        </p:txBody>
      </p:sp>
      <p:sp>
        <p:nvSpPr>
          <p:cNvPr id="16" name="TextBox 17"/>
          <p:cNvSpPr txBox="1"/>
          <p:nvPr/>
        </p:nvSpPr>
        <p:spPr>
          <a:xfrm>
            <a:off x="832104" y="3474720"/>
            <a:ext cx="4562856" cy="256032"/>
          </a:xfrm>
          <a:prstGeom prst="rect">
            <a:avLst/>
          </a:prstGeom>
          <a:noFill/>
          <a:effectLst/>
        </p:spPr>
        <p:txBody>
          <a:bodyPr wrap="none" lIns="0" tIns="0" rIns="0" bIns="0" anchor="t">
            <a:spAutoFit/>
          </a:bodyPr>
          <a:lstStyle/>
          <a:p>
            <a:pPr algn="l">
              <a:lnSpc>
                <a:spcPts val="1547"/>
              </a:lnSpc>
              <a:spcBef>
                <a:spcPts val="0"/>
              </a:spcBef>
              <a:spcAft>
                <a:spcPts val="0"/>
              </a:spcAft>
            </a:pPr>
            <a:r>
              <a:rPr lang="vi-VN" sz="1300" b="1">
                <a:solidFill>
                  <a:srgbClr val="005A9C"/>
                </a:solidFill>
                <a:latin typeface="Arial"/>
              </a:rPr>
              <a:t>Ngữ cảnh</a:t>
            </a:r>
          </a:p>
        </p:txBody>
      </p:sp>
      <p:sp>
        <p:nvSpPr>
          <p:cNvPr id="17" name="TextBox 18"/>
          <p:cNvSpPr txBox="1"/>
          <p:nvPr/>
        </p:nvSpPr>
        <p:spPr>
          <a:xfrm>
            <a:off x="832104" y="3749039"/>
            <a:ext cx="4562856" cy="320040"/>
          </a:xfrm>
          <a:prstGeom prst="rect">
            <a:avLst/>
          </a:prstGeom>
          <a:noFill/>
          <a:effectLst/>
        </p:spPr>
        <p:txBody>
          <a:bodyPr wrap="square" lIns="0" tIns="0" rIns="0" bIns="0" anchor="t">
            <a:noAutofit/>
          </a:bodyPr>
          <a:lstStyle/>
          <a:p>
            <a:pPr algn="l">
              <a:lnSpc>
                <a:spcPct val="108000"/>
              </a:lnSpc>
              <a:spcBef>
                <a:spcPts val="0"/>
              </a:spcBef>
              <a:spcAft>
                <a:spcPts val="0"/>
              </a:spcAft>
            </a:pPr>
            <a:r>
              <a:rPr sz="1400" b="0">
                <a:solidFill>
                  <a:srgbClr val="003366"/>
                </a:solidFill>
                <a:latin typeface="Arial"/>
              </a:rPr>
              <a:t>session_id, thời điểm t, K = 10 hoặc 20</a:t>
            </a:r>
          </a:p>
        </p:txBody>
      </p:sp>
      <p:sp>
        <p:nvSpPr>
          <p:cNvPr id="18" name="TextBox 19"/>
          <p:cNvSpPr txBox="1"/>
          <p:nvPr/>
        </p:nvSpPr>
        <p:spPr>
          <a:xfrm>
            <a:off x="832104" y="4160520"/>
            <a:ext cx="4562856" cy="256032"/>
          </a:xfrm>
          <a:prstGeom prst="rect">
            <a:avLst/>
          </a:prstGeom>
          <a:noFill/>
          <a:effectLst/>
        </p:spPr>
        <p:txBody>
          <a:bodyPr wrap="none" lIns="0" tIns="0" rIns="0" bIns="0" anchor="t">
            <a:spAutoFit/>
          </a:bodyPr>
          <a:lstStyle/>
          <a:p>
            <a:pPr algn="l">
              <a:lnSpc>
                <a:spcPts val="1547"/>
              </a:lnSpc>
              <a:spcBef>
                <a:spcPts val="0"/>
              </a:spcBef>
              <a:spcAft>
                <a:spcPts val="0"/>
              </a:spcAft>
            </a:pPr>
            <a:r>
              <a:rPr lang="vi-VN" sz="1300" b="1">
                <a:solidFill>
                  <a:srgbClr val="005A9C"/>
                </a:solidFill>
                <a:latin typeface="Arial"/>
              </a:rPr>
              <a:t>Hành vi</a:t>
            </a:r>
          </a:p>
        </p:txBody>
      </p:sp>
      <p:sp>
        <p:nvSpPr>
          <p:cNvPr id="19" name="TextBox 20"/>
          <p:cNvSpPr txBox="1"/>
          <p:nvPr/>
        </p:nvSpPr>
        <p:spPr>
          <a:xfrm>
            <a:off x="832104" y="4434840"/>
            <a:ext cx="4562856" cy="320040"/>
          </a:xfrm>
          <a:prstGeom prst="rect">
            <a:avLst/>
          </a:prstGeom>
          <a:noFill/>
          <a:effectLst/>
        </p:spPr>
        <p:txBody>
          <a:bodyPr wrap="square" lIns="0" tIns="0" rIns="0" bIns="0" anchor="t">
            <a:noAutofit/>
          </a:bodyPr>
          <a:lstStyle/>
          <a:p>
            <a:pPr algn="l">
              <a:lnSpc>
                <a:spcPct val="108000"/>
              </a:lnSpc>
              <a:spcBef>
                <a:spcPts val="0"/>
              </a:spcBef>
              <a:spcAft>
                <a:spcPts val="0"/>
              </a:spcAft>
            </a:pPr>
            <a:r>
              <a:rPr sz="1400" b="0">
                <a:solidFill>
                  <a:srgbClr val="003366"/>
                </a:solidFill>
                <a:latin typeface="Arial"/>
              </a:rPr>
              <a:t>Prefix: item, hành vi và thời gian ≤ t</a:t>
            </a:r>
          </a:p>
        </p:txBody>
      </p:sp>
      <p:sp>
        <p:nvSpPr>
          <p:cNvPr id="20" name="TextBox 21"/>
          <p:cNvSpPr txBox="1"/>
          <p:nvPr/>
        </p:nvSpPr>
        <p:spPr>
          <a:xfrm>
            <a:off x="832104" y="4846320"/>
            <a:ext cx="4562856" cy="256032"/>
          </a:xfrm>
          <a:prstGeom prst="rect">
            <a:avLst/>
          </a:prstGeom>
          <a:noFill/>
          <a:effectLst/>
        </p:spPr>
        <p:txBody>
          <a:bodyPr wrap="none" lIns="0" tIns="0" rIns="0" bIns="0" anchor="t">
            <a:spAutoFit/>
          </a:bodyPr>
          <a:lstStyle/>
          <a:p>
            <a:pPr algn="l">
              <a:lnSpc>
                <a:spcPts val="1547"/>
              </a:lnSpc>
              <a:spcBef>
                <a:spcPts val="0"/>
              </a:spcBef>
              <a:spcAft>
                <a:spcPts val="0"/>
              </a:spcAft>
            </a:pPr>
            <a:r>
              <a:rPr lang="vi-VN" sz="1300" b="1">
                <a:solidFill>
                  <a:srgbClr val="005A9C"/>
                </a:solidFill>
                <a:latin typeface="Arial"/>
              </a:rPr>
              <a:t>Catalog</a:t>
            </a:r>
          </a:p>
        </p:txBody>
      </p:sp>
      <p:sp>
        <p:nvSpPr>
          <p:cNvPr id="21" name="TextBox 22"/>
          <p:cNvSpPr txBox="1"/>
          <p:nvPr/>
        </p:nvSpPr>
        <p:spPr>
          <a:xfrm>
            <a:off x="832104" y="5120640"/>
            <a:ext cx="4562856" cy="320040"/>
          </a:xfrm>
          <a:prstGeom prst="rect">
            <a:avLst/>
          </a:prstGeom>
          <a:noFill/>
          <a:effectLst/>
        </p:spPr>
        <p:txBody>
          <a:bodyPr wrap="none" lIns="0" tIns="0" rIns="0" bIns="0" anchor="t">
            <a:spAutoFit/>
          </a:bodyPr>
          <a:lstStyle/>
          <a:p>
            <a:pPr algn="l">
              <a:lnSpc>
                <a:spcPts val="1784"/>
              </a:lnSpc>
              <a:spcBef>
                <a:spcPts val="0"/>
              </a:spcBef>
              <a:spcAft>
                <a:spcPts val="0"/>
              </a:spcAft>
            </a:pPr>
            <a:r>
              <a:rPr lang="vi-VN" sz="1500" b="0">
                <a:solidFill>
                  <a:srgbClr val="003366"/>
                </a:solidFill>
                <a:latin typeface="Arial"/>
              </a:rPr>
              <a:t>known_at, category, available tại t</a:t>
            </a:r>
          </a:p>
        </p:txBody>
      </p:sp>
      <p:sp>
        <p:nvSpPr>
          <p:cNvPr id="22" name="TextBox 23"/>
          <p:cNvSpPr txBox="1"/>
          <p:nvPr/>
        </p:nvSpPr>
        <p:spPr>
          <a:xfrm>
            <a:off x="6784848" y="3474720"/>
            <a:ext cx="4562856" cy="256032"/>
          </a:xfrm>
          <a:prstGeom prst="rect">
            <a:avLst/>
          </a:prstGeom>
          <a:noFill/>
          <a:effectLst/>
        </p:spPr>
        <p:txBody>
          <a:bodyPr wrap="none" lIns="0" tIns="0" rIns="0" bIns="0" anchor="t">
            <a:spAutoFit/>
          </a:bodyPr>
          <a:lstStyle/>
          <a:p>
            <a:pPr algn="l">
              <a:lnSpc>
                <a:spcPts val="1547"/>
              </a:lnSpc>
              <a:spcBef>
                <a:spcPts val="0"/>
              </a:spcBef>
              <a:spcAft>
                <a:spcPts val="0"/>
              </a:spcAft>
            </a:pPr>
            <a:r>
              <a:rPr lang="vi-VN" sz="1300" b="1">
                <a:solidFill>
                  <a:srgbClr val="005A9C"/>
                </a:solidFill>
                <a:latin typeface="Arial"/>
              </a:rPr>
              <a:t>Danh sách</a:t>
            </a:r>
          </a:p>
        </p:txBody>
      </p:sp>
      <p:sp>
        <p:nvSpPr>
          <p:cNvPr id="23" name="TextBox 24"/>
          <p:cNvSpPr txBox="1"/>
          <p:nvPr/>
        </p:nvSpPr>
        <p:spPr>
          <a:xfrm>
            <a:off x="6784848" y="3749039"/>
            <a:ext cx="4562856" cy="320040"/>
          </a:xfrm>
          <a:prstGeom prst="rect">
            <a:avLst/>
          </a:prstGeom>
          <a:noFill/>
          <a:effectLst/>
        </p:spPr>
        <p:txBody>
          <a:bodyPr wrap="none" lIns="0" tIns="0" rIns="0" bIns="0" anchor="t">
            <a:spAutoFit/>
          </a:bodyPr>
          <a:lstStyle/>
          <a:p>
            <a:pPr algn="l">
              <a:lnSpc>
                <a:spcPts val="1784"/>
              </a:lnSpc>
              <a:spcBef>
                <a:spcPts val="0"/>
              </a:spcBef>
              <a:spcAft>
                <a:spcPts val="0"/>
              </a:spcAft>
            </a:pPr>
            <a:r>
              <a:rPr lang="vi-VN" sz="1500" b="0">
                <a:solidFill>
                  <a:srgbClr val="003366"/>
                </a:solidFill>
                <a:latin typeface="Arial"/>
              </a:rPr>
              <a:t>K item_id có thứ hạng 1…K</a:t>
            </a:r>
          </a:p>
        </p:txBody>
      </p:sp>
      <p:sp>
        <p:nvSpPr>
          <p:cNvPr id="24" name="TextBox 25"/>
          <p:cNvSpPr txBox="1"/>
          <p:nvPr/>
        </p:nvSpPr>
        <p:spPr>
          <a:xfrm>
            <a:off x="6784848" y="4160520"/>
            <a:ext cx="4562856" cy="256032"/>
          </a:xfrm>
          <a:prstGeom prst="rect">
            <a:avLst/>
          </a:prstGeom>
          <a:noFill/>
          <a:effectLst/>
        </p:spPr>
        <p:txBody>
          <a:bodyPr wrap="none" lIns="0" tIns="0" rIns="0" bIns="0" anchor="t">
            <a:spAutoFit/>
          </a:bodyPr>
          <a:lstStyle/>
          <a:p>
            <a:pPr algn="l">
              <a:lnSpc>
                <a:spcPts val="1547"/>
              </a:lnSpc>
              <a:spcBef>
                <a:spcPts val="0"/>
              </a:spcBef>
              <a:spcAft>
                <a:spcPts val="0"/>
              </a:spcAft>
            </a:pPr>
            <a:r>
              <a:rPr lang="vi-VN" sz="1300" b="1">
                <a:solidFill>
                  <a:srgbClr val="005A9C"/>
                </a:solidFill>
                <a:latin typeface="Arial"/>
              </a:rPr>
              <a:t>Thông tin kèm</a:t>
            </a:r>
          </a:p>
        </p:txBody>
      </p:sp>
      <p:sp>
        <p:nvSpPr>
          <p:cNvPr id="25" name="TextBox 26"/>
          <p:cNvSpPr txBox="1"/>
          <p:nvPr/>
        </p:nvSpPr>
        <p:spPr>
          <a:xfrm>
            <a:off x="6784848" y="4434840"/>
            <a:ext cx="4562856" cy="320040"/>
          </a:xfrm>
          <a:prstGeom prst="rect">
            <a:avLst/>
          </a:prstGeom>
          <a:noFill/>
          <a:effectLst/>
        </p:spPr>
        <p:txBody>
          <a:bodyPr wrap="none" lIns="0" tIns="0" rIns="0" bIns="0" anchor="t">
            <a:spAutoFit/>
          </a:bodyPr>
          <a:lstStyle/>
          <a:p>
            <a:pPr algn="l">
              <a:lnSpc>
                <a:spcPts val="1784"/>
              </a:lnSpc>
              <a:spcBef>
                <a:spcPts val="0"/>
              </a:spcBef>
              <a:spcAft>
                <a:spcPts val="0"/>
              </a:spcAft>
            </a:pPr>
            <a:r>
              <a:rPr lang="vi-VN" sz="1500" b="0">
                <a:solidFill>
                  <a:srgbClr val="003366"/>
                </a:solidFill>
                <a:latin typeface="Arial"/>
              </a:rPr>
              <a:t>score tương đối; category nếu biết</a:t>
            </a:r>
          </a:p>
        </p:txBody>
      </p:sp>
      <p:sp>
        <p:nvSpPr>
          <p:cNvPr id="26" name="TextBox 27"/>
          <p:cNvSpPr txBox="1"/>
          <p:nvPr/>
        </p:nvSpPr>
        <p:spPr>
          <a:xfrm>
            <a:off x="6784848" y="4846320"/>
            <a:ext cx="4562856" cy="256032"/>
          </a:xfrm>
          <a:prstGeom prst="rect">
            <a:avLst/>
          </a:prstGeom>
          <a:noFill/>
          <a:effectLst/>
        </p:spPr>
        <p:txBody>
          <a:bodyPr wrap="none" lIns="0" tIns="0" rIns="0" bIns="0" anchor="t">
            <a:spAutoFit/>
          </a:bodyPr>
          <a:lstStyle/>
          <a:p>
            <a:pPr algn="l">
              <a:lnSpc>
                <a:spcPts val="1547"/>
              </a:lnSpc>
              <a:spcBef>
                <a:spcPts val="0"/>
              </a:spcBef>
              <a:spcAft>
                <a:spcPts val="0"/>
              </a:spcAft>
            </a:pPr>
            <a:r>
              <a:rPr lang="vi-VN" sz="1300" b="1">
                <a:solidFill>
                  <a:srgbClr val="005A9C"/>
                </a:solidFill>
                <a:latin typeface="Arial"/>
              </a:rPr>
              <a:t>Kiểm soát</a:t>
            </a:r>
          </a:p>
        </p:txBody>
      </p:sp>
      <p:sp>
        <p:nvSpPr>
          <p:cNvPr id="27" name="TextBox 28"/>
          <p:cNvSpPr txBox="1"/>
          <p:nvPr/>
        </p:nvSpPr>
        <p:spPr>
          <a:xfrm>
            <a:off x="6784848" y="5120640"/>
            <a:ext cx="4562856" cy="320040"/>
          </a:xfrm>
          <a:prstGeom prst="rect">
            <a:avLst/>
          </a:prstGeom>
          <a:noFill/>
          <a:effectLst/>
        </p:spPr>
        <p:txBody>
          <a:bodyPr wrap="none" lIns="0" tIns="0" rIns="0" bIns="0" anchor="t">
            <a:spAutoFit/>
          </a:bodyPr>
          <a:lstStyle/>
          <a:p>
            <a:pPr algn="l">
              <a:lnSpc>
                <a:spcPts val="1784"/>
              </a:lnSpc>
              <a:spcBef>
                <a:spcPts val="0"/>
              </a:spcBef>
              <a:spcAft>
                <a:spcPts val="0"/>
              </a:spcAft>
            </a:pPr>
            <a:r>
              <a:rPr lang="vi-VN" sz="1500" b="0">
                <a:solidFill>
                  <a:srgbClr val="003366"/>
                </a:solidFill>
                <a:latin typeface="Arial"/>
              </a:rPr>
              <a:t>lọc ứng viên, cờ dùng phương án dự phòng</a:t>
            </a:r>
          </a:p>
        </p:txBody>
      </p:sp>
      <p:cxnSp>
        <p:nvCxnSpPr>
          <p:cNvPr id="28" name="Connector 29"/>
          <p:cNvCxnSpPr/>
          <p:nvPr/>
        </p:nvCxnSpPr>
        <p:spPr>
          <a:xfrm>
            <a:off x="5806440" y="3995928"/>
            <a:ext cx="484632" cy="0"/>
          </a:xfrm>
          <a:prstGeom prst="line">
            <a:avLst/>
          </a:prstGeom>
          <a:ln w="30480">
            <a:solidFill>
              <a:srgbClr val="005A9C"/>
            </a:solidFill>
          </a:ln>
          <a:effectLst/>
        </p:spPr>
        <p:style>
          <a:lnRef idx="2">
            <a:schemeClr val="accent1"/>
          </a:lnRef>
          <a:fillRef idx="0">
            <a:schemeClr val="accent1"/>
          </a:fillRef>
          <a:effectRef idx="1">
            <a:schemeClr val="accent1"/>
          </a:effectRef>
          <a:fontRef idx="minor">
            <a:schemeClr val="tx1"/>
          </a:fontRef>
        </p:style>
      </p:cxnSp>
      <p:sp>
        <p:nvSpPr>
          <p:cNvPr id="29" name="Isosceles Triangle 30"/>
          <p:cNvSpPr/>
          <p:nvPr/>
        </p:nvSpPr>
        <p:spPr>
          <a:xfrm rot="5400000">
            <a:off x="6263640" y="3936491"/>
            <a:ext cx="118872" cy="118872"/>
          </a:xfrm>
          <a:prstGeom prst="triangle">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31"/>
          <p:cNvSpPr txBox="1"/>
          <p:nvPr/>
        </p:nvSpPr>
        <p:spPr>
          <a:xfrm>
            <a:off x="594360" y="5897880"/>
            <a:ext cx="10972800" cy="274320"/>
          </a:xfrm>
          <a:prstGeom prst="rect">
            <a:avLst/>
          </a:prstGeom>
          <a:noFill/>
          <a:effectLst/>
        </p:spPr>
        <p:txBody>
          <a:bodyPr wrap="square" lIns="0" tIns="0" rIns="0" bIns="0" anchor="t">
            <a:noAutofit/>
          </a:bodyPr>
          <a:lstStyle/>
          <a:p>
            <a:pPr algn="l">
              <a:lnSpc>
                <a:spcPct val="108000"/>
              </a:lnSpc>
              <a:spcBef>
                <a:spcPts val="0"/>
              </a:spcBef>
              <a:spcAft>
                <a:spcPts val="0"/>
              </a:spcAft>
            </a:pPr>
            <a:r>
              <a:rPr sz="1300" b="0">
                <a:solidFill>
                  <a:srgbClr val="536373"/>
                </a:solidFill>
                <a:latin typeface="Arial"/>
              </a:rPr>
              <a:t>Target là tập item ở nhóm timestamp kế tiếp, chỉ dùng học/đánh giá; không đưa target vào prefix.</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20624" y="91440"/>
            <a:ext cx="11292840" cy="457200"/>
          </a:xfrm>
          <a:prstGeom prst="rect">
            <a:avLst/>
          </a:prstGeom>
          <a:noFill/>
          <a:effectLst/>
        </p:spPr>
        <p:txBody>
          <a:bodyPr wrap="none" lIns="0" tIns="0" rIns="0" bIns="0" anchor="ctr">
            <a:spAutoFit/>
          </a:bodyPr>
          <a:lstStyle/>
          <a:p>
            <a:pPr algn="l">
              <a:lnSpc>
                <a:spcPct val="105000"/>
              </a:lnSpc>
              <a:spcBef>
                <a:spcPts val="0"/>
              </a:spcBef>
              <a:spcAft>
                <a:spcPts val="0"/>
              </a:spcAft>
            </a:pPr>
            <a:r>
              <a:rPr lang="vi-VN" sz="2300" b="1">
                <a:solidFill>
                  <a:srgbClr val="FFFFFF"/>
                </a:solidFill>
                <a:latin typeface="Arial"/>
              </a:rPr>
              <a:t>02 / KIẾN TRÚC ĐỀ XUẤT</a:t>
            </a:r>
          </a:p>
        </p:txBody>
      </p:sp>
      <p:sp>
        <p:nvSpPr>
          <p:cNvPr id="3" name="TextBox 3"/>
          <p:cNvSpPr txBox="1"/>
          <p:nvPr/>
        </p:nvSpPr>
        <p:spPr>
          <a:xfrm>
            <a:off x="512064" y="969264"/>
            <a:ext cx="11109960" cy="694944"/>
          </a:xfrm>
          <a:prstGeom prst="rect">
            <a:avLst/>
          </a:prstGeom>
          <a:noFill/>
          <a:effectLst/>
        </p:spPr>
        <p:txBody>
          <a:bodyPr wrap="none" lIns="0" tIns="0" rIns="0" bIns="0" anchor="t">
            <a:spAutoFit/>
          </a:bodyPr>
          <a:lstStyle/>
          <a:p>
            <a:pPr algn="l">
              <a:lnSpc>
                <a:spcPct val="105000"/>
              </a:lnSpc>
              <a:spcBef>
                <a:spcPts val="0"/>
              </a:spcBef>
              <a:spcAft>
                <a:spcPts val="0"/>
              </a:spcAft>
            </a:pPr>
            <a:r>
              <a:rPr lang="vi-VN" sz="2900" b="1">
                <a:solidFill>
                  <a:srgbClr val="003366"/>
                </a:solidFill>
                <a:latin typeface="Arial"/>
              </a:rPr>
              <a:t>Tách luồng chuẩn bị và luồng sinh gợi ý.</a:t>
            </a:r>
          </a:p>
        </p:txBody>
      </p:sp>
      <p:sp>
        <p:nvSpPr>
          <p:cNvPr id="4" name="TextBox 4"/>
          <p:cNvSpPr txBox="1"/>
          <p:nvPr/>
        </p:nvSpPr>
        <p:spPr>
          <a:xfrm>
            <a:off x="539496" y="1783080"/>
            <a:ext cx="10972800" cy="329184"/>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536373"/>
                </a:solidFill>
                <a:latin typeface="Arial"/>
              </a:rPr>
              <a:t>Khối dữ liệu đã chạy và xác minh trên toàn RetailRocket; khối mô hình và demo vẫn là đề xuất.</a:t>
            </a:r>
          </a:p>
        </p:txBody>
      </p:sp>
      <p:sp>
        <p:nvSpPr>
          <p:cNvPr id="6" name="TextBox 7"/>
          <p:cNvSpPr txBox="1"/>
          <p:nvPr/>
        </p:nvSpPr>
        <p:spPr>
          <a:xfrm>
            <a:off x="10561320" y="6510528"/>
            <a:ext cx="1097280" cy="210312"/>
          </a:xfrm>
          <a:prstGeom prst="rect">
            <a:avLst/>
          </a:prstGeom>
          <a:noFill/>
          <a:effectLst/>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07 / 41</a:t>
            </a:r>
          </a:p>
        </p:txBody>
      </p:sp>
      <p:sp>
        <p:nvSpPr>
          <p:cNvPr id="7" name="TextBox 8"/>
          <p:cNvSpPr txBox="1"/>
          <p:nvPr/>
        </p:nvSpPr>
        <p:spPr>
          <a:xfrm>
            <a:off x="594360" y="2194560"/>
            <a:ext cx="2103120" cy="256032"/>
          </a:xfrm>
          <a:prstGeom prst="rect">
            <a:avLst/>
          </a:prstGeom>
          <a:noFill/>
          <a:effectLst/>
        </p:spPr>
        <p:txBody>
          <a:bodyPr wrap="none" lIns="0" tIns="0" rIns="0" bIns="0" anchor="t">
            <a:spAutoFit/>
          </a:bodyPr>
          <a:lstStyle/>
          <a:p>
            <a:pPr algn="l">
              <a:lnSpc>
                <a:spcPts val="1428"/>
              </a:lnSpc>
              <a:spcBef>
                <a:spcPts val="0"/>
              </a:spcBef>
              <a:spcAft>
                <a:spcPts val="0"/>
              </a:spcAft>
            </a:pPr>
            <a:r>
              <a:rPr lang="vi-VN" sz="1200" b="1">
                <a:solidFill>
                  <a:srgbClr val="005A9C"/>
                </a:solidFill>
                <a:latin typeface="Arial"/>
              </a:rPr>
              <a:t>NGOẠI TUYẾN</a:t>
            </a:r>
          </a:p>
        </p:txBody>
      </p:sp>
      <p:sp>
        <p:nvSpPr>
          <p:cNvPr id="8" name="Rounded Rectangle 9"/>
          <p:cNvSpPr/>
          <p:nvPr/>
        </p:nvSpPr>
        <p:spPr>
          <a:xfrm>
            <a:off x="594360" y="2670048"/>
            <a:ext cx="1783080" cy="1078992"/>
          </a:xfrm>
          <a:prstGeom prst="roundRect">
            <a:avLst>
              <a:gd name="adj" fmla="val 8000"/>
            </a:avLst>
          </a:prstGeom>
          <a:solidFill>
            <a:srgbClr val="EAF1F7"/>
          </a:solidFill>
          <a:ln w="12700">
            <a:solidFill>
              <a:srgbClr val="005A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10"/>
          <p:cNvSpPr txBox="1"/>
          <p:nvPr/>
        </p:nvSpPr>
        <p:spPr>
          <a:xfrm>
            <a:off x="704088" y="2862072"/>
            <a:ext cx="1554480" cy="329184"/>
          </a:xfrm>
          <a:prstGeom prst="rect">
            <a:avLst/>
          </a:prstGeom>
          <a:noFill/>
          <a:effectLst/>
        </p:spPr>
        <p:txBody>
          <a:bodyPr wrap="none" lIns="0" tIns="0" rIns="0" bIns="0" anchor="t">
            <a:spAutoFit/>
          </a:bodyPr>
          <a:lstStyle/>
          <a:p>
            <a:pPr algn="ctr">
              <a:lnSpc>
                <a:spcPts val="2023"/>
              </a:lnSpc>
              <a:spcBef>
                <a:spcPts val="0"/>
              </a:spcBef>
              <a:spcAft>
                <a:spcPts val="0"/>
              </a:spcAft>
            </a:pPr>
            <a:r>
              <a:rPr lang="vi-VN" sz="1700" b="1">
                <a:solidFill>
                  <a:srgbClr val="003366"/>
                </a:solidFill>
                <a:latin typeface="Arial"/>
              </a:rPr>
              <a:t>4 CSV gốc</a:t>
            </a:r>
          </a:p>
        </p:txBody>
      </p:sp>
      <p:sp>
        <p:nvSpPr>
          <p:cNvPr id="10" name="TextBox 11"/>
          <p:cNvSpPr txBox="1"/>
          <p:nvPr/>
        </p:nvSpPr>
        <p:spPr>
          <a:xfrm>
            <a:off x="685800" y="3328416"/>
            <a:ext cx="1600200" cy="265176"/>
          </a:xfrm>
          <a:prstGeom prst="rect">
            <a:avLst/>
          </a:prstGeom>
          <a:noFill/>
          <a:effectLst/>
        </p:spPr>
        <p:txBody>
          <a:bodyPr wrap="none" lIns="0" tIns="0" rIns="0" bIns="0" anchor="t">
            <a:spAutoFit/>
          </a:bodyPr>
          <a:lstStyle/>
          <a:p>
            <a:pPr algn="ctr">
              <a:lnSpc>
                <a:spcPts val="1273"/>
              </a:lnSpc>
              <a:spcBef>
                <a:spcPts val="0"/>
              </a:spcBef>
              <a:spcAft>
                <a:spcPts val="0"/>
              </a:spcAft>
            </a:pPr>
            <a:r>
              <a:rPr lang="vi-VN" sz="1070" b="0">
                <a:solidFill>
                  <a:srgbClr val="536373"/>
                </a:solidFill>
                <a:latin typeface="Arial"/>
              </a:rPr>
              <a:t>Retailrocket</a:t>
            </a:r>
          </a:p>
        </p:txBody>
      </p:sp>
      <p:sp>
        <p:nvSpPr>
          <p:cNvPr id="11" name="Rounded Rectangle 12"/>
          <p:cNvSpPr/>
          <p:nvPr/>
        </p:nvSpPr>
        <p:spPr>
          <a:xfrm>
            <a:off x="2898648" y="2670048"/>
            <a:ext cx="1783080" cy="1078992"/>
          </a:xfrm>
          <a:prstGeom prst="roundRect">
            <a:avLst>
              <a:gd name="adj" fmla="val 8000"/>
            </a:avLst>
          </a:prstGeom>
          <a:solidFill>
            <a:srgbClr val="EAF1F7"/>
          </a:solidFill>
          <a:ln w="12700">
            <a:solidFill>
              <a:srgbClr val="005A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3"/>
          <p:cNvSpPr txBox="1"/>
          <p:nvPr/>
        </p:nvSpPr>
        <p:spPr>
          <a:xfrm>
            <a:off x="3008376" y="2862072"/>
            <a:ext cx="1554480" cy="329184"/>
          </a:xfrm>
          <a:prstGeom prst="rect">
            <a:avLst/>
          </a:prstGeom>
          <a:noFill/>
          <a:effectLst/>
        </p:spPr>
        <p:txBody>
          <a:bodyPr wrap="none" lIns="0" tIns="0" rIns="0" bIns="0" anchor="t">
            <a:spAutoFit/>
          </a:bodyPr>
          <a:lstStyle/>
          <a:p>
            <a:pPr algn="ctr">
              <a:lnSpc>
                <a:spcPts val="2023"/>
              </a:lnSpc>
              <a:spcBef>
                <a:spcPts val="0"/>
              </a:spcBef>
              <a:spcAft>
                <a:spcPts val="0"/>
              </a:spcAft>
            </a:pPr>
            <a:r>
              <a:rPr lang="vi-VN" sz="1700" b="1">
                <a:solidFill>
                  <a:srgbClr val="003366"/>
                </a:solidFill>
                <a:latin typeface="Arial"/>
              </a:rPr>
              <a:t>Pipeline</a:t>
            </a:r>
          </a:p>
        </p:txBody>
      </p:sp>
      <p:sp>
        <p:nvSpPr>
          <p:cNvPr id="13" name="TextBox 14"/>
          <p:cNvSpPr txBox="1"/>
          <p:nvPr/>
        </p:nvSpPr>
        <p:spPr>
          <a:xfrm>
            <a:off x="2990088" y="3328416"/>
            <a:ext cx="1600200" cy="265176"/>
          </a:xfrm>
          <a:prstGeom prst="rect">
            <a:avLst/>
          </a:prstGeom>
          <a:noFill/>
          <a:effectLst/>
        </p:spPr>
        <p:txBody>
          <a:bodyPr wrap="none" lIns="0" tIns="0" rIns="0" bIns="0" anchor="t">
            <a:spAutoFit/>
          </a:bodyPr>
          <a:lstStyle/>
          <a:p>
            <a:pPr algn="ctr">
              <a:lnSpc>
                <a:spcPts val="1273"/>
              </a:lnSpc>
              <a:spcBef>
                <a:spcPts val="0"/>
              </a:spcBef>
              <a:spcAft>
                <a:spcPts val="0"/>
              </a:spcAft>
            </a:pPr>
            <a:r>
              <a:rPr lang="vi-VN" sz="1070" b="0">
                <a:solidFill>
                  <a:srgbClr val="536373"/>
                </a:solidFill>
                <a:latin typeface="Arial"/>
              </a:rPr>
              <a:t>Làm sạch, chia tập</a:t>
            </a:r>
          </a:p>
        </p:txBody>
      </p:sp>
      <p:sp>
        <p:nvSpPr>
          <p:cNvPr id="14" name="Rounded Rectangle 15"/>
          <p:cNvSpPr/>
          <p:nvPr/>
        </p:nvSpPr>
        <p:spPr>
          <a:xfrm>
            <a:off x="5202936" y="2670048"/>
            <a:ext cx="1783080" cy="1078992"/>
          </a:xfrm>
          <a:prstGeom prst="roundRect">
            <a:avLst>
              <a:gd name="adj" fmla="val 8000"/>
            </a:avLst>
          </a:prstGeom>
          <a:solidFill>
            <a:srgbClr val="EAF1F7"/>
          </a:solidFill>
          <a:ln w="12700">
            <a:solidFill>
              <a:srgbClr val="005A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6"/>
          <p:cNvSpPr txBox="1"/>
          <p:nvPr/>
        </p:nvSpPr>
        <p:spPr>
          <a:xfrm>
            <a:off x="5312664" y="2862072"/>
            <a:ext cx="1554480" cy="329184"/>
          </a:xfrm>
          <a:prstGeom prst="rect">
            <a:avLst/>
          </a:prstGeom>
          <a:noFill/>
          <a:effectLst/>
        </p:spPr>
        <p:txBody>
          <a:bodyPr wrap="none" lIns="0" tIns="0" rIns="0" bIns="0" anchor="t">
            <a:spAutoFit/>
          </a:bodyPr>
          <a:lstStyle/>
          <a:p>
            <a:pPr algn="ctr">
              <a:lnSpc>
                <a:spcPts val="2023"/>
              </a:lnSpc>
              <a:spcBef>
                <a:spcPts val="0"/>
              </a:spcBef>
              <a:spcAft>
                <a:spcPts val="0"/>
              </a:spcAft>
            </a:pPr>
            <a:r>
              <a:rPr lang="vi-VN" sz="1700" b="1">
                <a:solidFill>
                  <a:srgbClr val="003366"/>
                </a:solidFill>
                <a:latin typeface="Arial"/>
              </a:rPr>
              <a:t>20 Parquet</a:t>
            </a:r>
          </a:p>
        </p:txBody>
      </p:sp>
      <p:sp>
        <p:nvSpPr>
          <p:cNvPr id="16" name="TextBox 17"/>
          <p:cNvSpPr txBox="1"/>
          <p:nvPr/>
        </p:nvSpPr>
        <p:spPr>
          <a:xfrm>
            <a:off x="5294376" y="3328416"/>
            <a:ext cx="1600200" cy="265176"/>
          </a:xfrm>
          <a:prstGeom prst="rect">
            <a:avLst/>
          </a:prstGeom>
          <a:noFill/>
          <a:effectLst/>
        </p:spPr>
        <p:txBody>
          <a:bodyPr wrap="none" lIns="0" tIns="0" rIns="0" bIns="0" anchor="t">
            <a:spAutoFit/>
          </a:bodyPr>
          <a:lstStyle/>
          <a:p>
            <a:pPr algn="ctr">
              <a:lnSpc>
                <a:spcPts val="1273"/>
              </a:lnSpc>
              <a:spcBef>
                <a:spcPts val="0"/>
              </a:spcBef>
              <a:spcAft>
                <a:spcPts val="0"/>
              </a:spcAft>
            </a:pPr>
            <a:r>
              <a:rPr lang="vi-VN" sz="1070" b="0">
                <a:solidFill>
                  <a:srgbClr val="536373"/>
                </a:solidFill>
                <a:latin typeface="Arial"/>
              </a:rPr>
              <a:t>Prefix, target, catalog</a:t>
            </a:r>
          </a:p>
        </p:txBody>
      </p:sp>
      <p:sp>
        <p:nvSpPr>
          <p:cNvPr id="17" name="Rounded Rectangle 18"/>
          <p:cNvSpPr/>
          <p:nvPr/>
        </p:nvSpPr>
        <p:spPr>
          <a:xfrm>
            <a:off x="7507224" y="2670048"/>
            <a:ext cx="1783080" cy="1078992"/>
          </a:xfrm>
          <a:prstGeom prst="roundRect">
            <a:avLst>
              <a:gd name="adj" fmla="val 8000"/>
            </a:avLst>
          </a:prstGeom>
          <a:solidFill>
            <a:srgbClr val="FFFFFF"/>
          </a:solidFill>
          <a:ln w="12700">
            <a:solidFill>
              <a:srgbClr val="B77B1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9"/>
          <p:cNvSpPr txBox="1"/>
          <p:nvPr/>
        </p:nvSpPr>
        <p:spPr>
          <a:xfrm>
            <a:off x="7616952" y="2862072"/>
            <a:ext cx="1554480" cy="329184"/>
          </a:xfrm>
          <a:prstGeom prst="rect">
            <a:avLst/>
          </a:prstGeom>
          <a:noFill/>
          <a:effectLst/>
        </p:spPr>
        <p:txBody>
          <a:bodyPr wrap="none" lIns="0" tIns="0" rIns="0" bIns="0" anchor="t">
            <a:spAutoFit/>
          </a:bodyPr>
          <a:lstStyle/>
          <a:p>
            <a:pPr algn="ctr">
              <a:lnSpc>
                <a:spcPts val="2023"/>
              </a:lnSpc>
              <a:spcBef>
                <a:spcPts val="0"/>
              </a:spcBef>
              <a:spcAft>
                <a:spcPts val="0"/>
              </a:spcAft>
            </a:pPr>
            <a:r>
              <a:rPr lang="vi-VN" sz="1700" b="1">
                <a:solidFill>
                  <a:srgbClr val="003366"/>
                </a:solidFill>
                <a:latin typeface="Arial"/>
              </a:rPr>
              <a:t>Huấn luyện</a:t>
            </a:r>
          </a:p>
        </p:txBody>
      </p:sp>
      <p:sp>
        <p:nvSpPr>
          <p:cNvPr id="19" name="TextBox 20"/>
          <p:cNvSpPr txBox="1"/>
          <p:nvPr/>
        </p:nvSpPr>
        <p:spPr>
          <a:xfrm>
            <a:off x="7598664" y="3328416"/>
            <a:ext cx="1600200" cy="265176"/>
          </a:xfrm>
          <a:prstGeom prst="rect">
            <a:avLst/>
          </a:prstGeom>
          <a:noFill/>
          <a:effectLst/>
        </p:spPr>
        <p:txBody>
          <a:bodyPr wrap="square" lIns="0" tIns="0" rIns="0" bIns="0" anchor="t">
            <a:noAutofit/>
          </a:bodyPr>
          <a:lstStyle/>
          <a:p>
            <a:pPr algn="l">
              <a:lnSpc>
                <a:spcPct val="108000"/>
              </a:lnSpc>
              <a:spcBef>
                <a:spcPts val="0"/>
              </a:spcBef>
              <a:spcAft>
                <a:spcPts val="0"/>
              </a:spcAft>
            </a:pPr>
            <a:r>
              <a:rPr sz="1100" b="0">
                <a:solidFill>
                  <a:srgbClr val="536373"/>
                </a:solidFill>
                <a:latin typeface="Arial"/>
              </a:rPr>
              <a:t>Học từ mẫu phiên</a:t>
            </a:r>
          </a:p>
        </p:txBody>
      </p:sp>
      <p:sp>
        <p:nvSpPr>
          <p:cNvPr id="20" name="Rounded Rectangle 21"/>
          <p:cNvSpPr/>
          <p:nvPr/>
        </p:nvSpPr>
        <p:spPr>
          <a:xfrm>
            <a:off x="9811512" y="2670048"/>
            <a:ext cx="1783080" cy="1078992"/>
          </a:xfrm>
          <a:prstGeom prst="roundRect">
            <a:avLst>
              <a:gd name="adj" fmla="val 8000"/>
            </a:avLst>
          </a:prstGeom>
          <a:solidFill>
            <a:srgbClr val="FFFFFF"/>
          </a:solidFill>
          <a:ln w="12700">
            <a:solidFill>
              <a:srgbClr val="B77B1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2"/>
          <p:cNvSpPr txBox="1"/>
          <p:nvPr/>
        </p:nvSpPr>
        <p:spPr>
          <a:xfrm>
            <a:off x="9921240" y="2862072"/>
            <a:ext cx="1554480" cy="329184"/>
          </a:xfrm>
          <a:prstGeom prst="rect">
            <a:avLst/>
          </a:prstGeom>
          <a:noFill/>
          <a:effectLst/>
        </p:spPr>
        <p:txBody>
          <a:bodyPr wrap="none" lIns="0" tIns="0" rIns="0" bIns="0" anchor="t">
            <a:spAutoFit/>
          </a:bodyPr>
          <a:lstStyle/>
          <a:p>
            <a:pPr algn="ctr">
              <a:lnSpc>
                <a:spcPts val="2023"/>
              </a:lnSpc>
              <a:spcBef>
                <a:spcPts val="0"/>
              </a:spcBef>
              <a:spcAft>
                <a:spcPts val="0"/>
              </a:spcAft>
            </a:pPr>
            <a:r>
              <a:rPr lang="vi-VN" sz="1700" b="1">
                <a:solidFill>
                  <a:srgbClr val="003366"/>
                </a:solidFill>
                <a:latin typeface="Arial"/>
              </a:rPr>
              <a:t>Mô hình lưu</a:t>
            </a:r>
          </a:p>
        </p:txBody>
      </p:sp>
      <p:sp>
        <p:nvSpPr>
          <p:cNvPr id="22" name="TextBox 23"/>
          <p:cNvSpPr txBox="1"/>
          <p:nvPr/>
        </p:nvSpPr>
        <p:spPr>
          <a:xfrm>
            <a:off x="9902952" y="3328416"/>
            <a:ext cx="1600200" cy="265176"/>
          </a:xfrm>
          <a:prstGeom prst="rect">
            <a:avLst/>
          </a:prstGeom>
          <a:noFill/>
          <a:effectLst/>
        </p:spPr>
        <p:txBody>
          <a:bodyPr wrap="none" lIns="0" tIns="0" rIns="0" bIns="0" anchor="t">
            <a:spAutoFit/>
          </a:bodyPr>
          <a:lstStyle/>
          <a:p>
            <a:pPr algn="ctr">
              <a:lnSpc>
                <a:spcPts val="1273"/>
              </a:lnSpc>
              <a:spcBef>
                <a:spcPts val="0"/>
              </a:spcBef>
              <a:spcAft>
                <a:spcPts val="0"/>
              </a:spcAft>
            </a:pPr>
            <a:r>
              <a:rPr lang="vi-VN" sz="1070" b="0">
                <a:solidFill>
                  <a:srgbClr val="536373"/>
                </a:solidFill>
                <a:latin typeface="Arial"/>
              </a:rPr>
              <a:t>Cấu hình + phiên bản</a:t>
            </a:r>
          </a:p>
        </p:txBody>
      </p:sp>
      <p:cxnSp>
        <p:nvCxnSpPr>
          <p:cNvPr id="23" name="Connector 24"/>
          <p:cNvCxnSpPr/>
          <p:nvPr/>
        </p:nvCxnSpPr>
        <p:spPr>
          <a:xfrm>
            <a:off x="2450591" y="3209544"/>
            <a:ext cx="265177" cy="0"/>
          </a:xfrm>
          <a:prstGeom prst="line">
            <a:avLst/>
          </a:prstGeom>
          <a:ln w="20320">
            <a:solidFill>
              <a:srgbClr val="005A9C"/>
            </a:solidFill>
          </a:ln>
          <a:effectLst/>
        </p:spPr>
        <p:style>
          <a:lnRef idx="2">
            <a:schemeClr val="accent1"/>
          </a:lnRef>
          <a:fillRef idx="0">
            <a:schemeClr val="accent1"/>
          </a:fillRef>
          <a:effectRef idx="1">
            <a:schemeClr val="accent1"/>
          </a:effectRef>
          <a:fontRef idx="minor">
            <a:schemeClr val="tx1"/>
          </a:fontRef>
        </p:style>
      </p:cxnSp>
      <p:sp>
        <p:nvSpPr>
          <p:cNvPr id="24" name="Isosceles Triangle 25"/>
          <p:cNvSpPr/>
          <p:nvPr/>
        </p:nvSpPr>
        <p:spPr>
          <a:xfrm rot="5400000">
            <a:off x="2688336" y="3150108"/>
            <a:ext cx="118872" cy="118872"/>
          </a:xfrm>
          <a:prstGeom prst="triangle">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6"/>
          <p:cNvCxnSpPr/>
          <p:nvPr/>
        </p:nvCxnSpPr>
        <p:spPr>
          <a:xfrm>
            <a:off x="4754879" y="3209544"/>
            <a:ext cx="265177" cy="0"/>
          </a:xfrm>
          <a:prstGeom prst="line">
            <a:avLst/>
          </a:prstGeom>
          <a:ln w="20320">
            <a:solidFill>
              <a:srgbClr val="005A9C"/>
            </a:solidFill>
          </a:ln>
          <a:effectLst/>
        </p:spPr>
        <p:style>
          <a:lnRef idx="2">
            <a:schemeClr val="accent1"/>
          </a:lnRef>
          <a:fillRef idx="0">
            <a:schemeClr val="accent1"/>
          </a:fillRef>
          <a:effectRef idx="1">
            <a:schemeClr val="accent1"/>
          </a:effectRef>
          <a:fontRef idx="minor">
            <a:schemeClr val="tx1"/>
          </a:fontRef>
        </p:style>
      </p:cxnSp>
      <p:sp>
        <p:nvSpPr>
          <p:cNvPr id="26" name="Isosceles Triangle 27"/>
          <p:cNvSpPr/>
          <p:nvPr/>
        </p:nvSpPr>
        <p:spPr>
          <a:xfrm rot="5400000">
            <a:off x="4992624" y="3150108"/>
            <a:ext cx="118872" cy="118872"/>
          </a:xfrm>
          <a:prstGeom prst="triangle">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7" name="Connector 28"/>
          <p:cNvCxnSpPr/>
          <p:nvPr/>
        </p:nvCxnSpPr>
        <p:spPr>
          <a:xfrm>
            <a:off x="7059168" y="3209544"/>
            <a:ext cx="265176" cy="0"/>
          </a:xfrm>
          <a:prstGeom prst="line">
            <a:avLst/>
          </a:prstGeom>
          <a:ln w="20320">
            <a:solidFill>
              <a:srgbClr val="005A9C"/>
            </a:solidFill>
          </a:ln>
          <a:effectLst/>
        </p:spPr>
        <p:style>
          <a:lnRef idx="2">
            <a:schemeClr val="accent1"/>
          </a:lnRef>
          <a:fillRef idx="0">
            <a:schemeClr val="accent1"/>
          </a:fillRef>
          <a:effectRef idx="1">
            <a:schemeClr val="accent1"/>
          </a:effectRef>
          <a:fontRef idx="minor">
            <a:schemeClr val="tx1"/>
          </a:fontRef>
        </p:style>
      </p:cxnSp>
      <p:sp>
        <p:nvSpPr>
          <p:cNvPr id="28" name="Isosceles Triangle 29"/>
          <p:cNvSpPr/>
          <p:nvPr/>
        </p:nvSpPr>
        <p:spPr>
          <a:xfrm rot="5400000">
            <a:off x="7296912" y="3150108"/>
            <a:ext cx="118872" cy="118872"/>
          </a:xfrm>
          <a:prstGeom prst="triangle">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Connector 30"/>
          <p:cNvCxnSpPr/>
          <p:nvPr/>
        </p:nvCxnSpPr>
        <p:spPr>
          <a:xfrm>
            <a:off x="9363456" y="3209544"/>
            <a:ext cx="265176" cy="0"/>
          </a:xfrm>
          <a:prstGeom prst="line">
            <a:avLst/>
          </a:prstGeom>
          <a:ln w="20320">
            <a:solidFill>
              <a:srgbClr val="005A9C"/>
            </a:solidFill>
          </a:ln>
          <a:effectLst/>
        </p:spPr>
        <p:style>
          <a:lnRef idx="2">
            <a:schemeClr val="accent1"/>
          </a:lnRef>
          <a:fillRef idx="0">
            <a:schemeClr val="accent1"/>
          </a:fillRef>
          <a:effectRef idx="1">
            <a:schemeClr val="accent1"/>
          </a:effectRef>
          <a:fontRef idx="minor">
            <a:schemeClr val="tx1"/>
          </a:fontRef>
        </p:style>
      </p:cxnSp>
      <p:sp>
        <p:nvSpPr>
          <p:cNvPr id="30" name="Isosceles Triangle 31"/>
          <p:cNvSpPr/>
          <p:nvPr/>
        </p:nvSpPr>
        <p:spPr>
          <a:xfrm rot="5400000">
            <a:off x="9601200" y="3150108"/>
            <a:ext cx="118872" cy="118872"/>
          </a:xfrm>
          <a:prstGeom prst="triangle">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2"/>
          <p:cNvSpPr txBox="1"/>
          <p:nvPr/>
        </p:nvSpPr>
        <p:spPr>
          <a:xfrm>
            <a:off x="594360" y="4279392"/>
            <a:ext cx="2468880" cy="256032"/>
          </a:xfrm>
          <a:prstGeom prst="rect">
            <a:avLst/>
          </a:prstGeom>
          <a:noFill/>
          <a:effectLst/>
        </p:spPr>
        <p:txBody>
          <a:bodyPr wrap="none" lIns="0" tIns="0" rIns="0" bIns="0" anchor="t">
            <a:spAutoFit/>
          </a:bodyPr>
          <a:lstStyle/>
          <a:p>
            <a:pPr algn="l">
              <a:lnSpc>
                <a:spcPts val="1428"/>
              </a:lnSpc>
              <a:spcBef>
                <a:spcPts val="0"/>
              </a:spcBef>
              <a:spcAft>
                <a:spcPts val="0"/>
              </a:spcAft>
            </a:pPr>
            <a:r>
              <a:rPr lang="vi-VN" sz="1200" b="1">
                <a:solidFill>
                  <a:srgbClr val="005A9C"/>
                </a:solidFill>
                <a:latin typeface="Arial"/>
              </a:rPr>
              <a:t>KHI GỢI Ý</a:t>
            </a:r>
          </a:p>
        </p:txBody>
      </p:sp>
      <p:sp>
        <p:nvSpPr>
          <p:cNvPr id="32" name="Rounded Rectangle 33"/>
          <p:cNvSpPr/>
          <p:nvPr/>
        </p:nvSpPr>
        <p:spPr>
          <a:xfrm>
            <a:off x="594360" y="4700016"/>
            <a:ext cx="1783080" cy="960120"/>
          </a:xfrm>
          <a:prstGeom prst="roundRect">
            <a:avLst>
              <a:gd name="adj" fmla="val 8000"/>
            </a:avLst>
          </a:prstGeom>
          <a:solidFill>
            <a:srgbClr val="FFFFFF"/>
          </a:solidFill>
          <a:ln w="12700">
            <a:solidFill>
              <a:srgbClr val="B77B1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4"/>
          <p:cNvSpPr txBox="1"/>
          <p:nvPr/>
        </p:nvSpPr>
        <p:spPr>
          <a:xfrm>
            <a:off x="694944" y="4882896"/>
            <a:ext cx="1581912" cy="320040"/>
          </a:xfrm>
          <a:prstGeom prst="rect">
            <a:avLst/>
          </a:prstGeom>
          <a:noFill/>
          <a:effectLst/>
        </p:spPr>
        <p:txBody>
          <a:bodyPr wrap="square" lIns="0" tIns="0" rIns="0" bIns="0" anchor="t">
            <a:noAutofit/>
          </a:bodyPr>
          <a:lstStyle/>
          <a:p>
            <a:pPr algn="l">
              <a:lnSpc>
                <a:spcPct val="108000"/>
              </a:lnSpc>
              <a:spcBef>
                <a:spcPts val="0"/>
              </a:spcBef>
              <a:spcAft>
                <a:spcPts val="0"/>
              </a:spcAft>
            </a:pPr>
            <a:r>
              <a:rPr sz="1800" b="1">
                <a:solidFill>
                  <a:srgbClr val="003366"/>
                </a:solidFill>
                <a:latin typeface="Arial"/>
              </a:rPr>
              <a:t>Phiên + t</a:t>
            </a:r>
          </a:p>
        </p:txBody>
      </p:sp>
      <p:sp>
        <p:nvSpPr>
          <p:cNvPr id="34" name="TextBox 35"/>
          <p:cNvSpPr txBox="1"/>
          <p:nvPr/>
        </p:nvSpPr>
        <p:spPr>
          <a:xfrm>
            <a:off x="685800" y="5321808"/>
            <a:ext cx="1600200" cy="237744"/>
          </a:xfrm>
          <a:prstGeom prst="rect">
            <a:avLst/>
          </a:prstGeom>
          <a:noFill/>
          <a:effectLst/>
        </p:spPr>
        <p:txBody>
          <a:bodyPr wrap="square" lIns="0" tIns="0" rIns="0" bIns="0" anchor="t">
            <a:noAutofit/>
          </a:bodyPr>
          <a:lstStyle/>
          <a:p>
            <a:pPr algn="l">
              <a:lnSpc>
                <a:spcPct val="108000"/>
              </a:lnSpc>
              <a:spcBef>
                <a:spcPts val="0"/>
              </a:spcBef>
              <a:spcAft>
                <a:spcPts val="0"/>
              </a:spcAft>
            </a:pPr>
            <a:r>
              <a:rPr sz="1100" b="0">
                <a:solidFill>
                  <a:srgbClr val="536373"/>
                </a:solidFill>
                <a:latin typeface="Arial"/>
              </a:rPr>
              <a:t>Prefix đã quan sát</a:t>
            </a:r>
          </a:p>
        </p:txBody>
      </p:sp>
      <p:sp>
        <p:nvSpPr>
          <p:cNvPr id="35" name="Rounded Rectangle 36"/>
          <p:cNvSpPr/>
          <p:nvPr/>
        </p:nvSpPr>
        <p:spPr>
          <a:xfrm>
            <a:off x="2898648" y="4700016"/>
            <a:ext cx="1783080" cy="960120"/>
          </a:xfrm>
          <a:prstGeom prst="roundRect">
            <a:avLst>
              <a:gd name="adj" fmla="val 8000"/>
            </a:avLst>
          </a:prstGeom>
          <a:solidFill>
            <a:srgbClr val="FFFFFF"/>
          </a:solidFill>
          <a:ln w="12700">
            <a:solidFill>
              <a:srgbClr val="B77B1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7"/>
          <p:cNvSpPr txBox="1"/>
          <p:nvPr/>
        </p:nvSpPr>
        <p:spPr>
          <a:xfrm>
            <a:off x="2999232" y="4882896"/>
            <a:ext cx="1581912" cy="320040"/>
          </a:xfrm>
          <a:prstGeom prst="rect">
            <a:avLst/>
          </a:prstGeom>
          <a:noFill/>
          <a:effectLst/>
        </p:spPr>
        <p:txBody>
          <a:bodyPr wrap="none" lIns="0" tIns="0" rIns="0" bIns="0" anchor="t">
            <a:spAutoFit/>
          </a:bodyPr>
          <a:lstStyle/>
          <a:p>
            <a:pPr algn="ctr">
              <a:lnSpc>
                <a:spcPts val="1904"/>
              </a:lnSpc>
              <a:spcBef>
                <a:spcPts val="0"/>
              </a:spcBef>
              <a:spcAft>
                <a:spcPts val="0"/>
              </a:spcAft>
            </a:pPr>
            <a:r>
              <a:rPr lang="vi-VN" sz="1600" b="1">
                <a:solidFill>
                  <a:srgbClr val="003366"/>
                </a:solidFill>
                <a:latin typeface="Arial"/>
              </a:rPr>
              <a:t>Tra dữ liệu</a:t>
            </a:r>
          </a:p>
        </p:txBody>
      </p:sp>
      <p:sp>
        <p:nvSpPr>
          <p:cNvPr id="37" name="TextBox 38"/>
          <p:cNvSpPr txBox="1"/>
          <p:nvPr/>
        </p:nvSpPr>
        <p:spPr>
          <a:xfrm>
            <a:off x="2990088" y="5321808"/>
            <a:ext cx="1600200" cy="237744"/>
          </a:xfrm>
          <a:prstGeom prst="rect">
            <a:avLst/>
          </a:prstGeom>
          <a:noFill/>
          <a:effectLst/>
        </p:spPr>
        <p:txBody>
          <a:bodyPr wrap="none" lIns="0" tIns="0" rIns="0" bIns="0" anchor="t">
            <a:spAutoFit/>
          </a:bodyPr>
          <a:lstStyle/>
          <a:p>
            <a:pPr algn="ctr">
              <a:lnSpc>
                <a:spcPts val="1237"/>
              </a:lnSpc>
              <a:spcBef>
                <a:spcPts val="0"/>
              </a:spcBef>
              <a:spcAft>
                <a:spcPts val="0"/>
              </a:spcAft>
            </a:pPr>
            <a:r>
              <a:rPr lang="vi-VN" sz="1040" b="0">
                <a:solidFill>
                  <a:srgbClr val="536373"/>
                </a:solidFill>
                <a:latin typeface="Arial"/>
              </a:rPr>
              <a:t>Metadata tại t</a:t>
            </a:r>
          </a:p>
        </p:txBody>
      </p:sp>
      <p:sp>
        <p:nvSpPr>
          <p:cNvPr id="38" name="Rounded Rectangle 39"/>
          <p:cNvSpPr/>
          <p:nvPr/>
        </p:nvSpPr>
        <p:spPr>
          <a:xfrm>
            <a:off x="5202936" y="4700016"/>
            <a:ext cx="1783080" cy="960120"/>
          </a:xfrm>
          <a:prstGeom prst="roundRect">
            <a:avLst>
              <a:gd name="adj" fmla="val 8000"/>
            </a:avLst>
          </a:prstGeom>
          <a:solidFill>
            <a:srgbClr val="FFFFFF"/>
          </a:solidFill>
          <a:ln w="12700">
            <a:solidFill>
              <a:srgbClr val="B77B1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40"/>
          <p:cNvSpPr txBox="1"/>
          <p:nvPr/>
        </p:nvSpPr>
        <p:spPr>
          <a:xfrm>
            <a:off x="5303520" y="4882896"/>
            <a:ext cx="1581912" cy="320040"/>
          </a:xfrm>
          <a:prstGeom prst="rect">
            <a:avLst/>
          </a:prstGeom>
          <a:noFill/>
          <a:effectLst/>
        </p:spPr>
        <p:txBody>
          <a:bodyPr wrap="none" lIns="0" tIns="0" rIns="0" bIns="0" anchor="t">
            <a:spAutoFit/>
          </a:bodyPr>
          <a:lstStyle/>
          <a:p>
            <a:pPr algn="ctr">
              <a:lnSpc>
                <a:spcPts val="1904"/>
              </a:lnSpc>
              <a:spcBef>
                <a:spcPts val="0"/>
              </a:spcBef>
              <a:spcAft>
                <a:spcPts val="0"/>
              </a:spcAft>
            </a:pPr>
            <a:r>
              <a:rPr lang="vi-VN" sz="1600" b="1">
                <a:solidFill>
                  <a:srgbClr val="003366"/>
                </a:solidFill>
                <a:latin typeface="Arial"/>
              </a:rPr>
              <a:t>Ứng viên</a:t>
            </a:r>
          </a:p>
        </p:txBody>
      </p:sp>
      <p:sp>
        <p:nvSpPr>
          <p:cNvPr id="40" name="TextBox 41"/>
          <p:cNvSpPr txBox="1"/>
          <p:nvPr/>
        </p:nvSpPr>
        <p:spPr>
          <a:xfrm>
            <a:off x="5294376" y="5321808"/>
            <a:ext cx="1600200" cy="237744"/>
          </a:xfrm>
          <a:prstGeom prst="rect">
            <a:avLst/>
          </a:prstGeom>
          <a:noFill/>
          <a:effectLst/>
        </p:spPr>
        <p:txBody>
          <a:bodyPr wrap="none" lIns="0" tIns="0" rIns="0" bIns="0" anchor="t">
            <a:spAutoFit/>
          </a:bodyPr>
          <a:lstStyle/>
          <a:p>
            <a:pPr algn="ctr">
              <a:lnSpc>
                <a:spcPts val="1237"/>
              </a:lnSpc>
              <a:spcBef>
                <a:spcPts val="0"/>
              </a:spcBef>
              <a:spcAft>
                <a:spcPts val="0"/>
              </a:spcAft>
            </a:pPr>
            <a:r>
              <a:rPr lang="vi-VN" sz="1040" b="0">
                <a:solidFill>
                  <a:srgbClr val="536373"/>
                </a:solidFill>
                <a:latin typeface="Arial"/>
              </a:rPr>
              <a:t>known_at, available</a:t>
            </a:r>
          </a:p>
        </p:txBody>
      </p:sp>
      <p:sp>
        <p:nvSpPr>
          <p:cNvPr id="41" name="Rounded Rectangle 42"/>
          <p:cNvSpPr/>
          <p:nvPr/>
        </p:nvSpPr>
        <p:spPr>
          <a:xfrm>
            <a:off x="7507224" y="4700016"/>
            <a:ext cx="1783080" cy="960120"/>
          </a:xfrm>
          <a:prstGeom prst="roundRect">
            <a:avLst>
              <a:gd name="adj" fmla="val 8000"/>
            </a:avLst>
          </a:prstGeom>
          <a:solidFill>
            <a:srgbClr val="FFFFFF"/>
          </a:solidFill>
          <a:ln w="12700">
            <a:solidFill>
              <a:srgbClr val="B77B1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3"/>
          <p:cNvSpPr txBox="1"/>
          <p:nvPr/>
        </p:nvSpPr>
        <p:spPr>
          <a:xfrm>
            <a:off x="7607808" y="4882896"/>
            <a:ext cx="1581912" cy="320040"/>
          </a:xfrm>
          <a:prstGeom prst="rect">
            <a:avLst/>
          </a:prstGeom>
          <a:noFill/>
          <a:effectLst/>
        </p:spPr>
        <p:txBody>
          <a:bodyPr wrap="none" lIns="0" tIns="0" rIns="0" bIns="0" anchor="t">
            <a:spAutoFit/>
          </a:bodyPr>
          <a:lstStyle/>
          <a:p>
            <a:pPr algn="ctr">
              <a:lnSpc>
                <a:spcPts val="1904"/>
              </a:lnSpc>
              <a:spcBef>
                <a:spcPts val="0"/>
              </a:spcBef>
              <a:spcAft>
                <a:spcPts val="0"/>
              </a:spcAft>
            </a:pPr>
            <a:r>
              <a:rPr lang="vi-VN" sz="1600" b="1">
                <a:solidFill>
                  <a:srgbClr val="003366"/>
                </a:solidFill>
                <a:latin typeface="Arial"/>
              </a:rPr>
              <a:t>Chấm điểm</a:t>
            </a:r>
          </a:p>
        </p:txBody>
      </p:sp>
      <p:sp>
        <p:nvSpPr>
          <p:cNvPr id="43" name="TextBox 44"/>
          <p:cNvSpPr txBox="1"/>
          <p:nvPr/>
        </p:nvSpPr>
        <p:spPr>
          <a:xfrm>
            <a:off x="7598664" y="5321808"/>
            <a:ext cx="1600200" cy="237744"/>
          </a:xfrm>
          <a:prstGeom prst="rect">
            <a:avLst/>
          </a:prstGeom>
          <a:noFill/>
          <a:effectLst/>
        </p:spPr>
        <p:txBody>
          <a:bodyPr wrap="none" lIns="0" tIns="0" rIns="0" bIns="0" anchor="t">
            <a:spAutoFit/>
          </a:bodyPr>
          <a:lstStyle/>
          <a:p>
            <a:pPr algn="ctr">
              <a:lnSpc>
                <a:spcPts val="1237"/>
              </a:lnSpc>
              <a:spcBef>
                <a:spcPts val="0"/>
              </a:spcBef>
              <a:spcAft>
                <a:spcPts val="0"/>
              </a:spcAft>
            </a:pPr>
            <a:r>
              <a:rPr lang="vi-VN" sz="1040" b="0">
                <a:solidFill>
                  <a:srgbClr val="536373"/>
                </a:solidFill>
                <a:latin typeface="Arial"/>
              </a:rPr>
              <a:t>Xếp hạng + dự phòng</a:t>
            </a:r>
          </a:p>
        </p:txBody>
      </p:sp>
      <p:sp>
        <p:nvSpPr>
          <p:cNvPr id="44" name="Rounded Rectangle 45"/>
          <p:cNvSpPr/>
          <p:nvPr/>
        </p:nvSpPr>
        <p:spPr>
          <a:xfrm>
            <a:off x="9811512" y="4700016"/>
            <a:ext cx="1783080" cy="960120"/>
          </a:xfrm>
          <a:prstGeom prst="roundRect">
            <a:avLst>
              <a:gd name="adj" fmla="val 8000"/>
            </a:avLst>
          </a:prstGeom>
          <a:solidFill>
            <a:srgbClr val="FFFFFF"/>
          </a:solidFill>
          <a:ln w="12700">
            <a:solidFill>
              <a:srgbClr val="B77B1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6"/>
          <p:cNvSpPr txBox="1"/>
          <p:nvPr/>
        </p:nvSpPr>
        <p:spPr>
          <a:xfrm>
            <a:off x="9912096" y="4882896"/>
            <a:ext cx="1581912" cy="320040"/>
          </a:xfrm>
          <a:prstGeom prst="rect">
            <a:avLst/>
          </a:prstGeom>
          <a:noFill/>
          <a:effectLst/>
        </p:spPr>
        <p:txBody>
          <a:bodyPr wrap="none" lIns="0" tIns="0" rIns="0" bIns="0" anchor="t">
            <a:spAutoFit/>
          </a:bodyPr>
          <a:lstStyle/>
          <a:p>
            <a:pPr algn="ctr">
              <a:lnSpc>
                <a:spcPts val="1904"/>
              </a:lnSpc>
              <a:spcBef>
                <a:spcPts val="0"/>
              </a:spcBef>
              <a:spcAft>
                <a:spcPts val="0"/>
              </a:spcAft>
            </a:pPr>
            <a:r>
              <a:rPr lang="vi-VN" sz="1600" b="1">
                <a:solidFill>
                  <a:srgbClr val="003366"/>
                </a:solidFill>
                <a:latin typeface="Arial"/>
              </a:rPr>
              <a:t>Top-K</a:t>
            </a:r>
          </a:p>
        </p:txBody>
      </p:sp>
      <p:sp>
        <p:nvSpPr>
          <p:cNvPr id="46" name="TextBox 47"/>
          <p:cNvSpPr txBox="1"/>
          <p:nvPr/>
        </p:nvSpPr>
        <p:spPr>
          <a:xfrm>
            <a:off x="9902952" y="5321808"/>
            <a:ext cx="1600200" cy="237744"/>
          </a:xfrm>
          <a:prstGeom prst="rect">
            <a:avLst/>
          </a:prstGeom>
          <a:noFill/>
          <a:effectLst/>
        </p:spPr>
        <p:txBody>
          <a:bodyPr wrap="none" lIns="0" tIns="0" rIns="0" bIns="0" anchor="t">
            <a:spAutoFit/>
          </a:bodyPr>
          <a:lstStyle/>
          <a:p>
            <a:pPr algn="ctr">
              <a:lnSpc>
                <a:spcPts val="1237"/>
              </a:lnSpc>
              <a:spcBef>
                <a:spcPts val="0"/>
              </a:spcBef>
              <a:spcAft>
                <a:spcPts val="0"/>
              </a:spcAft>
            </a:pPr>
            <a:r>
              <a:rPr lang="vi-VN" sz="1040" b="0">
                <a:solidFill>
                  <a:srgbClr val="536373"/>
                </a:solidFill>
                <a:latin typeface="Arial"/>
              </a:rPr>
              <a:t>Demo dự kiến</a:t>
            </a:r>
          </a:p>
        </p:txBody>
      </p:sp>
      <p:cxnSp>
        <p:nvCxnSpPr>
          <p:cNvPr id="47" name="Connector 48"/>
          <p:cNvCxnSpPr/>
          <p:nvPr/>
        </p:nvCxnSpPr>
        <p:spPr>
          <a:xfrm>
            <a:off x="2450591" y="5175504"/>
            <a:ext cx="265177" cy="0"/>
          </a:xfrm>
          <a:prstGeom prst="line">
            <a:avLst/>
          </a:prstGeom>
          <a:ln w="20320">
            <a:solidFill>
              <a:srgbClr val="B77B19"/>
            </a:solidFill>
          </a:ln>
          <a:effectLst/>
        </p:spPr>
        <p:style>
          <a:lnRef idx="2">
            <a:schemeClr val="accent1"/>
          </a:lnRef>
          <a:fillRef idx="0">
            <a:schemeClr val="accent1"/>
          </a:fillRef>
          <a:effectRef idx="1">
            <a:schemeClr val="accent1"/>
          </a:effectRef>
          <a:fontRef idx="minor">
            <a:schemeClr val="tx1"/>
          </a:fontRef>
        </p:style>
      </p:cxnSp>
      <p:sp>
        <p:nvSpPr>
          <p:cNvPr id="48" name="Isosceles Triangle 49"/>
          <p:cNvSpPr/>
          <p:nvPr/>
        </p:nvSpPr>
        <p:spPr>
          <a:xfrm rot="5400000">
            <a:off x="2688336" y="5116068"/>
            <a:ext cx="118872" cy="118872"/>
          </a:xfrm>
          <a:prstGeom prst="triangle">
            <a:avLst/>
          </a:prstGeom>
          <a:solidFill>
            <a:srgbClr val="B77B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9" name="Connector 50"/>
          <p:cNvCxnSpPr/>
          <p:nvPr/>
        </p:nvCxnSpPr>
        <p:spPr>
          <a:xfrm>
            <a:off x="4754879" y="5175504"/>
            <a:ext cx="265177" cy="0"/>
          </a:xfrm>
          <a:prstGeom prst="line">
            <a:avLst/>
          </a:prstGeom>
          <a:ln w="20320">
            <a:solidFill>
              <a:srgbClr val="B77B19"/>
            </a:solidFill>
          </a:ln>
          <a:effectLst/>
        </p:spPr>
        <p:style>
          <a:lnRef idx="2">
            <a:schemeClr val="accent1"/>
          </a:lnRef>
          <a:fillRef idx="0">
            <a:schemeClr val="accent1"/>
          </a:fillRef>
          <a:effectRef idx="1">
            <a:schemeClr val="accent1"/>
          </a:effectRef>
          <a:fontRef idx="minor">
            <a:schemeClr val="tx1"/>
          </a:fontRef>
        </p:style>
      </p:cxnSp>
      <p:sp>
        <p:nvSpPr>
          <p:cNvPr id="50" name="Isosceles Triangle 51"/>
          <p:cNvSpPr/>
          <p:nvPr/>
        </p:nvSpPr>
        <p:spPr>
          <a:xfrm rot="5400000">
            <a:off x="4992624" y="5116068"/>
            <a:ext cx="118872" cy="118872"/>
          </a:xfrm>
          <a:prstGeom prst="triangle">
            <a:avLst/>
          </a:prstGeom>
          <a:solidFill>
            <a:srgbClr val="B77B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1" name="Connector 52"/>
          <p:cNvCxnSpPr/>
          <p:nvPr/>
        </p:nvCxnSpPr>
        <p:spPr>
          <a:xfrm>
            <a:off x="7059168" y="5175504"/>
            <a:ext cx="265176" cy="0"/>
          </a:xfrm>
          <a:prstGeom prst="line">
            <a:avLst/>
          </a:prstGeom>
          <a:ln w="20320">
            <a:solidFill>
              <a:srgbClr val="B77B19"/>
            </a:solidFill>
          </a:ln>
          <a:effectLst/>
        </p:spPr>
        <p:style>
          <a:lnRef idx="2">
            <a:schemeClr val="accent1"/>
          </a:lnRef>
          <a:fillRef idx="0">
            <a:schemeClr val="accent1"/>
          </a:fillRef>
          <a:effectRef idx="1">
            <a:schemeClr val="accent1"/>
          </a:effectRef>
          <a:fontRef idx="minor">
            <a:schemeClr val="tx1"/>
          </a:fontRef>
        </p:style>
      </p:cxnSp>
      <p:sp>
        <p:nvSpPr>
          <p:cNvPr id="52" name="Isosceles Triangle 53"/>
          <p:cNvSpPr/>
          <p:nvPr/>
        </p:nvSpPr>
        <p:spPr>
          <a:xfrm rot="5400000">
            <a:off x="7296912" y="5116068"/>
            <a:ext cx="118872" cy="118872"/>
          </a:xfrm>
          <a:prstGeom prst="triangle">
            <a:avLst/>
          </a:prstGeom>
          <a:solidFill>
            <a:srgbClr val="B77B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3" name="Connector 54"/>
          <p:cNvCxnSpPr/>
          <p:nvPr/>
        </p:nvCxnSpPr>
        <p:spPr>
          <a:xfrm>
            <a:off x="9363456" y="5175504"/>
            <a:ext cx="265176" cy="0"/>
          </a:xfrm>
          <a:prstGeom prst="line">
            <a:avLst/>
          </a:prstGeom>
          <a:ln w="20320">
            <a:solidFill>
              <a:srgbClr val="B77B19"/>
            </a:solidFill>
          </a:ln>
          <a:effectLst/>
        </p:spPr>
        <p:style>
          <a:lnRef idx="2">
            <a:schemeClr val="accent1"/>
          </a:lnRef>
          <a:fillRef idx="0">
            <a:schemeClr val="accent1"/>
          </a:fillRef>
          <a:effectRef idx="1">
            <a:schemeClr val="accent1"/>
          </a:effectRef>
          <a:fontRef idx="minor">
            <a:schemeClr val="tx1"/>
          </a:fontRef>
        </p:style>
      </p:cxnSp>
      <p:sp>
        <p:nvSpPr>
          <p:cNvPr id="54" name="Isosceles Triangle 55"/>
          <p:cNvSpPr/>
          <p:nvPr/>
        </p:nvSpPr>
        <p:spPr>
          <a:xfrm rot="5400000">
            <a:off x="9601200" y="5116068"/>
            <a:ext cx="118872" cy="118872"/>
          </a:xfrm>
          <a:prstGeom prst="triangle">
            <a:avLst/>
          </a:prstGeom>
          <a:solidFill>
            <a:srgbClr val="B77B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5" name="Connector 56"/>
          <p:cNvCxnSpPr/>
          <p:nvPr/>
        </p:nvCxnSpPr>
        <p:spPr>
          <a:xfrm>
            <a:off x="10703052" y="3758184"/>
            <a:ext cx="0" cy="356616"/>
          </a:xfrm>
          <a:prstGeom prst="line">
            <a:avLst/>
          </a:prstGeom>
          <a:ln w="15240">
            <a:solidFill>
              <a:srgbClr val="B77B19"/>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6" name="Connector 57"/>
          <p:cNvCxnSpPr/>
          <p:nvPr/>
        </p:nvCxnSpPr>
        <p:spPr>
          <a:xfrm flipH="1">
            <a:off x="8398764" y="4114800"/>
            <a:ext cx="2304288" cy="0"/>
          </a:xfrm>
          <a:prstGeom prst="line">
            <a:avLst/>
          </a:prstGeom>
          <a:ln w="15240">
            <a:solidFill>
              <a:srgbClr val="B77B19"/>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7" name="Connector 58"/>
          <p:cNvCxnSpPr/>
          <p:nvPr/>
        </p:nvCxnSpPr>
        <p:spPr>
          <a:xfrm>
            <a:off x="8398764" y="4114800"/>
            <a:ext cx="0" cy="576072"/>
          </a:xfrm>
          <a:prstGeom prst="line">
            <a:avLst/>
          </a:prstGeom>
          <a:ln w="15240">
            <a:solidFill>
              <a:srgbClr val="B77B19"/>
            </a:solidFill>
            <a:prstDash val="dash"/>
          </a:ln>
          <a:effectLst/>
        </p:spPr>
        <p:style>
          <a:lnRef idx="2">
            <a:schemeClr val="accent1"/>
          </a:lnRef>
          <a:fillRef idx="0">
            <a:schemeClr val="accent1"/>
          </a:fillRef>
          <a:effectRef idx="1">
            <a:schemeClr val="accent1"/>
          </a:effectRef>
          <a:fontRef idx="minor">
            <a:schemeClr val="tx1"/>
          </a:fontRef>
        </p:style>
      </p:cxnSp>
      <p:sp>
        <p:nvSpPr>
          <p:cNvPr id="58" name="TextBox 59"/>
          <p:cNvSpPr txBox="1"/>
          <p:nvPr/>
        </p:nvSpPr>
        <p:spPr>
          <a:xfrm>
            <a:off x="8622792" y="4297680"/>
            <a:ext cx="2542032" cy="219456"/>
          </a:xfrm>
          <a:prstGeom prst="rect">
            <a:avLst/>
          </a:prstGeom>
          <a:noFill/>
          <a:effectLst/>
        </p:spPr>
        <p:txBody>
          <a:bodyPr wrap="none" lIns="0" tIns="0" rIns="0" bIns="0" anchor="t">
            <a:spAutoFit/>
          </a:bodyPr>
          <a:lstStyle/>
          <a:p>
            <a:pPr algn="l">
              <a:lnSpc>
                <a:spcPts val="1225"/>
              </a:lnSpc>
              <a:spcBef>
                <a:spcPts val="0"/>
              </a:spcBef>
              <a:spcAft>
                <a:spcPts val="0"/>
              </a:spcAft>
            </a:pPr>
            <a:r>
              <a:rPr lang="vi-VN" sz="1030" b="0">
                <a:solidFill>
                  <a:srgbClr val="536373"/>
                </a:solidFill>
                <a:latin typeface="Arial"/>
              </a:rPr>
              <a:t>Phiên bản đã chọn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20624" y="91440"/>
            <a:ext cx="11292840" cy="457200"/>
          </a:xfrm>
          <a:prstGeom prst="rect">
            <a:avLst/>
          </a:prstGeom>
          <a:noFill/>
          <a:effectLst/>
        </p:spPr>
        <p:txBody>
          <a:bodyPr wrap="none" lIns="0" tIns="0" rIns="0" bIns="0" anchor="ctr">
            <a:spAutoFit/>
          </a:bodyPr>
          <a:lstStyle/>
          <a:p>
            <a:pPr algn="l">
              <a:lnSpc>
                <a:spcPct val="105000"/>
              </a:lnSpc>
              <a:spcBef>
                <a:spcPts val="0"/>
              </a:spcBef>
              <a:spcAft>
                <a:spcPts val="0"/>
              </a:spcAft>
            </a:pPr>
            <a:r>
              <a:rPr lang="vi-VN" sz="2300" b="1">
                <a:solidFill>
                  <a:srgbClr val="FFFFFF"/>
                </a:solidFill>
                <a:latin typeface="Arial"/>
              </a:rPr>
              <a:t>03 / DỮ LIỆU NGHIÊN CỨU</a:t>
            </a:r>
          </a:p>
        </p:txBody>
      </p:sp>
      <p:sp>
        <p:nvSpPr>
          <p:cNvPr id="3" name="TextBox 3"/>
          <p:cNvSpPr txBox="1"/>
          <p:nvPr/>
        </p:nvSpPr>
        <p:spPr>
          <a:xfrm>
            <a:off x="512064" y="969264"/>
            <a:ext cx="11109960" cy="694944"/>
          </a:xfrm>
          <a:prstGeom prst="rect">
            <a:avLst/>
          </a:prstGeom>
          <a:noFill/>
          <a:effectLst/>
        </p:spPr>
        <p:txBody>
          <a:bodyPr wrap="none" lIns="0" tIns="0" rIns="0" bIns="0" anchor="t">
            <a:spAutoFit/>
          </a:bodyPr>
          <a:lstStyle/>
          <a:p>
            <a:pPr algn="l">
              <a:lnSpc>
                <a:spcPct val="105000"/>
              </a:lnSpc>
              <a:spcBef>
                <a:spcPts val="0"/>
              </a:spcBef>
              <a:spcAft>
                <a:spcPts val="0"/>
              </a:spcAft>
            </a:pPr>
            <a:r>
              <a:rPr lang="vi-VN" sz="2900" b="1">
                <a:solidFill>
                  <a:srgbClr val="003366"/>
                </a:solidFill>
                <a:latin typeface="Arial"/>
              </a:rPr>
              <a:t>Retailrocket: log hành vi có dấu thời gian.</a:t>
            </a:r>
          </a:p>
        </p:txBody>
      </p:sp>
      <p:sp>
        <p:nvSpPr>
          <p:cNvPr id="4" name="TextBox 4"/>
          <p:cNvSpPr txBox="1"/>
          <p:nvPr/>
        </p:nvSpPr>
        <p:spPr>
          <a:xfrm>
            <a:off x="539496" y="1783080"/>
            <a:ext cx="10972800" cy="329184"/>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536373"/>
                </a:solidFill>
                <a:latin typeface="Arial"/>
              </a:rPr>
              <a:t>Log 03/05–18/09/2015 UTC • Bốn CSV thật đã đối chiếu checksum và xử lý đầy đủ.</a:t>
            </a:r>
          </a:p>
        </p:txBody>
      </p:sp>
      <p:sp>
        <p:nvSpPr>
          <p:cNvPr id="6" name="TextBox 7"/>
          <p:cNvSpPr txBox="1"/>
          <p:nvPr/>
        </p:nvSpPr>
        <p:spPr>
          <a:xfrm>
            <a:off x="10561320" y="6510528"/>
            <a:ext cx="1097280" cy="210312"/>
          </a:xfrm>
          <a:prstGeom prst="rect">
            <a:avLst/>
          </a:prstGeom>
          <a:noFill/>
          <a:effectLst/>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08 / 41</a:t>
            </a:r>
          </a:p>
        </p:txBody>
      </p:sp>
      <p:sp>
        <p:nvSpPr>
          <p:cNvPr id="8" name="TextBox 9"/>
          <p:cNvSpPr txBox="1"/>
          <p:nvPr/>
        </p:nvSpPr>
        <p:spPr>
          <a:xfrm>
            <a:off x="585216" y="2313432"/>
            <a:ext cx="3401568" cy="649224"/>
          </a:xfrm>
          <a:prstGeom prst="rect">
            <a:avLst/>
          </a:prstGeom>
          <a:noFill/>
          <a:effectLst/>
        </p:spPr>
        <p:txBody>
          <a:bodyPr wrap="none" lIns="0" tIns="0" rIns="0" bIns="0" anchor="t">
            <a:spAutoFit/>
          </a:bodyPr>
          <a:lstStyle/>
          <a:p>
            <a:pPr algn="l">
              <a:lnSpc>
                <a:spcPts val="3926"/>
              </a:lnSpc>
              <a:spcBef>
                <a:spcPts val="0"/>
              </a:spcBef>
              <a:spcAft>
                <a:spcPts val="0"/>
              </a:spcAft>
            </a:pPr>
            <a:r>
              <a:rPr lang="vi-VN" sz="3300" b="1">
                <a:solidFill>
                  <a:srgbClr val="005A9C"/>
                </a:solidFill>
                <a:latin typeface="Arial"/>
              </a:rPr>
              <a:t>2.756.101</a:t>
            </a:r>
          </a:p>
        </p:txBody>
      </p:sp>
      <p:sp>
        <p:nvSpPr>
          <p:cNvPr id="9" name="TextBox 10"/>
          <p:cNvSpPr txBox="1"/>
          <p:nvPr/>
        </p:nvSpPr>
        <p:spPr>
          <a:xfrm>
            <a:off x="585216" y="3063240"/>
            <a:ext cx="3401568" cy="320040"/>
          </a:xfrm>
          <a:prstGeom prst="rect">
            <a:avLst/>
          </a:prstGeom>
          <a:noFill/>
          <a:effectLst/>
        </p:spPr>
        <p:txBody>
          <a:bodyPr wrap="none" lIns="0" tIns="0" rIns="0" bIns="0" anchor="t">
            <a:spAutoFit/>
          </a:bodyPr>
          <a:lstStyle/>
          <a:p>
            <a:pPr algn="l">
              <a:lnSpc>
                <a:spcPts val="1904"/>
              </a:lnSpc>
              <a:spcBef>
                <a:spcPts val="0"/>
              </a:spcBef>
              <a:spcAft>
                <a:spcPts val="0"/>
              </a:spcAft>
            </a:pPr>
            <a:r>
              <a:rPr lang="vi-VN" sz="1600" b="0">
                <a:solidFill>
                  <a:srgbClr val="536373"/>
                </a:solidFill>
                <a:latin typeface="Arial"/>
              </a:rPr>
              <a:t>sự kiện gốc</a:t>
            </a:r>
          </a:p>
        </p:txBody>
      </p:sp>
      <p:sp>
        <p:nvSpPr>
          <p:cNvPr id="10" name="TextBox 11"/>
          <p:cNvSpPr txBox="1"/>
          <p:nvPr/>
        </p:nvSpPr>
        <p:spPr>
          <a:xfrm>
            <a:off x="4407408" y="2313432"/>
            <a:ext cx="3401568" cy="649224"/>
          </a:xfrm>
          <a:prstGeom prst="rect">
            <a:avLst/>
          </a:prstGeom>
          <a:noFill/>
          <a:effectLst/>
        </p:spPr>
        <p:txBody>
          <a:bodyPr wrap="none" lIns="0" tIns="0" rIns="0" bIns="0" anchor="t">
            <a:spAutoFit/>
          </a:bodyPr>
          <a:lstStyle/>
          <a:p>
            <a:pPr algn="l">
              <a:lnSpc>
                <a:spcPts val="3926"/>
              </a:lnSpc>
              <a:spcBef>
                <a:spcPts val="0"/>
              </a:spcBef>
              <a:spcAft>
                <a:spcPts val="0"/>
              </a:spcAft>
            </a:pPr>
            <a:r>
              <a:rPr lang="vi-VN" sz="3300" b="1">
                <a:solidFill>
                  <a:srgbClr val="005A9C"/>
                </a:solidFill>
                <a:latin typeface="Arial"/>
              </a:rPr>
              <a:t>1.407.580</a:t>
            </a:r>
          </a:p>
        </p:txBody>
      </p:sp>
      <p:sp>
        <p:nvSpPr>
          <p:cNvPr id="11" name="TextBox 12"/>
          <p:cNvSpPr txBox="1"/>
          <p:nvPr/>
        </p:nvSpPr>
        <p:spPr>
          <a:xfrm>
            <a:off x="4407408" y="3063240"/>
            <a:ext cx="3401568" cy="320040"/>
          </a:xfrm>
          <a:prstGeom prst="rect">
            <a:avLst/>
          </a:prstGeom>
          <a:noFill/>
          <a:effectLst/>
        </p:spPr>
        <p:txBody>
          <a:bodyPr wrap="none" lIns="0" tIns="0" rIns="0" bIns="0" anchor="t">
            <a:spAutoFit/>
          </a:bodyPr>
          <a:lstStyle/>
          <a:p>
            <a:pPr algn="l">
              <a:lnSpc>
                <a:spcPts val="1904"/>
              </a:lnSpc>
              <a:spcBef>
                <a:spcPts val="0"/>
              </a:spcBef>
              <a:spcAft>
                <a:spcPts val="0"/>
              </a:spcAft>
            </a:pPr>
            <a:r>
              <a:rPr lang="vi-VN" sz="1600" b="0">
                <a:solidFill>
                  <a:srgbClr val="536373"/>
                </a:solidFill>
                <a:latin typeface="Arial"/>
              </a:rPr>
              <a:t>visitor trong log</a:t>
            </a:r>
          </a:p>
        </p:txBody>
      </p:sp>
      <p:sp>
        <p:nvSpPr>
          <p:cNvPr id="12" name="TextBox 13"/>
          <p:cNvSpPr txBox="1"/>
          <p:nvPr/>
        </p:nvSpPr>
        <p:spPr>
          <a:xfrm>
            <a:off x="8220456" y="2313432"/>
            <a:ext cx="3401568" cy="649224"/>
          </a:xfrm>
          <a:prstGeom prst="rect">
            <a:avLst/>
          </a:prstGeom>
          <a:noFill/>
          <a:effectLst/>
        </p:spPr>
        <p:txBody>
          <a:bodyPr wrap="none" lIns="0" tIns="0" rIns="0" bIns="0" anchor="t">
            <a:spAutoFit/>
          </a:bodyPr>
          <a:lstStyle/>
          <a:p>
            <a:pPr algn="l">
              <a:lnSpc>
                <a:spcPts val="3926"/>
              </a:lnSpc>
              <a:spcBef>
                <a:spcPts val="0"/>
              </a:spcBef>
              <a:spcAft>
                <a:spcPts val="0"/>
              </a:spcAft>
            </a:pPr>
            <a:r>
              <a:rPr lang="vi-VN" sz="3300" b="1">
                <a:solidFill>
                  <a:srgbClr val="005A9C"/>
                </a:solidFill>
                <a:latin typeface="Arial"/>
              </a:rPr>
              <a:t>235.061</a:t>
            </a:r>
          </a:p>
        </p:txBody>
      </p:sp>
      <p:sp>
        <p:nvSpPr>
          <p:cNvPr id="13" name="TextBox 14"/>
          <p:cNvSpPr txBox="1"/>
          <p:nvPr/>
        </p:nvSpPr>
        <p:spPr>
          <a:xfrm>
            <a:off x="8220456" y="3063240"/>
            <a:ext cx="3401568" cy="320040"/>
          </a:xfrm>
          <a:prstGeom prst="rect">
            <a:avLst/>
          </a:prstGeom>
          <a:noFill/>
          <a:effectLst/>
        </p:spPr>
        <p:txBody>
          <a:bodyPr wrap="none" lIns="0" tIns="0" rIns="0" bIns="0" anchor="t">
            <a:spAutoFit/>
          </a:bodyPr>
          <a:lstStyle/>
          <a:p>
            <a:pPr algn="l">
              <a:lnSpc>
                <a:spcPts val="1904"/>
              </a:lnSpc>
              <a:spcBef>
                <a:spcPts val="0"/>
              </a:spcBef>
              <a:spcAft>
                <a:spcPts val="0"/>
              </a:spcAft>
            </a:pPr>
            <a:r>
              <a:rPr lang="vi-VN" sz="1600" b="0">
                <a:solidFill>
                  <a:srgbClr val="536373"/>
                </a:solidFill>
                <a:latin typeface="Arial"/>
              </a:rPr>
              <a:t>item trong log</a:t>
            </a:r>
          </a:p>
        </p:txBody>
      </p:sp>
      <p:sp>
        <p:nvSpPr>
          <p:cNvPr id="14" name="Rectangle 15"/>
          <p:cNvSpPr/>
          <p:nvPr/>
        </p:nvSpPr>
        <p:spPr>
          <a:xfrm>
            <a:off x="585216" y="3730752"/>
            <a:ext cx="11000232" cy="5029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6"/>
          <p:cNvSpPr txBox="1"/>
          <p:nvPr/>
        </p:nvSpPr>
        <p:spPr>
          <a:xfrm>
            <a:off x="713232" y="3886200"/>
            <a:ext cx="3977639" cy="292608"/>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1">
                <a:solidFill>
                  <a:srgbClr val="FFFFFF"/>
                </a:solidFill>
                <a:latin typeface="Arial"/>
              </a:rPr>
              <a:t>Nguồn</a:t>
            </a:r>
          </a:p>
        </p:txBody>
      </p:sp>
      <p:sp>
        <p:nvSpPr>
          <p:cNvPr id="16" name="TextBox 17"/>
          <p:cNvSpPr txBox="1"/>
          <p:nvPr/>
        </p:nvSpPr>
        <p:spPr>
          <a:xfrm>
            <a:off x="4946903" y="3886200"/>
            <a:ext cx="1819656" cy="292608"/>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1">
                <a:solidFill>
                  <a:srgbClr val="FFFFFF"/>
                </a:solidFill>
                <a:latin typeface="Arial"/>
              </a:rPr>
              <a:t>Số dòng</a:t>
            </a:r>
          </a:p>
        </p:txBody>
      </p:sp>
      <p:sp>
        <p:nvSpPr>
          <p:cNvPr id="17" name="TextBox 18"/>
          <p:cNvSpPr txBox="1"/>
          <p:nvPr/>
        </p:nvSpPr>
        <p:spPr>
          <a:xfrm>
            <a:off x="7022591" y="3886200"/>
            <a:ext cx="4434840" cy="292608"/>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1">
                <a:solidFill>
                  <a:srgbClr val="FFFFFF"/>
                </a:solidFill>
                <a:latin typeface="Arial"/>
              </a:rPr>
              <a:t>Nội dung</a:t>
            </a:r>
          </a:p>
        </p:txBody>
      </p:sp>
      <p:sp>
        <p:nvSpPr>
          <p:cNvPr id="18" name="Rectangle 19"/>
          <p:cNvSpPr/>
          <p:nvPr/>
        </p:nvSpPr>
        <p:spPr>
          <a:xfrm>
            <a:off x="585216" y="4233672"/>
            <a:ext cx="11000232"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20"/>
          <p:cNvSpPr txBox="1"/>
          <p:nvPr/>
        </p:nvSpPr>
        <p:spPr>
          <a:xfrm>
            <a:off x="713232" y="4389120"/>
            <a:ext cx="3977639" cy="292608"/>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003366"/>
                </a:solidFill>
                <a:latin typeface="Arial"/>
              </a:rPr>
              <a:t>events.csv</a:t>
            </a:r>
          </a:p>
        </p:txBody>
      </p:sp>
      <p:sp>
        <p:nvSpPr>
          <p:cNvPr id="20" name="TextBox 21"/>
          <p:cNvSpPr txBox="1"/>
          <p:nvPr/>
        </p:nvSpPr>
        <p:spPr>
          <a:xfrm>
            <a:off x="4946903" y="4389120"/>
            <a:ext cx="1819656" cy="292608"/>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003366"/>
                </a:solidFill>
                <a:latin typeface="Arial"/>
              </a:rPr>
              <a:t>2.756.101</a:t>
            </a:r>
          </a:p>
        </p:txBody>
      </p:sp>
      <p:sp>
        <p:nvSpPr>
          <p:cNvPr id="21" name="TextBox 22"/>
          <p:cNvSpPr txBox="1"/>
          <p:nvPr/>
        </p:nvSpPr>
        <p:spPr>
          <a:xfrm>
            <a:off x="7022591" y="4389120"/>
            <a:ext cx="4434840" cy="292608"/>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003366"/>
                </a:solidFill>
                <a:latin typeface="Arial"/>
              </a:rPr>
              <a:t>Xem / thêm giỏ / mua</a:t>
            </a:r>
          </a:p>
        </p:txBody>
      </p:sp>
      <p:sp>
        <p:nvSpPr>
          <p:cNvPr id="22" name="Rectangle 23"/>
          <p:cNvSpPr/>
          <p:nvPr/>
        </p:nvSpPr>
        <p:spPr>
          <a:xfrm>
            <a:off x="585216" y="4736592"/>
            <a:ext cx="11000232" cy="502920"/>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4"/>
          <p:cNvSpPr txBox="1"/>
          <p:nvPr/>
        </p:nvSpPr>
        <p:spPr>
          <a:xfrm>
            <a:off x="713232" y="4892040"/>
            <a:ext cx="3977639" cy="292608"/>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003366"/>
                </a:solidFill>
                <a:latin typeface="Arial"/>
              </a:rPr>
              <a:t>item_properties_part1/2.csv</a:t>
            </a:r>
          </a:p>
        </p:txBody>
      </p:sp>
      <p:sp>
        <p:nvSpPr>
          <p:cNvPr id="24" name="TextBox 25"/>
          <p:cNvSpPr txBox="1"/>
          <p:nvPr/>
        </p:nvSpPr>
        <p:spPr>
          <a:xfrm>
            <a:off x="4946903" y="4892040"/>
            <a:ext cx="1819656" cy="292608"/>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003366"/>
                </a:solidFill>
                <a:latin typeface="Arial"/>
              </a:rPr>
              <a:t>20.275.902</a:t>
            </a:r>
          </a:p>
        </p:txBody>
      </p:sp>
      <p:sp>
        <p:nvSpPr>
          <p:cNvPr id="25" name="TextBox 26"/>
          <p:cNvSpPr txBox="1"/>
          <p:nvPr/>
        </p:nvSpPr>
        <p:spPr>
          <a:xfrm>
            <a:off x="7022591" y="4892040"/>
            <a:ext cx="4434840" cy="292608"/>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003366"/>
                </a:solidFill>
                <a:latin typeface="Arial"/>
              </a:rPr>
              <a:t>Thuộc tính sản phẩm theo thời gian</a:t>
            </a:r>
          </a:p>
        </p:txBody>
      </p:sp>
      <p:sp>
        <p:nvSpPr>
          <p:cNvPr id="26" name="Rectangle 27"/>
          <p:cNvSpPr/>
          <p:nvPr/>
        </p:nvSpPr>
        <p:spPr>
          <a:xfrm>
            <a:off x="585216" y="5239512"/>
            <a:ext cx="11000232"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8"/>
          <p:cNvSpPr txBox="1"/>
          <p:nvPr/>
        </p:nvSpPr>
        <p:spPr>
          <a:xfrm>
            <a:off x="713232" y="5394960"/>
            <a:ext cx="3977639" cy="292608"/>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003366"/>
                </a:solidFill>
                <a:latin typeface="Arial"/>
              </a:rPr>
              <a:t>category_tree.csv</a:t>
            </a:r>
          </a:p>
        </p:txBody>
      </p:sp>
      <p:sp>
        <p:nvSpPr>
          <p:cNvPr id="28" name="TextBox 29"/>
          <p:cNvSpPr txBox="1"/>
          <p:nvPr/>
        </p:nvSpPr>
        <p:spPr>
          <a:xfrm>
            <a:off x="4946903" y="5394960"/>
            <a:ext cx="1819656" cy="292608"/>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003366"/>
                </a:solidFill>
                <a:latin typeface="Arial"/>
              </a:rPr>
              <a:t>1.669</a:t>
            </a:r>
          </a:p>
        </p:txBody>
      </p:sp>
      <p:sp>
        <p:nvSpPr>
          <p:cNvPr id="29" name="TextBox 30"/>
          <p:cNvSpPr txBox="1"/>
          <p:nvPr/>
        </p:nvSpPr>
        <p:spPr>
          <a:xfrm>
            <a:off x="7022591" y="5394960"/>
            <a:ext cx="4434840" cy="292608"/>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003366"/>
                </a:solidFill>
                <a:latin typeface="Arial"/>
              </a:rPr>
              <a:t>Danh mục và danh mục cha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03 / CẤU TRÚC DỮ LIỆU</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Bốn CSV gốc và ý nghĩa các trường.</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Nguồn đặt tại data/raw/; dữ liệu sử dụng mã định danh ẩn danh.</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09 / 41</a:t>
            </a:r>
          </a:p>
        </p:txBody>
      </p:sp>
      <p:sp>
        <p:nvSpPr>
          <p:cNvPr id="105" name="heading-0-0">
            <a:extLst>
              <a:ext uri="{FF2B5EF4-FFF2-40B4-BE49-F238E27FC236}">
                <a16:creationId xmlns:a16="http://schemas.microsoft.com/office/drawing/2014/main" id="{07A45399-076C-4919-978A-B0221DAABCE6}"/>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events.csv</a:t>
            </a:r>
          </a:p>
        </p:txBody>
      </p:sp>
      <p:sp>
        <p:nvSpPr>
          <p:cNvPr id="106" name="body-0-0">
            <a:extLst>
              <a:ext uri="{FF2B5EF4-FFF2-40B4-BE49-F238E27FC236}">
                <a16:creationId xmlns:a16="http://schemas.microsoft.com/office/drawing/2014/main" id="{CB61A4F0-86ED-458E-B365-1256D864B8DE}"/>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timestamp: thời điểm tương tác.</a:t>
            </a:r>
          </a:p>
          <a:p>
            <a:pPr>
              <a:defRPr sz="1388" b="0">
                <a:solidFill>
                  <a:srgbClr val="536373"/>
                </a:solidFill>
              </a:defRPr>
            </a:pPr>
            <a:r>
              <a:rPr sz="1388" b="0">
                <a:solidFill>
                  <a:srgbClr val="536373"/>
                </a:solidFill>
              </a:rPr>
              <a:t>visitorid: mã liên kết lịch sử.</a:t>
            </a:r>
          </a:p>
          <a:p>
            <a:pPr>
              <a:defRPr sz="1388" b="0">
                <a:solidFill>
                  <a:srgbClr val="536373"/>
                </a:solidFill>
              </a:defRPr>
            </a:pPr>
            <a:r>
              <a:rPr sz="1388" b="0">
                <a:solidFill>
                  <a:srgbClr val="536373"/>
                </a:solidFill>
              </a:rPr>
              <a:t>event: view, addtocart, transaction.</a:t>
            </a:r>
          </a:p>
          <a:p>
            <a:pPr>
              <a:defRPr sz="1388" b="0">
                <a:solidFill>
                  <a:srgbClr val="536373"/>
                </a:solidFill>
              </a:defRPr>
            </a:pPr>
            <a:r>
              <a:rPr sz="1388" b="0">
                <a:solidFill>
                  <a:srgbClr val="536373"/>
                </a:solidFill>
              </a:rPr>
              <a:t>itemid: mã sản phẩm.</a:t>
            </a:r>
          </a:p>
          <a:p>
            <a:pPr>
              <a:defRPr sz="1388" b="0">
                <a:solidFill>
                  <a:srgbClr val="536373"/>
                </a:solidFill>
              </a:defRPr>
            </a:pPr>
            <a:r>
              <a:rPr sz="1388" b="0">
                <a:solidFill>
                  <a:srgbClr val="536373"/>
                </a:solidFill>
              </a:rPr>
              <a:t>transactionid: mã giao dịch mua.</a:t>
            </a:r>
          </a:p>
        </p:txBody>
      </p:sp>
      <p:sp>
        <p:nvSpPr>
          <p:cNvPr id="107" name="heading-0-1">
            <a:extLst>
              <a:ext uri="{FF2B5EF4-FFF2-40B4-BE49-F238E27FC236}">
                <a16:creationId xmlns:a16="http://schemas.microsoft.com/office/drawing/2014/main" id="{FF233569-E07E-4A98-A17F-710A2944C445}"/>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Lưu ý về giao dịch</a:t>
            </a:r>
          </a:p>
        </p:txBody>
      </p:sp>
      <p:sp>
        <p:nvSpPr>
          <p:cNvPr id="108" name="body-0-1">
            <a:extLst>
              <a:ext uri="{FF2B5EF4-FFF2-40B4-BE49-F238E27FC236}">
                <a16:creationId xmlns:a16="http://schemas.microsoft.com/office/drawing/2014/main" id="{3A03CC1D-0F2D-4EFA-8E2C-615AD0C72372}"/>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22.457 sự kiện mua, 17.672 transactionid duy nhất. Nhiều dòng có thể thuộc cùng một giao dịch.</a:t>
            </a:r>
          </a:p>
        </p:txBody>
      </p:sp>
      <p:sp>
        <p:nvSpPr>
          <p:cNvPr id="109" name="heading-1-0">
            <a:extLst>
              <a:ext uri="{FF2B5EF4-FFF2-40B4-BE49-F238E27FC236}">
                <a16:creationId xmlns:a16="http://schemas.microsoft.com/office/drawing/2014/main" id="{F4313265-17FE-4D0D-898F-4979EBCD132C}"/>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Hai bảng thuộc tính</a:t>
            </a:r>
          </a:p>
        </p:txBody>
      </p:sp>
      <p:sp>
        <p:nvSpPr>
          <p:cNvPr id="110" name="body-1-0">
            <a:extLst>
              <a:ext uri="{FF2B5EF4-FFF2-40B4-BE49-F238E27FC236}">
                <a16:creationId xmlns:a16="http://schemas.microsoft.com/office/drawing/2014/main" id="{05842F62-BBC4-47D8-8C7F-3E31B418530F}"/>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Part 1: 10.999.999 dòng.</a:t>
            </a:r>
          </a:p>
          <a:p>
            <a:pPr>
              <a:defRPr sz="1388" b="0">
                <a:solidFill>
                  <a:srgbClr val="536373"/>
                </a:solidFill>
              </a:defRPr>
            </a:pPr>
            <a:r>
              <a:rPr sz="1388" b="0">
                <a:solidFill>
                  <a:srgbClr val="536373"/>
                </a:solidFill>
              </a:rPr>
              <a:t>Part 2: 9.275.903 dòng.</a:t>
            </a:r>
          </a:p>
          <a:p>
            <a:pPr>
              <a:defRPr sz="1388" b="0">
                <a:solidFill>
                  <a:srgbClr val="536373"/>
                </a:solidFill>
              </a:defRPr>
            </a:pPr>
            <a:r>
              <a:rPr sz="1388" b="0">
                <a:solidFill>
                  <a:srgbClr val="536373"/>
                </a:solidFill>
              </a:rPr>
              <a:t>Các cột: timestamp, itemid, property, value. Một item có nhiều cập nhật theo thời gian.</a:t>
            </a:r>
          </a:p>
        </p:txBody>
      </p:sp>
      <p:sp>
        <p:nvSpPr>
          <p:cNvPr id="111" name="heading-1-1">
            <a:extLst>
              <a:ext uri="{FF2B5EF4-FFF2-40B4-BE49-F238E27FC236}">
                <a16:creationId xmlns:a16="http://schemas.microsoft.com/office/drawing/2014/main" id="{7A9AF5F7-A13D-40B9-A798-7C198A0CDF47}"/>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category_tree.csv</a:t>
            </a:r>
          </a:p>
        </p:txBody>
      </p:sp>
      <p:sp>
        <p:nvSpPr>
          <p:cNvPr id="112" name="body-1-1">
            <a:extLst>
              <a:ext uri="{FF2B5EF4-FFF2-40B4-BE49-F238E27FC236}">
                <a16:creationId xmlns:a16="http://schemas.microsoft.com/office/drawing/2014/main" id="{62E54B42-7F2C-4177-BF3C-223141001169}"/>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1.669 dòng, gồm categoryid và parentid. Visitor không chắc tương ứng một cá nhân thực; số item trong log khác số item toàn bảng thuộc tính.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20624" y="91440"/>
            <a:ext cx="11292840" cy="457200"/>
          </a:xfrm>
          <a:prstGeom prst="rect">
            <a:avLst/>
          </a:prstGeom>
          <a:noFill/>
          <a:effectLst/>
        </p:spPr>
        <p:txBody>
          <a:bodyPr wrap="none" lIns="0" tIns="0" rIns="0" bIns="0" anchor="ctr">
            <a:spAutoFit/>
          </a:bodyPr>
          <a:lstStyle/>
          <a:p>
            <a:pPr algn="l">
              <a:lnSpc>
                <a:spcPct val="105000"/>
              </a:lnSpc>
              <a:spcBef>
                <a:spcPts val="0"/>
              </a:spcBef>
              <a:spcAft>
                <a:spcPts val="0"/>
              </a:spcAft>
            </a:pPr>
            <a:r>
              <a:rPr lang="vi-VN" sz="2300" b="1">
                <a:solidFill>
                  <a:srgbClr val="FFFFFF"/>
                </a:solidFill>
                <a:latin typeface="Arial"/>
              </a:rPr>
              <a:t>03 / ĐÁNH GIÁ DỮ LIỆU GỐC</a:t>
            </a:r>
          </a:p>
        </p:txBody>
      </p:sp>
      <p:sp>
        <p:nvSpPr>
          <p:cNvPr id="3" name="TextBox 3"/>
          <p:cNvSpPr txBox="1"/>
          <p:nvPr/>
        </p:nvSpPr>
        <p:spPr>
          <a:xfrm>
            <a:off x="512064" y="969264"/>
            <a:ext cx="11109960" cy="694944"/>
          </a:xfrm>
          <a:prstGeom prst="rect">
            <a:avLst/>
          </a:prstGeom>
          <a:noFill/>
          <a:effectLst/>
        </p:spPr>
        <p:txBody>
          <a:bodyPr wrap="none" lIns="0" tIns="0" rIns="0" bIns="0" anchor="t">
            <a:spAutoFit/>
          </a:bodyPr>
          <a:lstStyle/>
          <a:p>
            <a:pPr algn="l">
              <a:lnSpc>
                <a:spcPct val="105000"/>
              </a:lnSpc>
              <a:spcBef>
                <a:spcPts val="0"/>
              </a:spcBef>
              <a:spcAft>
                <a:spcPts val="0"/>
              </a:spcAft>
            </a:pPr>
            <a:r>
              <a:rPr lang="vi-VN" sz="2900" b="1">
                <a:solidFill>
                  <a:srgbClr val="003366"/>
                </a:solidFill>
                <a:latin typeface="Arial"/>
              </a:rPr>
              <a:t>Ba đặc điểm chi phối cách chọn phương pháp.</a:t>
            </a:r>
          </a:p>
        </p:txBody>
      </p:sp>
      <p:sp>
        <p:nvSpPr>
          <p:cNvPr id="4" name="TextBox 4"/>
          <p:cNvSpPr txBox="1"/>
          <p:nvPr/>
        </p:nvSpPr>
        <p:spPr>
          <a:xfrm>
            <a:off x="539496" y="1783080"/>
            <a:ext cx="10972800" cy="329184"/>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536373"/>
                </a:solidFill>
                <a:latin typeface="Arial"/>
              </a:rPr>
              <a:t>Làm sạch chỉ xử lý lỗi dữ liệu; không tự giải quyết được độ thưa và thiếu thông tin.</a:t>
            </a:r>
          </a:p>
        </p:txBody>
      </p:sp>
      <p:sp>
        <p:nvSpPr>
          <p:cNvPr id="6" name="TextBox 7"/>
          <p:cNvSpPr txBox="1"/>
          <p:nvPr/>
        </p:nvSpPr>
        <p:spPr>
          <a:xfrm>
            <a:off x="10561320" y="6510528"/>
            <a:ext cx="1097280" cy="210312"/>
          </a:xfrm>
          <a:prstGeom prst="rect">
            <a:avLst/>
          </a:prstGeom>
          <a:noFill/>
          <a:effectLst/>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10 / 41</a:t>
            </a:r>
          </a:p>
        </p:txBody>
      </p:sp>
      <p:sp>
        <p:nvSpPr>
          <p:cNvPr id="8" name="TextBox 9"/>
          <p:cNvSpPr txBox="1"/>
          <p:nvPr/>
        </p:nvSpPr>
        <p:spPr>
          <a:xfrm>
            <a:off x="594360" y="2423160"/>
            <a:ext cx="3438144" cy="786384"/>
          </a:xfrm>
          <a:prstGeom prst="rect">
            <a:avLst/>
          </a:prstGeom>
          <a:noFill/>
          <a:effectLst/>
        </p:spPr>
        <p:txBody>
          <a:bodyPr wrap="none" lIns="0" tIns="0" rIns="0" bIns="0" anchor="t">
            <a:spAutoFit/>
          </a:bodyPr>
          <a:lstStyle/>
          <a:p>
            <a:pPr algn="l">
              <a:lnSpc>
                <a:spcPts val="4998"/>
              </a:lnSpc>
              <a:spcBef>
                <a:spcPts val="0"/>
              </a:spcBef>
              <a:spcAft>
                <a:spcPts val="0"/>
              </a:spcAft>
            </a:pPr>
            <a:r>
              <a:rPr lang="vi-VN" sz="4200" b="1">
                <a:solidFill>
                  <a:srgbClr val="005A9C"/>
                </a:solidFill>
                <a:latin typeface="Arial"/>
              </a:rPr>
              <a:t>71,16%</a:t>
            </a:r>
          </a:p>
        </p:txBody>
      </p:sp>
      <p:sp>
        <p:nvSpPr>
          <p:cNvPr id="9" name="TextBox 10"/>
          <p:cNvSpPr txBox="1"/>
          <p:nvPr/>
        </p:nvSpPr>
        <p:spPr>
          <a:xfrm>
            <a:off x="594360" y="3429000"/>
            <a:ext cx="3401568" cy="804672"/>
          </a:xfrm>
          <a:prstGeom prst="rect">
            <a:avLst/>
          </a:prstGeom>
          <a:noFill/>
          <a:effectLst/>
        </p:spPr>
        <p:txBody>
          <a:bodyPr wrap="none" lIns="0" tIns="0" rIns="0" bIns="0" anchor="t">
            <a:spAutoFit/>
          </a:bodyPr>
          <a:lstStyle/>
          <a:p>
            <a:pPr algn="l">
              <a:lnSpc>
                <a:spcPts val="2379"/>
              </a:lnSpc>
              <a:spcBef>
                <a:spcPts val="0"/>
              </a:spcBef>
              <a:spcAft>
                <a:spcPts val="0"/>
              </a:spcAft>
            </a:pPr>
            <a:r>
              <a:rPr lang="vi-VN" sz="2000" b="1">
                <a:solidFill>
                  <a:srgbClr val="003366"/>
                </a:solidFill>
                <a:latin typeface="Arial"/>
              </a:rPr>
              <a:t>visitor chỉ có 1 sự kiện</a:t>
            </a:r>
          </a:p>
        </p:txBody>
      </p:sp>
      <p:sp>
        <p:nvSpPr>
          <p:cNvPr id="10" name="Rectangle 11"/>
          <p:cNvSpPr/>
          <p:nvPr/>
        </p:nvSpPr>
        <p:spPr>
          <a:xfrm>
            <a:off x="594360" y="4553712"/>
            <a:ext cx="3401568" cy="41148"/>
          </a:xfrm>
          <a:prstGeom prst="rect">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2"/>
          <p:cNvSpPr txBox="1"/>
          <p:nvPr/>
        </p:nvSpPr>
        <p:spPr>
          <a:xfrm>
            <a:off x="594360" y="4837176"/>
            <a:ext cx="3374136" cy="1005840"/>
          </a:xfrm>
          <a:prstGeom prst="rect">
            <a:avLst/>
          </a:prstGeom>
          <a:noFill/>
          <a:effectLst/>
        </p:spPr>
        <p:txBody>
          <a:bodyPr wrap="none" lIns="0" tIns="0" rIns="0" bIns="0" anchor="t">
            <a:spAutoFit/>
          </a:bodyPr>
          <a:lstStyle/>
          <a:p>
            <a:pPr algn="l">
              <a:lnSpc>
                <a:spcPts val="2023"/>
              </a:lnSpc>
              <a:spcBef>
                <a:spcPts val="0"/>
              </a:spcBef>
              <a:spcAft>
                <a:spcPts val="0"/>
              </a:spcAft>
            </a:pPr>
            <a:r>
              <a:rPr lang="vi-VN" sz="1700" b="0">
                <a:solidFill>
                  <a:srgbClr val="536373"/>
                </a:solidFill>
                <a:latin typeface="Arial"/>
              </a:rPr>
              <a:t>Cần tận dụng hành vi vừa quan</a:t>
            </a:r>
          </a:p>
          <a:p>
            <a:pPr algn="l">
              <a:lnSpc>
                <a:spcPts val="2023"/>
              </a:lnSpc>
              <a:spcBef>
                <a:spcPts val="0"/>
              </a:spcBef>
              <a:spcAft>
                <a:spcPts val="0"/>
              </a:spcAft>
            </a:pPr>
            <a:r>
              <a:rPr lang="vi-VN" sz="1700" b="0">
                <a:solidFill>
                  <a:srgbClr val="536373"/>
                </a:solidFill>
                <a:latin typeface="Arial"/>
              </a:rPr>
              <a:t>sát; không loại hết khách ít lịch sử.</a:t>
            </a:r>
          </a:p>
        </p:txBody>
      </p:sp>
      <p:sp>
        <p:nvSpPr>
          <p:cNvPr id="12" name="TextBox 13"/>
          <p:cNvSpPr txBox="1"/>
          <p:nvPr/>
        </p:nvSpPr>
        <p:spPr>
          <a:xfrm>
            <a:off x="4434840" y="2423160"/>
            <a:ext cx="3438144" cy="786384"/>
          </a:xfrm>
          <a:prstGeom prst="rect">
            <a:avLst/>
          </a:prstGeom>
          <a:noFill/>
          <a:effectLst/>
        </p:spPr>
        <p:txBody>
          <a:bodyPr wrap="none" lIns="0" tIns="0" rIns="0" bIns="0" anchor="t">
            <a:spAutoFit/>
          </a:bodyPr>
          <a:lstStyle/>
          <a:p>
            <a:pPr algn="l">
              <a:lnSpc>
                <a:spcPts val="4998"/>
              </a:lnSpc>
              <a:spcBef>
                <a:spcPts val="0"/>
              </a:spcBef>
              <a:spcAft>
                <a:spcPts val="0"/>
              </a:spcAft>
            </a:pPr>
            <a:r>
              <a:rPr lang="vi-VN" sz="4200" b="1">
                <a:solidFill>
                  <a:srgbClr val="C41230"/>
                </a:solidFill>
                <a:latin typeface="Arial"/>
              </a:rPr>
              <a:t>0,81%</a:t>
            </a:r>
          </a:p>
        </p:txBody>
      </p:sp>
      <p:sp>
        <p:nvSpPr>
          <p:cNvPr id="13" name="TextBox 14"/>
          <p:cNvSpPr txBox="1"/>
          <p:nvPr/>
        </p:nvSpPr>
        <p:spPr>
          <a:xfrm>
            <a:off x="4434840" y="3429000"/>
            <a:ext cx="3401568" cy="804672"/>
          </a:xfrm>
          <a:prstGeom prst="rect">
            <a:avLst/>
          </a:prstGeom>
          <a:noFill/>
          <a:effectLst/>
        </p:spPr>
        <p:txBody>
          <a:bodyPr wrap="none" lIns="0" tIns="0" rIns="0" bIns="0" anchor="t">
            <a:spAutoFit/>
          </a:bodyPr>
          <a:lstStyle/>
          <a:p>
            <a:pPr algn="l">
              <a:lnSpc>
                <a:spcPts val="2379"/>
              </a:lnSpc>
              <a:spcBef>
                <a:spcPts val="0"/>
              </a:spcBef>
              <a:spcAft>
                <a:spcPts val="0"/>
              </a:spcAft>
            </a:pPr>
            <a:r>
              <a:rPr lang="vi-VN" sz="2000" b="1">
                <a:solidFill>
                  <a:srgbClr val="003366"/>
                </a:solidFill>
                <a:latin typeface="Arial"/>
              </a:rPr>
              <a:t>sự kiện là mua hàng</a:t>
            </a:r>
          </a:p>
        </p:txBody>
      </p:sp>
      <p:sp>
        <p:nvSpPr>
          <p:cNvPr id="14" name="Rectangle 15"/>
          <p:cNvSpPr/>
          <p:nvPr/>
        </p:nvSpPr>
        <p:spPr>
          <a:xfrm>
            <a:off x="4434840" y="4553712"/>
            <a:ext cx="3401568" cy="41148"/>
          </a:xfrm>
          <a:prstGeom prst="rect">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6"/>
          <p:cNvSpPr txBox="1"/>
          <p:nvPr/>
        </p:nvSpPr>
        <p:spPr>
          <a:xfrm>
            <a:off x="4434840" y="4837176"/>
            <a:ext cx="3374136" cy="1005840"/>
          </a:xfrm>
          <a:prstGeom prst="rect">
            <a:avLst/>
          </a:prstGeom>
          <a:noFill/>
          <a:effectLst/>
        </p:spPr>
        <p:txBody>
          <a:bodyPr wrap="none" lIns="0" tIns="0" rIns="0" bIns="0" anchor="t">
            <a:spAutoFit/>
          </a:bodyPr>
          <a:lstStyle/>
          <a:p>
            <a:pPr algn="l">
              <a:lnSpc>
                <a:spcPts val="2023"/>
              </a:lnSpc>
              <a:spcBef>
                <a:spcPts val="0"/>
              </a:spcBef>
              <a:spcAft>
                <a:spcPts val="0"/>
              </a:spcAft>
            </a:pPr>
            <a:r>
              <a:rPr lang="vi-VN" sz="1700" b="0">
                <a:solidFill>
                  <a:srgbClr val="536373"/>
                </a:solidFill>
                <a:latin typeface="Arial"/>
              </a:rPr>
              <a:t>Giữ loại hành vi; kiểm chứng lợi</a:t>
            </a:r>
          </a:p>
          <a:p>
            <a:pPr algn="l">
              <a:lnSpc>
                <a:spcPts val="2023"/>
              </a:lnSpc>
              <a:spcBef>
                <a:spcPts val="0"/>
              </a:spcBef>
              <a:spcAft>
                <a:spcPts val="0"/>
              </a:spcAft>
            </a:pPr>
            <a:r>
              <a:rPr lang="vi-VN" sz="1700" b="0">
                <a:solidFill>
                  <a:srgbClr val="536373"/>
                </a:solidFill>
                <a:latin typeface="Arial"/>
              </a:rPr>
              <a:t>ích của xem và thêm giỏ.</a:t>
            </a:r>
          </a:p>
        </p:txBody>
      </p:sp>
      <p:sp>
        <p:nvSpPr>
          <p:cNvPr id="16" name="TextBox 17"/>
          <p:cNvSpPr txBox="1"/>
          <p:nvPr/>
        </p:nvSpPr>
        <p:spPr>
          <a:xfrm>
            <a:off x="8275320" y="2423160"/>
            <a:ext cx="3438144" cy="786384"/>
          </a:xfrm>
          <a:prstGeom prst="rect">
            <a:avLst/>
          </a:prstGeom>
          <a:noFill/>
          <a:effectLst/>
        </p:spPr>
        <p:txBody>
          <a:bodyPr wrap="none" lIns="0" tIns="0" rIns="0" bIns="0" anchor="t">
            <a:spAutoFit/>
          </a:bodyPr>
          <a:lstStyle/>
          <a:p>
            <a:pPr algn="l">
              <a:lnSpc>
                <a:spcPts val="4998"/>
              </a:lnSpc>
              <a:spcBef>
                <a:spcPts val="0"/>
              </a:spcBef>
              <a:spcAft>
                <a:spcPts val="0"/>
              </a:spcAft>
            </a:pPr>
            <a:r>
              <a:rPr lang="vi-VN" sz="4200" b="1">
                <a:solidFill>
                  <a:srgbClr val="003366"/>
                </a:solidFill>
                <a:latin typeface="Arial"/>
              </a:rPr>
              <a:t>49.815</a:t>
            </a:r>
          </a:p>
        </p:txBody>
      </p:sp>
      <p:sp>
        <p:nvSpPr>
          <p:cNvPr id="17" name="TextBox 18"/>
          <p:cNvSpPr txBox="1"/>
          <p:nvPr/>
        </p:nvSpPr>
        <p:spPr>
          <a:xfrm>
            <a:off x="8275320" y="3429000"/>
            <a:ext cx="3401568" cy="804672"/>
          </a:xfrm>
          <a:prstGeom prst="rect">
            <a:avLst/>
          </a:prstGeom>
          <a:noFill/>
          <a:effectLst/>
        </p:spPr>
        <p:txBody>
          <a:bodyPr wrap="none" lIns="0" tIns="0" rIns="0" bIns="0" anchor="t">
            <a:spAutoFit/>
          </a:bodyPr>
          <a:lstStyle/>
          <a:p>
            <a:pPr algn="l">
              <a:lnSpc>
                <a:spcPts val="2379"/>
              </a:lnSpc>
              <a:spcBef>
                <a:spcPts val="0"/>
              </a:spcBef>
              <a:spcAft>
                <a:spcPts val="0"/>
              </a:spcAft>
            </a:pPr>
            <a:r>
              <a:rPr lang="vi-VN" sz="2000" b="1">
                <a:solidFill>
                  <a:srgbClr val="003366"/>
                </a:solidFill>
                <a:latin typeface="Arial"/>
              </a:rPr>
              <a:t>item có log nhưng thiếu</a:t>
            </a:r>
          </a:p>
          <a:p>
            <a:pPr algn="l">
              <a:lnSpc>
                <a:spcPts val="2379"/>
              </a:lnSpc>
              <a:spcBef>
                <a:spcPts val="0"/>
              </a:spcBef>
              <a:spcAft>
                <a:spcPts val="0"/>
              </a:spcAft>
            </a:pPr>
            <a:r>
              <a:rPr lang="vi-VN" sz="2000" b="1">
                <a:solidFill>
                  <a:srgbClr val="003366"/>
                </a:solidFill>
                <a:latin typeface="Arial"/>
              </a:rPr>
              <a:t>categoryid ở mọi thời điểm</a:t>
            </a:r>
          </a:p>
        </p:txBody>
      </p:sp>
      <p:sp>
        <p:nvSpPr>
          <p:cNvPr id="18" name="Rectangle 19"/>
          <p:cNvSpPr/>
          <p:nvPr/>
        </p:nvSpPr>
        <p:spPr>
          <a:xfrm>
            <a:off x="8275320" y="4553712"/>
            <a:ext cx="3401568" cy="4114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20"/>
          <p:cNvSpPr txBox="1"/>
          <p:nvPr/>
        </p:nvSpPr>
        <p:spPr>
          <a:xfrm>
            <a:off x="8275320" y="4837176"/>
            <a:ext cx="3374136" cy="1005840"/>
          </a:xfrm>
          <a:prstGeom prst="rect">
            <a:avLst/>
          </a:prstGeom>
          <a:noFill/>
          <a:effectLst/>
        </p:spPr>
        <p:txBody>
          <a:bodyPr wrap="none" lIns="0" tIns="0" rIns="0" bIns="0" anchor="t">
            <a:spAutoFit/>
          </a:bodyPr>
          <a:lstStyle/>
          <a:p>
            <a:pPr algn="l">
              <a:lnSpc>
                <a:spcPts val="2023"/>
              </a:lnSpc>
              <a:spcBef>
                <a:spcPts val="0"/>
              </a:spcBef>
              <a:spcAft>
                <a:spcPts val="0"/>
              </a:spcAft>
            </a:pPr>
            <a:r>
              <a:rPr lang="vi-VN" sz="1700" b="0">
                <a:solidFill>
                  <a:srgbClr val="536373"/>
                </a:solidFill>
                <a:latin typeface="Arial"/>
              </a:rPr>
              <a:t>Giữ cờ unknown và có phương án</a:t>
            </a:r>
          </a:p>
          <a:p>
            <a:pPr algn="l">
              <a:lnSpc>
                <a:spcPts val="2023"/>
              </a:lnSpc>
              <a:spcBef>
                <a:spcPts val="0"/>
              </a:spcBef>
              <a:spcAft>
                <a:spcPts val="0"/>
              </a:spcAft>
            </a:pPr>
            <a:r>
              <a:rPr lang="vi-VN" sz="1700" b="0">
                <a:solidFill>
                  <a:srgbClr val="536373"/>
                </a:solidFill>
                <a:latin typeface="Arial"/>
              </a:rPr>
              <a:t>dự phòng khi thiếu danh mục.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03 / GIỚI HẠN DỮ LIỆU</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Phản hồi ngầm cần được diễn giải đúng.</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Đặc điểm dữ liệu quyết định cách tạo mẫu, mô hình và đánh giá.</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11 / 41</a:t>
            </a:r>
          </a:p>
        </p:txBody>
      </p:sp>
      <p:sp>
        <p:nvSpPr>
          <p:cNvPr id="105" name="heading-0-0">
            <a:extLst>
              <a:ext uri="{FF2B5EF4-FFF2-40B4-BE49-F238E27FC236}">
                <a16:creationId xmlns:a16="http://schemas.microsoft.com/office/drawing/2014/main" id="{FAFD4525-249A-453B-BCFF-212DD9C122D1}"/>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Không tương tác chưa phải không thích</a:t>
            </a:r>
          </a:p>
        </p:txBody>
      </p:sp>
      <p:sp>
        <p:nvSpPr>
          <p:cNvPr id="106" name="body-0-0">
            <a:extLst>
              <a:ext uri="{FF2B5EF4-FFF2-40B4-BE49-F238E27FC236}">
                <a16:creationId xmlns:a16="http://schemas.microsoft.com/office/drawing/2014/main" id="{8B73381D-C1D9-4D41-8ECE-68EA2AD0AE49}"/>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Người dùng có thể chưa thấy item hoặc chưa có nhu cầu. Không có nhãn không thích được xác nhận.</a:t>
            </a:r>
          </a:p>
        </p:txBody>
      </p:sp>
      <p:sp>
        <p:nvSpPr>
          <p:cNvPr id="107" name="heading-0-1">
            <a:extLst>
              <a:ext uri="{FF2B5EF4-FFF2-40B4-BE49-F238E27FC236}">
                <a16:creationId xmlns:a16="http://schemas.microsoft.com/office/drawing/2014/main" id="{FCE6BD9B-C3E5-4BE8-8292-B4506393541A}"/>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Giữ riêng ba loại hành vi</a:t>
            </a:r>
          </a:p>
        </p:txBody>
      </p:sp>
      <p:sp>
        <p:nvSpPr>
          <p:cNvPr id="108" name="body-0-1">
            <a:extLst>
              <a:ext uri="{FF2B5EF4-FFF2-40B4-BE49-F238E27FC236}">
                <a16:creationId xmlns:a16="http://schemas.microsoft.com/office/drawing/2014/main" id="{1E57A371-34B0-4835-AF00-869D638992F6}"/>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Chỉ học từ mua sẽ bỏ phần lớn dữ liệu. Cộng đều mọi hành vi có thể khiến lượt xem lấn át. Trọng số và embedding cần được kiểm chứng.</a:t>
            </a:r>
          </a:p>
        </p:txBody>
      </p:sp>
      <p:sp>
        <p:nvSpPr>
          <p:cNvPr id="109" name="heading-1-0">
            <a:extLst>
              <a:ext uri="{FF2B5EF4-FFF2-40B4-BE49-F238E27FC236}">
                <a16:creationId xmlns:a16="http://schemas.microsoft.com/office/drawing/2014/main" id="{FE53D387-A615-4216-B245-D615FA96ABDA}"/>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Khách ít lịch sử và metadata thiếu</a:t>
            </a:r>
          </a:p>
        </p:txBody>
      </p:sp>
      <p:sp>
        <p:nvSpPr>
          <p:cNvPr id="110" name="body-1-0">
            <a:extLst>
              <a:ext uri="{FF2B5EF4-FFF2-40B4-BE49-F238E27FC236}">
                <a16:creationId xmlns:a16="http://schemas.microsoft.com/office/drawing/2014/main" id="{8D95CB95-6508-4095-9430-989051D2F444}"/>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71,16% visitor có một sự kiện. 49.815 item trong log thiếu categoryid ở mọi thời điểm. Tại query cũng có thể chưa quan sát được thuộc tính.</a:t>
            </a:r>
          </a:p>
        </p:txBody>
      </p:sp>
      <p:sp>
        <p:nvSpPr>
          <p:cNvPr id="111" name="heading-1-1">
            <a:extLst>
              <a:ext uri="{FF2B5EF4-FFF2-40B4-BE49-F238E27FC236}">
                <a16:creationId xmlns:a16="http://schemas.microsoft.com/office/drawing/2014/main" id="{5D8E072A-9B31-4D34-9517-2F68C7AE04CF}"/>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Giới hạn ngữ nghĩa</a:t>
            </a:r>
          </a:p>
        </p:txBody>
      </p:sp>
      <p:sp>
        <p:nvSpPr>
          <p:cNvPr id="112" name="body-1-1">
            <a:extLst>
              <a:ext uri="{FF2B5EF4-FFF2-40B4-BE49-F238E27FC236}">
                <a16:creationId xmlns:a16="http://schemas.microsoft.com/office/drawing/2014/main" id="{63ABE402-37D8-462B-AECF-D3D3B82FBF23}"/>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ID và nhiều thuộc tính đã ẩn danh hoặc băm. Demo ưu tiên item_id. Không tự suy đoán tên, giá, thương hiệu hoặc ảnh sản phẩm.</a:t>
            </a:r>
          </a:p>
        </p:txBody>
      </p:sp>
      <p:sp>
        <p:nvSpPr>
          <p:cNvPr id="113" name="note">
            <a:extLst>
              <a:ext uri="{FF2B5EF4-FFF2-40B4-BE49-F238E27FC236}">
                <a16:creationId xmlns:a16="http://schemas.microsoft.com/office/drawing/2014/main" id="{7FB966FF-6EAF-48D9-A500-A1CAD62A8875}"/>
              </a:ext>
            </a:extLst>
          </p:cNvPr>
          <p:cNvSpPr>
            <a:spLocks noGrp="1"/>
          </p:cNvSpPr>
          <p:nvPr/>
        </p:nvSpPr>
        <p:spPr>
          <a:xfrm>
            <a:off x="533400" y="5953125"/>
            <a:ext cx="11106150" cy="304800"/>
          </a:xfrm>
          <a:prstGeom prst="rect">
            <a:avLst/>
          </a:prstGeom>
          <a:noFill/>
          <a:ln w="0">
            <a:noFill/>
            <a:prstDash val="solid"/>
          </a:ln>
        </p:spPr>
        <p:txBody>
          <a:bodyPr anchor="t"/>
          <a:lstStyle>
            <a:defPPr>
              <a:defRPr sz="900" b="0">
                <a:solidFill>
                  <a:srgbClr val="536373"/>
                </a:solidFill>
              </a:defRPr>
            </a:defPPr>
            <a:lvl1pPr>
              <a:defRPr sz="900" b="0">
                <a:solidFill>
                  <a:srgbClr val="536373"/>
                </a:solidFill>
              </a:defRPr>
            </a:lvl1pPr>
            <a:lvl2pPr>
              <a:defRPr sz="900" b="0">
                <a:solidFill>
                  <a:srgbClr val="536373"/>
                </a:solidFill>
              </a:defRPr>
            </a:lvl2pPr>
            <a:lvl3pPr>
              <a:defRPr sz="900" b="0">
                <a:solidFill>
                  <a:srgbClr val="536373"/>
                </a:solidFill>
              </a:defRPr>
            </a:lvl3pPr>
            <a:lvl4pPr>
              <a:defRPr sz="900" b="0">
                <a:solidFill>
                  <a:srgbClr val="536373"/>
                </a:solidFill>
              </a:defRPr>
            </a:lvl4pPr>
            <a:lvl5pPr>
              <a:defRPr sz="900" b="0">
                <a:solidFill>
                  <a:srgbClr val="536373"/>
                </a:solidFill>
              </a:defRPr>
            </a:lvl5pPr>
            <a:lvl6pPr>
              <a:defRPr sz="900" b="0">
                <a:solidFill>
                  <a:srgbClr val="536373"/>
                </a:solidFill>
              </a:defRPr>
            </a:lvl6pPr>
            <a:lvl7pPr>
              <a:defRPr sz="900" b="0">
                <a:solidFill>
                  <a:srgbClr val="536373"/>
                </a:solidFill>
              </a:defRPr>
            </a:lvl7pPr>
            <a:lvl8pPr>
              <a:defRPr sz="900" b="0">
                <a:solidFill>
                  <a:srgbClr val="536373"/>
                </a:solidFill>
              </a:defRPr>
            </a:lvl8pPr>
            <a:lvl9pPr>
              <a:defRPr sz="900" b="0">
                <a:solidFill>
                  <a:srgbClr val="536373"/>
                </a:solidFill>
              </a:defRPr>
            </a:lvl9pPr>
          </a:lstStyle>
          <a:p>
            <a:pPr>
              <a:defRPr sz="900" b="0">
                <a:solidFill>
                  <a:srgbClr val="536373"/>
                </a:solidFill>
              </a:defRPr>
            </a:pPr>
            <a:r>
              <a:rPr sz="900" b="0">
                <a:solidFill>
                  <a:srgbClr val="536373"/>
                </a:solidFill>
              </a:rPr>
              <a:t>Tỷ trọng sự kiện mua 0,81% không phải tỷ lệ chuyển đổi khách hàng.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20624" y="91440"/>
            <a:ext cx="11292840" cy="457200"/>
          </a:xfrm>
          <a:prstGeom prst="rect">
            <a:avLst/>
          </a:prstGeom>
          <a:noFill/>
          <a:effectLst/>
        </p:spPr>
        <p:txBody>
          <a:bodyPr wrap="none" lIns="0" tIns="0" rIns="0" bIns="0" anchor="ctr">
            <a:spAutoFit/>
          </a:bodyPr>
          <a:lstStyle/>
          <a:p>
            <a:pPr algn="l">
              <a:lnSpc>
                <a:spcPct val="105000"/>
              </a:lnSpc>
              <a:spcBef>
                <a:spcPts val="0"/>
              </a:spcBef>
              <a:spcAft>
                <a:spcPts val="0"/>
              </a:spcAft>
            </a:pPr>
            <a:r>
              <a:rPr lang="vi-VN" sz="2300" b="1">
                <a:solidFill>
                  <a:srgbClr val="FFFFFF"/>
                </a:solidFill>
                <a:latin typeface="Arial"/>
              </a:rPr>
              <a:t>04 / XỬ LÝ ĐÃ HOÀN THÀNH</a:t>
            </a:r>
          </a:p>
        </p:txBody>
      </p:sp>
      <p:sp>
        <p:nvSpPr>
          <p:cNvPr id="3" name="TextBox 3"/>
          <p:cNvSpPr txBox="1"/>
          <p:nvPr/>
        </p:nvSpPr>
        <p:spPr>
          <a:xfrm>
            <a:off x="512064" y="969264"/>
            <a:ext cx="11109960" cy="694944"/>
          </a:xfrm>
          <a:prstGeom prst="rect">
            <a:avLst/>
          </a:prstGeom>
          <a:noFill/>
          <a:effectLst/>
        </p:spPr>
        <p:txBody>
          <a:bodyPr wrap="none" lIns="0" tIns="0" rIns="0" bIns="0" anchor="t">
            <a:spAutoFit/>
          </a:bodyPr>
          <a:lstStyle/>
          <a:p>
            <a:pPr algn="l">
              <a:lnSpc>
                <a:spcPct val="105000"/>
              </a:lnSpc>
              <a:spcBef>
                <a:spcPts val="0"/>
              </a:spcBef>
              <a:spcAft>
                <a:spcPts val="0"/>
              </a:spcAft>
            </a:pPr>
            <a:r>
              <a:rPr lang="vi-VN" sz="2900" b="1">
                <a:solidFill>
                  <a:srgbClr val="003366"/>
                </a:solidFill>
                <a:latin typeface="Arial"/>
              </a:rPr>
              <a:t>Loại bản sao, bảo toàn tín hiệu hành vi.</a:t>
            </a:r>
          </a:p>
        </p:txBody>
      </p:sp>
      <p:sp>
        <p:nvSpPr>
          <p:cNvPr id="4" name="TextBox 4"/>
          <p:cNvSpPr txBox="1"/>
          <p:nvPr/>
        </p:nvSpPr>
        <p:spPr>
          <a:xfrm>
            <a:off x="539496" y="1783080"/>
            <a:ext cx="10972800" cy="329184"/>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536373"/>
                </a:solidFill>
                <a:latin typeface="Arial"/>
              </a:rPr>
              <a:t>Đã chạy lại trên CSV thật: bỏ 460 bản sao tuyệt đối, giữ ba loại hành vi và các lần lặp item.</a:t>
            </a:r>
          </a:p>
        </p:txBody>
      </p:sp>
      <p:sp>
        <p:nvSpPr>
          <p:cNvPr id="6" name="TextBox 7"/>
          <p:cNvSpPr txBox="1"/>
          <p:nvPr/>
        </p:nvSpPr>
        <p:spPr>
          <a:xfrm>
            <a:off x="10561320" y="6510528"/>
            <a:ext cx="1097280" cy="210312"/>
          </a:xfrm>
          <a:prstGeom prst="rect">
            <a:avLst/>
          </a:prstGeom>
          <a:noFill/>
          <a:effectLst/>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12 / 41</a:t>
            </a:r>
          </a:p>
        </p:txBody>
      </p:sp>
      <p:sp>
        <p:nvSpPr>
          <p:cNvPr id="8" name="TextBox 9"/>
          <p:cNvSpPr txBox="1"/>
          <p:nvPr/>
        </p:nvSpPr>
        <p:spPr>
          <a:xfrm>
            <a:off x="594360" y="2322576"/>
            <a:ext cx="2743200" cy="694944"/>
          </a:xfrm>
          <a:prstGeom prst="rect">
            <a:avLst/>
          </a:prstGeom>
          <a:noFill/>
          <a:effectLst/>
        </p:spPr>
        <p:txBody>
          <a:bodyPr wrap="none" lIns="0" tIns="0" rIns="0" bIns="0" anchor="t">
            <a:spAutoFit/>
          </a:bodyPr>
          <a:lstStyle/>
          <a:p>
            <a:pPr algn="l">
              <a:lnSpc>
                <a:spcPts val="4046"/>
              </a:lnSpc>
              <a:spcBef>
                <a:spcPts val="0"/>
              </a:spcBef>
              <a:spcAft>
                <a:spcPts val="0"/>
              </a:spcAft>
            </a:pPr>
            <a:r>
              <a:rPr lang="vi-VN" sz="3400" b="1">
                <a:solidFill>
                  <a:srgbClr val="003366"/>
                </a:solidFill>
                <a:latin typeface="Arial"/>
              </a:rPr>
              <a:t>2.756.101</a:t>
            </a:r>
          </a:p>
        </p:txBody>
      </p:sp>
      <p:sp>
        <p:nvSpPr>
          <p:cNvPr id="9" name="TextBox 10"/>
          <p:cNvSpPr txBox="1"/>
          <p:nvPr/>
        </p:nvSpPr>
        <p:spPr>
          <a:xfrm>
            <a:off x="594360" y="3108960"/>
            <a:ext cx="3429000" cy="329184"/>
          </a:xfrm>
          <a:prstGeom prst="rect">
            <a:avLst/>
          </a:prstGeom>
          <a:noFill/>
          <a:effectLst/>
        </p:spPr>
        <p:txBody>
          <a:bodyPr wrap="none" lIns="0" tIns="0" rIns="0" bIns="0" anchor="t">
            <a:spAutoFit/>
          </a:bodyPr>
          <a:lstStyle/>
          <a:p>
            <a:pPr algn="l">
              <a:lnSpc>
                <a:spcPts val="1904"/>
              </a:lnSpc>
              <a:spcBef>
                <a:spcPts val="0"/>
              </a:spcBef>
              <a:spcAft>
                <a:spcPts val="0"/>
              </a:spcAft>
            </a:pPr>
            <a:r>
              <a:rPr lang="vi-VN" sz="1600" b="0">
                <a:solidFill>
                  <a:srgbClr val="536373"/>
                </a:solidFill>
                <a:latin typeface="Arial"/>
              </a:rPr>
              <a:t>Sự kiện raw</a:t>
            </a:r>
          </a:p>
        </p:txBody>
      </p:sp>
      <p:sp>
        <p:nvSpPr>
          <p:cNvPr id="10" name="TextBox 11"/>
          <p:cNvSpPr txBox="1"/>
          <p:nvPr/>
        </p:nvSpPr>
        <p:spPr>
          <a:xfrm>
            <a:off x="4590288" y="2322576"/>
            <a:ext cx="2743200" cy="694944"/>
          </a:xfrm>
          <a:prstGeom prst="rect">
            <a:avLst/>
          </a:prstGeom>
          <a:noFill/>
          <a:effectLst/>
        </p:spPr>
        <p:txBody>
          <a:bodyPr wrap="none" lIns="0" tIns="0" rIns="0" bIns="0" anchor="t">
            <a:spAutoFit/>
          </a:bodyPr>
          <a:lstStyle/>
          <a:p>
            <a:pPr algn="l">
              <a:lnSpc>
                <a:spcPts val="4046"/>
              </a:lnSpc>
              <a:spcBef>
                <a:spcPts val="0"/>
              </a:spcBef>
              <a:spcAft>
                <a:spcPts val="0"/>
              </a:spcAft>
            </a:pPr>
            <a:r>
              <a:rPr lang="vi-VN" sz="3400" b="1">
                <a:solidFill>
                  <a:srgbClr val="C41230"/>
                </a:solidFill>
                <a:latin typeface="Arial"/>
              </a:rPr>
              <a:t>460</a:t>
            </a:r>
          </a:p>
        </p:txBody>
      </p:sp>
      <p:sp>
        <p:nvSpPr>
          <p:cNvPr id="11" name="TextBox 12"/>
          <p:cNvSpPr txBox="1"/>
          <p:nvPr/>
        </p:nvSpPr>
        <p:spPr>
          <a:xfrm>
            <a:off x="4590288" y="3108960"/>
            <a:ext cx="3429000" cy="329184"/>
          </a:xfrm>
          <a:prstGeom prst="rect">
            <a:avLst/>
          </a:prstGeom>
          <a:noFill/>
          <a:effectLst/>
        </p:spPr>
        <p:txBody>
          <a:bodyPr wrap="none" lIns="0" tIns="0" rIns="0" bIns="0" anchor="t">
            <a:spAutoFit/>
          </a:bodyPr>
          <a:lstStyle/>
          <a:p>
            <a:pPr algn="l">
              <a:lnSpc>
                <a:spcPts val="1904"/>
              </a:lnSpc>
              <a:spcBef>
                <a:spcPts val="0"/>
              </a:spcBef>
              <a:spcAft>
                <a:spcPts val="0"/>
              </a:spcAft>
            </a:pPr>
            <a:r>
              <a:rPr lang="vi-VN" sz="1600" b="0">
                <a:solidFill>
                  <a:srgbClr val="536373"/>
                </a:solidFill>
                <a:latin typeface="Arial"/>
              </a:rPr>
              <a:t>Bản sao bị loại</a:t>
            </a:r>
          </a:p>
        </p:txBody>
      </p:sp>
      <p:sp>
        <p:nvSpPr>
          <p:cNvPr id="12" name="TextBox 13"/>
          <p:cNvSpPr txBox="1"/>
          <p:nvPr/>
        </p:nvSpPr>
        <p:spPr>
          <a:xfrm>
            <a:off x="8174736" y="2322576"/>
            <a:ext cx="2743200" cy="694944"/>
          </a:xfrm>
          <a:prstGeom prst="rect">
            <a:avLst/>
          </a:prstGeom>
          <a:noFill/>
          <a:effectLst/>
        </p:spPr>
        <p:txBody>
          <a:bodyPr wrap="none" lIns="0" tIns="0" rIns="0" bIns="0" anchor="t">
            <a:spAutoFit/>
          </a:bodyPr>
          <a:lstStyle/>
          <a:p>
            <a:pPr algn="l">
              <a:lnSpc>
                <a:spcPts val="4046"/>
              </a:lnSpc>
              <a:spcBef>
                <a:spcPts val="0"/>
              </a:spcBef>
              <a:spcAft>
                <a:spcPts val="0"/>
              </a:spcAft>
            </a:pPr>
            <a:r>
              <a:rPr lang="vi-VN" sz="3400" b="1">
                <a:solidFill>
                  <a:srgbClr val="005A9C"/>
                </a:solidFill>
                <a:latin typeface="Arial"/>
              </a:rPr>
              <a:t>2.755.641</a:t>
            </a:r>
          </a:p>
        </p:txBody>
      </p:sp>
      <p:sp>
        <p:nvSpPr>
          <p:cNvPr id="13" name="TextBox 14"/>
          <p:cNvSpPr txBox="1"/>
          <p:nvPr/>
        </p:nvSpPr>
        <p:spPr>
          <a:xfrm>
            <a:off x="8174736" y="3108960"/>
            <a:ext cx="3429000" cy="329184"/>
          </a:xfrm>
          <a:prstGeom prst="rect">
            <a:avLst/>
          </a:prstGeom>
          <a:noFill/>
          <a:effectLst/>
        </p:spPr>
        <p:txBody>
          <a:bodyPr wrap="none" lIns="0" tIns="0" rIns="0" bIns="0" anchor="t">
            <a:spAutoFit/>
          </a:bodyPr>
          <a:lstStyle/>
          <a:p>
            <a:pPr algn="l">
              <a:lnSpc>
                <a:spcPts val="1904"/>
              </a:lnSpc>
              <a:spcBef>
                <a:spcPts val="0"/>
              </a:spcBef>
              <a:spcAft>
                <a:spcPts val="0"/>
              </a:spcAft>
            </a:pPr>
            <a:r>
              <a:rPr lang="vi-VN" sz="1600" b="0">
                <a:solidFill>
                  <a:srgbClr val="536373"/>
                </a:solidFill>
                <a:latin typeface="Arial"/>
              </a:rPr>
              <a:t>Sự kiện sạch</a:t>
            </a:r>
          </a:p>
        </p:txBody>
      </p:sp>
      <p:sp>
        <p:nvSpPr>
          <p:cNvPr id="14" name="TextBox 15"/>
          <p:cNvSpPr txBox="1"/>
          <p:nvPr/>
        </p:nvSpPr>
        <p:spPr>
          <a:xfrm>
            <a:off x="3767328" y="2386584"/>
            <a:ext cx="548640" cy="548640"/>
          </a:xfrm>
          <a:prstGeom prst="rect">
            <a:avLst/>
          </a:prstGeom>
          <a:noFill/>
          <a:effectLst/>
        </p:spPr>
        <p:txBody>
          <a:bodyPr wrap="none" lIns="0" tIns="0" rIns="0" bIns="0" anchor="t">
            <a:spAutoFit/>
          </a:bodyPr>
          <a:lstStyle/>
          <a:p>
            <a:pPr algn="ctr">
              <a:lnSpc>
                <a:spcPts val="3808"/>
              </a:lnSpc>
              <a:spcBef>
                <a:spcPts val="0"/>
              </a:spcBef>
              <a:spcAft>
                <a:spcPts val="0"/>
              </a:spcAft>
            </a:pPr>
            <a:r>
              <a:rPr lang="vi-VN" sz="3200" b="1">
                <a:solidFill>
                  <a:srgbClr val="536373"/>
                </a:solidFill>
                <a:latin typeface="Arial"/>
              </a:rPr>
              <a:t>−</a:t>
            </a:r>
          </a:p>
        </p:txBody>
      </p:sp>
      <p:sp>
        <p:nvSpPr>
          <p:cNvPr id="15" name="TextBox 16"/>
          <p:cNvSpPr txBox="1"/>
          <p:nvPr/>
        </p:nvSpPr>
        <p:spPr>
          <a:xfrm>
            <a:off x="7324344" y="2386584"/>
            <a:ext cx="548640" cy="548640"/>
          </a:xfrm>
          <a:prstGeom prst="rect">
            <a:avLst/>
          </a:prstGeom>
          <a:noFill/>
          <a:effectLst/>
        </p:spPr>
        <p:txBody>
          <a:bodyPr wrap="none" lIns="0" tIns="0" rIns="0" bIns="0" anchor="t">
            <a:spAutoFit/>
          </a:bodyPr>
          <a:lstStyle/>
          <a:p>
            <a:pPr algn="ctr">
              <a:lnSpc>
                <a:spcPts val="3808"/>
              </a:lnSpc>
              <a:spcBef>
                <a:spcPts val="0"/>
              </a:spcBef>
              <a:spcAft>
                <a:spcPts val="0"/>
              </a:spcAft>
            </a:pPr>
            <a:r>
              <a:rPr lang="vi-VN" sz="3200" b="1">
                <a:solidFill>
                  <a:srgbClr val="536373"/>
                </a:solidFill>
                <a:latin typeface="Arial"/>
              </a:rPr>
              <a:t>=</a:t>
            </a:r>
          </a:p>
        </p:txBody>
      </p:sp>
      <p:sp>
        <p:nvSpPr>
          <p:cNvPr id="16" name="Rectangle 17"/>
          <p:cNvSpPr/>
          <p:nvPr/>
        </p:nvSpPr>
        <p:spPr>
          <a:xfrm>
            <a:off x="594360" y="3776472"/>
            <a:ext cx="10991088" cy="502920"/>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8"/>
          <p:cNvSpPr txBox="1"/>
          <p:nvPr/>
        </p:nvSpPr>
        <p:spPr>
          <a:xfrm>
            <a:off x="722376" y="3931920"/>
            <a:ext cx="2121408" cy="292608"/>
          </a:xfrm>
          <a:prstGeom prst="rect">
            <a:avLst/>
          </a:prstGeom>
          <a:noFill/>
          <a:effectLst/>
        </p:spPr>
        <p:txBody>
          <a:bodyPr wrap="none" lIns="0" tIns="0" rIns="0" bIns="0" anchor="t">
            <a:spAutoFit/>
          </a:bodyPr>
          <a:lstStyle/>
          <a:p>
            <a:pPr algn="l">
              <a:lnSpc>
                <a:spcPts val="1618"/>
              </a:lnSpc>
              <a:spcBef>
                <a:spcPts val="0"/>
              </a:spcBef>
              <a:spcAft>
                <a:spcPts val="0"/>
              </a:spcAft>
            </a:pPr>
            <a:r>
              <a:rPr lang="vi-VN" sz="1360" b="1">
                <a:solidFill>
                  <a:srgbClr val="FFFFFF"/>
                </a:solidFill>
                <a:latin typeface="Arial"/>
              </a:rPr>
              <a:t>Công đoạn</a:t>
            </a:r>
          </a:p>
        </p:txBody>
      </p:sp>
      <p:sp>
        <p:nvSpPr>
          <p:cNvPr id="18" name="TextBox 19"/>
          <p:cNvSpPr txBox="1"/>
          <p:nvPr/>
        </p:nvSpPr>
        <p:spPr>
          <a:xfrm>
            <a:off x="3099816" y="3931920"/>
            <a:ext cx="4453128" cy="292608"/>
          </a:xfrm>
          <a:prstGeom prst="rect">
            <a:avLst/>
          </a:prstGeom>
          <a:noFill/>
          <a:effectLst/>
        </p:spPr>
        <p:txBody>
          <a:bodyPr wrap="none" lIns="0" tIns="0" rIns="0" bIns="0" anchor="t">
            <a:spAutoFit/>
          </a:bodyPr>
          <a:lstStyle/>
          <a:p>
            <a:pPr algn="l">
              <a:lnSpc>
                <a:spcPts val="1618"/>
              </a:lnSpc>
              <a:spcBef>
                <a:spcPts val="0"/>
              </a:spcBef>
              <a:spcAft>
                <a:spcPts val="0"/>
              </a:spcAft>
            </a:pPr>
            <a:r>
              <a:rPr lang="vi-VN" sz="1360" b="1">
                <a:solidFill>
                  <a:srgbClr val="FFFFFF"/>
                </a:solidFill>
                <a:latin typeface="Arial"/>
              </a:rPr>
              <a:t>Đã làm</a:t>
            </a:r>
          </a:p>
        </p:txBody>
      </p:sp>
      <p:sp>
        <p:nvSpPr>
          <p:cNvPr id="19" name="TextBox 20"/>
          <p:cNvSpPr txBox="1"/>
          <p:nvPr/>
        </p:nvSpPr>
        <p:spPr>
          <a:xfrm>
            <a:off x="7808976" y="3931920"/>
            <a:ext cx="3648455" cy="292608"/>
          </a:xfrm>
          <a:prstGeom prst="rect">
            <a:avLst/>
          </a:prstGeom>
          <a:noFill/>
          <a:effectLst/>
        </p:spPr>
        <p:txBody>
          <a:bodyPr wrap="none" lIns="0" tIns="0" rIns="0" bIns="0" anchor="t">
            <a:spAutoFit/>
          </a:bodyPr>
          <a:lstStyle/>
          <a:p>
            <a:pPr algn="l">
              <a:lnSpc>
                <a:spcPts val="1618"/>
              </a:lnSpc>
              <a:spcBef>
                <a:spcPts val="0"/>
              </a:spcBef>
              <a:spcAft>
                <a:spcPts val="0"/>
              </a:spcAft>
            </a:pPr>
            <a:r>
              <a:rPr lang="vi-VN" sz="1360" b="1">
                <a:solidFill>
                  <a:srgbClr val="FFFFFF"/>
                </a:solidFill>
                <a:latin typeface="Arial"/>
              </a:rPr>
              <a:t>Mục đích</a:t>
            </a:r>
          </a:p>
        </p:txBody>
      </p:sp>
      <p:sp>
        <p:nvSpPr>
          <p:cNvPr id="20" name="Rectangle 21"/>
          <p:cNvSpPr/>
          <p:nvPr/>
        </p:nvSpPr>
        <p:spPr>
          <a:xfrm>
            <a:off x="594360" y="4279392"/>
            <a:ext cx="10991088"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2"/>
          <p:cNvSpPr txBox="1"/>
          <p:nvPr/>
        </p:nvSpPr>
        <p:spPr>
          <a:xfrm>
            <a:off x="722376" y="4434840"/>
            <a:ext cx="2121408" cy="292608"/>
          </a:xfrm>
          <a:prstGeom prst="rect">
            <a:avLst/>
          </a:prstGeom>
          <a:noFill/>
          <a:effectLst/>
        </p:spPr>
        <p:txBody>
          <a:bodyPr wrap="none" lIns="0" tIns="0" rIns="0" bIns="0" anchor="t">
            <a:spAutoFit/>
          </a:bodyPr>
          <a:lstStyle/>
          <a:p>
            <a:pPr algn="l">
              <a:lnSpc>
                <a:spcPts val="1618"/>
              </a:lnSpc>
              <a:spcBef>
                <a:spcPts val="0"/>
              </a:spcBef>
              <a:spcAft>
                <a:spcPts val="0"/>
              </a:spcAft>
            </a:pPr>
            <a:r>
              <a:rPr lang="vi-VN" sz="1360" b="0">
                <a:solidFill>
                  <a:srgbClr val="003366"/>
                </a:solidFill>
                <a:latin typeface="Arial"/>
              </a:rPr>
              <a:t>Kiểm tra đầu vào</a:t>
            </a:r>
          </a:p>
        </p:txBody>
      </p:sp>
      <p:sp>
        <p:nvSpPr>
          <p:cNvPr id="22" name="TextBox 23"/>
          <p:cNvSpPr txBox="1"/>
          <p:nvPr/>
        </p:nvSpPr>
        <p:spPr>
          <a:xfrm>
            <a:off x="3099816" y="4434840"/>
            <a:ext cx="4453128" cy="292608"/>
          </a:xfrm>
          <a:prstGeom prst="rect">
            <a:avLst/>
          </a:prstGeom>
          <a:noFill/>
          <a:effectLst/>
        </p:spPr>
        <p:txBody>
          <a:bodyPr wrap="none" lIns="0" tIns="0" rIns="0" bIns="0" anchor="t">
            <a:spAutoFit/>
          </a:bodyPr>
          <a:lstStyle/>
          <a:p>
            <a:pPr algn="l">
              <a:lnSpc>
                <a:spcPts val="1618"/>
              </a:lnSpc>
              <a:spcBef>
                <a:spcPts val="0"/>
              </a:spcBef>
              <a:spcAft>
                <a:spcPts val="0"/>
              </a:spcAft>
            </a:pPr>
            <a:r>
              <a:rPr lang="vi-VN" sz="1360" b="0">
                <a:solidFill>
                  <a:srgbClr val="003366"/>
                </a:solidFill>
                <a:latin typeface="Arial"/>
              </a:rPr>
              <a:t>Schema, trường bắt buộc, 3 hành vi</a:t>
            </a:r>
          </a:p>
        </p:txBody>
      </p:sp>
      <p:sp>
        <p:nvSpPr>
          <p:cNvPr id="23" name="TextBox 24"/>
          <p:cNvSpPr txBox="1"/>
          <p:nvPr/>
        </p:nvSpPr>
        <p:spPr>
          <a:xfrm>
            <a:off x="7808976" y="4434840"/>
            <a:ext cx="3648455" cy="292608"/>
          </a:xfrm>
          <a:prstGeom prst="rect">
            <a:avLst/>
          </a:prstGeom>
          <a:noFill/>
          <a:effectLst/>
        </p:spPr>
        <p:txBody>
          <a:bodyPr wrap="none" lIns="0" tIns="0" rIns="0" bIns="0" anchor="t">
            <a:spAutoFit/>
          </a:bodyPr>
          <a:lstStyle/>
          <a:p>
            <a:pPr algn="l">
              <a:lnSpc>
                <a:spcPts val="1618"/>
              </a:lnSpc>
              <a:spcBef>
                <a:spcPts val="0"/>
              </a:spcBef>
              <a:spcAft>
                <a:spcPts val="0"/>
              </a:spcAft>
            </a:pPr>
            <a:r>
              <a:rPr lang="vi-VN" sz="1360" b="0">
                <a:solidFill>
                  <a:srgbClr val="003366"/>
                </a:solidFill>
                <a:latin typeface="Arial"/>
              </a:rPr>
              <a:t>Phát hiện sai nguồn hoặc sai dữ liệu</a:t>
            </a:r>
          </a:p>
        </p:txBody>
      </p:sp>
      <p:sp>
        <p:nvSpPr>
          <p:cNvPr id="24" name="Rectangle 25"/>
          <p:cNvSpPr/>
          <p:nvPr/>
        </p:nvSpPr>
        <p:spPr>
          <a:xfrm>
            <a:off x="594360" y="4782312"/>
            <a:ext cx="10991088" cy="502920"/>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6"/>
          <p:cNvSpPr txBox="1"/>
          <p:nvPr/>
        </p:nvSpPr>
        <p:spPr>
          <a:xfrm>
            <a:off x="722376" y="4937760"/>
            <a:ext cx="2121408" cy="292608"/>
          </a:xfrm>
          <a:prstGeom prst="rect">
            <a:avLst/>
          </a:prstGeom>
          <a:noFill/>
          <a:effectLst/>
        </p:spPr>
        <p:txBody>
          <a:bodyPr wrap="none" lIns="0" tIns="0" rIns="0" bIns="0" anchor="t">
            <a:spAutoFit/>
          </a:bodyPr>
          <a:lstStyle/>
          <a:p>
            <a:pPr algn="l">
              <a:lnSpc>
                <a:spcPts val="1618"/>
              </a:lnSpc>
              <a:spcBef>
                <a:spcPts val="0"/>
              </a:spcBef>
              <a:spcAft>
                <a:spcPts val="0"/>
              </a:spcAft>
            </a:pPr>
            <a:r>
              <a:rPr lang="vi-VN" sz="1360" b="0">
                <a:solidFill>
                  <a:srgbClr val="003366"/>
                </a:solidFill>
                <a:latin typeface="Arial"/>
              </a:rPr>
              <a:t>Thời gian và session</a:t>
            </a:r>
          </a:p>
        </p:txBody>
      </p:sp>
      <p:sp>
        <p:nvSpPr>
          <p:cNvPr id="26" name="TextBox 27"/>
          <p:cNvSpPr txBox="1"/>
          <p:nvPr/>
        </p:nvSpPr>
        <p:spPr>
          <a:xfrm>
            <a:off x="3099816" y="4937760"/>
            <a:ext cx="4453128" cy="292608"/>
          </a:xfrm>
          <a:prstGeom prst="rect">
            <a:avLst/>
          </a:prstGeom>
          <a:noFill/>
          <a:effectLst/>
        </p:spPr>
        <p:txBody>
          <a:bodyPr wrap="none" lIns="0" tIns="0" rIns="0" bIns="0" anchor="t">
            <a:spAutoFit/>
          </a:bodyPr>
          <a:lstStyle/>
          <a:p>
            <a:pPr algn="l">
              <a:lnSpc>
                <a:spcPts val="1618"/>
              </a:lnSpc>
              <a:spcBef>
                <a:spcPts val="0"/>
              </a:spcBef>
              <a:spcAft>
                <a:spcPts val="0"/>
              </a:spcAft>
            </a:pPr>
            <a:r>
              <a:rPr lang="vi-VN" sz="1360" b="0">
                <a:solidFill>
                  <a:srgbClr val="003366"/>
                </a:solidFill>
                <a:latin typeface="Arial"/>
              </a:rPr>
              <a:t>UTC; phiên mới khi nghỉ &gt; 30 phút</a:t>
            </a:r>
          </a:p>
        </p:txBody>
      </p:sp>
      <p:sp>
        <p:nvSpPr>
          <p:cNvPr id="27" name="TextBox 28"/>
          <p:cNvSpPr txBox="1"/>
          <p:nvPr/>
        </p:nvSpPr>
        <p:spPr>
          <a:xfrm>
            <a:off x="7808976" y="4937760"/>
            <a:ext cx="3648455" cy="292608"/>
          </a:xfrm>
          <a:prstGeom prst="rect">
            <a:avLst/>
          </a:prstGeom>
          <a:noFill/>
          <a:effectLst/>
        </p:spPr>
        <p:txBody>
          <a:bodyPr wrap="none" lIns="0" tIns="0" rIns="0" bIns="0" anchor="t">
            <a:spAutoFit/>
          </a:bodyPr>
          <a:lstStyle/>
          <a:p>
            <a:pPr algn="l">
              <a:lnSpc>
                <a:spcPts val="1618"/>
              </a:lnSpc>
              <a:spcBef>
                <a:spcPts val="0"/>
              </a:spcBef>
              <a:spcAft>
                <a:spcPts val="0"/>
              </a:spcAft>
            </a:pPr>
            <a:r>
              <a:rPr lang="vi-VN" sz="1360" b="0">
                <a:solidFill>
                  <a:srgbClr val="003366"/>
                </a:solidFill>
                <a:latin typeface="Arial"/>
              </a:rPr>
              <a:t>Tạo đơn vị truy cập và mốc quan sát</a:t>
            </a:r>
          </a:p>
        </p:txBody>
      </p:sp>
      <p:sp>
        <p:nvSpPr>
          <p:cNvPr id="28" name="Rectangle 29"/>
          <p:cNvSpPr/>
          <p:nvPr/>
        </p:nvSpPr>
        <p:spPr>
          <a:xfrm>
            <a:off x="594360" y="5285232"/>
            <a:ext cx="10991088"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30"/>
          <p:cNvSpPr txBox="1"/>
          <p:nvPr/>
        </p:nvSpPr>
        <p:spPr>
          <a:xfrm>
            <a:off x="722376" y="5440680"/>
            <a:ext cx="2121408" cy="292608"/>
          </a:xfrm>
          <a:prstGeom prst="rect">
            <a:avLst/>
          </a:prstGeom>
          <a:noFill/>
          <a:effectLst/>
        </p:spPr>
        <p:txBody>
          <a:bodyPr wrap="none" lIns="0" tIns="0" rIns="0" bIns="0" anchor="t">
            <a:spAutoFit/>
          </a:bodyPr>
          <a:lstStyle/>
          <a:p>
            <a:pPr algn="l">
              <a:lnSpc>
                <a:spcPts val="1618"/>
              </a:lnSpc>
              <a:spcBef>
                <a:spcPts val="0"/>
              </a:spcBef>
              <a:spcAft>
                <a:spcPts val="0"/>
              </a:spcAft>
            </a:pPr>
            <a:r>
              <a:rPr lang="vi-VN" sz="1360" b="0">
                <a:solidFill>
                  <a:srgbClr val="003366"/>
                </a:solidFill>
                <a:latin typeface="Arial"/>
              </a:rPr>
              <a:t>Thuộc tính theo thời gian</a:t>
            </a:r>
          </a:p>
        </p:txBody>
      </p:sp>
      <p:sp>
        <p:nvSpPr>
          <p:cNvPr id="30" name="TextBox 31"/>
          <p:cNvSpPr txBox="1"/>
          <p:nvPr/>
        </p:nvSpPr>
        <p:spPr>
          <a:xfrm>
            <a:off x="3099816" y="5440680"/>
            <a:ext cx="4453128" cy="292608"/>
          </a:xfrm>
          <a:prstGeom prst="rect">
            <a:avLst/>
          </a:prstGeom>
          <a:noFill/>
          <a:effectLst/>
        </p:spPr>
        <p:txBody>
          <a:bodyPr wrap="none" lIns="0" tIns="0" rIns="0" bIns="0" anchor="t">
            <a:spAutoFit/>
          </a:bodyPr>
          <a:lstStyle/>
          <a:p>
            <a:pPr algn="l">
              <a:lnSpc>
                <a:spcPts val="1618"/>
              </a:lnSpc>
              <a:spcBef>
                <a:spcPts val="0"/>
              </a:spcBef>
              <a:spcAft>
                <a:spcPts val="0"/>
              </a:spcAft>
            </a:pPr>
            <a:r>
              <a:rPr lang="vi-VN" sz="1360" b="0">
                <a:solidFill>
                  <a:srgbClr val="003366"/>
                </a:solidFill>
                <a:latin typeface="Arial"/>
              </a:rPr>
              <a:t>Giữ categoryid/available; tra gần nhất ≤ t</a:t>
            </a:r>
          </a:p>
        </p:txBody>
      </p:sp>
      <p:sp>
        <p:nvSpPr>
          <p:cNvPr id="31" name="TextBox 32"/>
          <p:cNvSpPr txBox="1"/>
          <p:nvPr/>
        </p:nvSpPr>
        <p:spPr>
          <a:xfrm>
            <a:off x="7808976" y="5440680"/>
            <a:ext cx="3648455" cy="292608"/>
          </a:xfrm>
          <a:prstGeom prst="rect">
            <a:avLst/>
          </a:prstGeom>
          <a:noFill/>
          <a:effectLst/>
        </p:spPr>
        <p:txBody>
          <a:bodyPr wrap="none" lIns="0" tIns="0" rIns="0" bIns="0" anchor="t">
            <a:spAutoFit/>
          </a:bodyPr>
          <a:lstStyle/>
          <a:p>
            <a:pPr algn="l">
              <a:lnSpc>
                <a:spcPts val="1618"/>
              </a:lnSpc>
              <a:spcBef>
                <a:spcPts val="0"/>
              </a:spcBef>
              <a:spcAft>
                <a:spcPts val="0"/>
              </a:spcAft>
            </a:pPr>
            <a:r>
              <a:rPr lang="vi-VN" sz="1360" b="0">
                <a:solidFill>
                  <a:srgbClr val="003366"/>
                </a:solidFill>
                <a:latin typeface="Arial"/>
              </a:rPr>
              <a:t>Giảm bộ làm việc, tránh dùng tương lai</a:t>
            </a:r>
          </a:p>
        </p:txBody>
      </p:sp>
      <p:sp>
        <p:nvSpPr>
          <p:cNvPr id="32" name="TextBox 33"/>
          <p:cNvSpPr txBox="1"/>
          <p:nvPr/>
        </p:nvSpPr>
        <p:spPr>
          <a:xfrm>
            <a:off x="603504" y="5925312"/>
            <a:ext cx="10954512" cy="265176"/>
          </a:xfrm>
          <a:prstGeom prst="rect">
            <a:avLst/>
          </a:prstGeom>
          <a:noFill/>
          <a:effectLst/>
        </p:spPr>
        <p:txBody>
          <a:bodyPr wrap="none" lIns="0" tIns="0" rIns="0" bIns="0" anchor="t">
            <a:spAutoFit/>
          </a:bodyPr>
          <a:lstStyle/>
          <a:p>
            <a:pPr algn="l">
              <a:lnSpc>
                <a:spcPts val="1487"/>
              </a:lnSpc>
              <a:spcBef>
                <a:spcPts val="0"/>
              </a:spcBef>
              <a:spcAft>
                <a:spcPts val="0"/>
              </a:spcAft>
            </a:pPr>
            <a:r>
              <a:rPr lang="vi-VN" sz="1250" b="0">
                <a:solidFill>
                  <a:srgbClr val="536373"/>
                </a:solidFill>
                <a:latin typeface="Arial"/>
              </a:rPr>
              <a:t>transactionid rỗng ở view/giỏ là hợp lệ. Chưa lọc bot hoặc áp ngưỡng tương tác tối thiểu.</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04 / LÀM SẠCH VÀ TẠO PHIÊN</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Kiểm tra đầu vào, loại đúng bản sao.</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Hiện thực tại clean_events() trong scripts/prepare_nextstep.py.</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13 / 41</a:t>
            </a:r>
          </a:p>
        </p:txBody>
      </p:sp>
      <p:sp>
        <p:nvSpPr>
          <p:cNvPr id="105" name="heading-0-0">
            <a:extLst>
              <a:ext uri="{FF2B5EF4-FFF2-40B4-BE49-F238E27FC236}">
                <a16:creationId xmlns:a16="http://schemas.microsoft.com/office/drawing/2014/main" id="{BE550E81-4C72-418C-8577-C2A6EC6DAC89}"/>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Kiểm tra schema và dữ liệu</a:t>
            </a:r>
          </a:p>
        </p:txBody>
      </p:sp>
      <p:sp>
        <p:nvSpPr>
          <p:cNvPr id="106" name="body-0-0">
            <a:extLst>
              <a:ext uri="{FF2B5EF4-FFF2-40B4-BE49-F238E27FC236}">
                <a16:creationId xmlns:a16="http://schemas.microsoft.com/office/drawing/2014/main" id="{120F0249-29EE-478E-934E-64671971F642}"/>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Giữ view, addtocart, transaction. Loại bản ghi thiếu timestamp, visitorid, event hoặc itemid. Transaction phải có transactionid; view và addtocart được phép NA.</a:t>
            </a:r>
          </a:p>
        </p:txBody>
      </p:sp>
      <p:sp>
        <p:nvSpPr>
          <p:cNvPr id="107" name="heading-0-1">
            <a:extLst>
              <a:ext uri="{FF2B5EF4-FFF2-40B4-BE49-F238E27FC236}">
                <a16:creationId xmlns:a16="http://schemas.microsoft.com/office/drawing/2014/main" id="{C6262484-4E4D-4650-86D1-C217CE134145}"/>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Khử trùng đúng 5 cột raw</a:t>
            </a:r>
          </a:p>
        </p:txBody>
      </p:sp>
      <p:sp>
        <p:nvSpPr>
          <p:cNvPr id="108" name="body-0-1">
            <a:extLst>
              <a:ext uri="{FF2B5EF4-FFF2-40B4-BE49-F238E27FC236}">
                <a16:creationId xmlns:a16="http://schemas.microsoft.com/office/drawing/2014/main" id="{BF125343-567A-405F-BB09-863A704EC4E5}"/>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Loại 460 dòng: 94 view và 366 addtocart. Không loại sự kiện mua do trùng. Còn 2.755.641 sự kiện sạch.</a:t>
            </a:r>
          </a:p>
        </p:txBody>
      </p:sp>
      <p:sp>
        <p:nvSpPr>
          <p:cNvPr id="109" name="heading-1-0">
            <a:extLst>
              <a:ext uri="{FF2B5EF4-FFF2-40B4-BE49-F238E27FC236}">
                <a16:creationId xmlns:a16="http://schemas.microsoft.com/office/drawing/2014/main" id="{967DEEA5-03A7-4517-85EF-6F37178BB5C2}"/>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Bảo toàn tín hiệu và thứ tự hòa</a:t>
            </a:r>
          </a:p>
        </p:txBody>
      </p:sp>
      <p:sp>
        <p:nvSpPr>
          <p:cNvPr id="110" name="body-1-0">
            <a:extLst>
              <a:ext uri="{FF2B5EF4-FFF2-40B4-BE49-F238E27FC236}">
                <a16:creationId xmlns:a16="http://schemas.microsoft.com/office/drawing/2014/main" id="{BE4A0521-9927-458D-8E5E-955925928DB3}"/>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Giữ tương tác cùng visitor-item ở thời điểm khác. event_id là thứ tự lưu từ raw; không chứng minh thứ tự nhân quả trong nhóm đồng thời.</a:t>
            </a:r>
          </a:p>
        </p:txBody>
      </p:sp>
      <p:sp>
        <p:nvSpPr>
          <p:cNvPr id="111" name="heading-1-1">
            <a:extLst>
              <a:ext uri="{FF2B5EF4-FFF2-40B4-BE49-F238E27FC236}">
                <a16:creationId xmlns:a16="http://schemas.microsoft.com/office/drawing/2014/main" id="{AF7B93EC-EA85-4E9D-BA72-52CB7882F961}"/>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Chuẩn hóa phiên</a:t>
            </a:r>
          </a:p>
        </p:txBody>
      </p:sp>
      <p:sp>
        <p:nvSpPr>
          <p:cNvPr id="112" name="body-1-1">
            <a:extLst>
              <a:ext uri="{FF2B5EF4-FFF2-40B4-BE49-F238E27FC236}">
                <a16:creationId xmlns:a16="http://schemas.microsoft.com/office/drawing/2014/main" id="{EDF328CC-2D38-41D1-B3C2-A7A6D3DED7B5}"/>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UTC, sắp xếp visitorid, event_time, event_id. Phiên mới khi gap &gt; 30 phút hoặc tương tác đầu tiên. Chưa lọc bot hay loại hàng loạt khách ít lịch sử.</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04 / BIỂU DIỄN TƯƠNG TÁC TRAIN</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Hai cấu trúc giữ tín hiệu đa hành vi.</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train_tables() đã chạy trên dữ liệu thật; không dùng tổng hợp cuối train làm feature cho mọi query sớm hơn.</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14 / 41</a:t>
            </a:r>
          </a:p>
        </p:txBody>
      </p:sp>
      <p:sp>
        <p:nvSpPr>
          <p:cNvPr id="105" name="heading-0-0">
            <a:extLst>
              <a:ext uri="{FF2B5EF4-FFF2-40B4-BE49-F238E27FC236}">
                <a16:creationId xmlns:a16="http://schemas.microsoft.com/office/drawing/2014/main" id="{3A963445-303D-4147-B44B-F55137B2D4A0}"/>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interactions_train.parquet</a:t>
            </a:r>
          </a:p>
        </p:txBody>
      </p:sp>
      <p:sp>
        <p:nvSpPr>
          <p:cNvPr id="106" name="body-0-0">
            <a:extLst>
              <a:ext uri="{FF2B5EF4-FFF2-40B4-BE49-F238E27FC236}">
                <a16:creationId xmlns:a16="http://schemas.microsoft.com/office/drawing/2014/main" id="{71AC5C81-61A7-4280-8AA1-8C0971FE20B2}"/>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1.713.144 cặp visitor–item train. Đếm hành vi, thời điểm cuối và recency_hours tại cutoff train.</a:t>
            </a:r>
          </a:p>
        </p:txBody>
      </p:sp>
      <p:sp>
        <p:nvSpPr>
          <p:cNvPr id="107" name="heading-0-1">
            <a:extLst>
              <a:ext uri="{FF2B5EF4-FFF2-40B4-BE49-F238E27FC236}">
                <a16:creationId xmlns:a16="http://schemas.microsoft.com/office/drawing/2014/main" id="{1D3BDB92-8755-4007-962A-46C7ACF25A8E}"/>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Điểm tổng hợp theo cấu hình</a:t>
            </a:r>
          </a:p>
        </p:txBody>
      </p:sp>
      <p:sp>
        <p:nvSpPr>
          <p:cNvPr id="108" name="body-0-1">
            <a:extLst>
              <a:ext uri="{FF2B5EF4-FFF2-40B4-BE49-F238E27FC236}">
                <a16:creationId xmlns:a16="http://schemas.microsoft.com/office/drawing/2014/main" id="{B1B42C06-B3E5-4D98-8CFF-59CE4D537C56}"/>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score = 1×log(1+view)</a:t>
            </a:r>
          </a:p>
          <a:p>
            <a:pPr>
              <a:defRPr sz="1388" b="0">
                <a:solidFill>
                  <a:srgbClr val="536373"/>
                </a:solidFill>
              </a:defRPr>
            </a:pPr>
            <a:r>
              <a:rPr sz="1388" b="0">
                <a:solidFill>
                  <a:srgbClr val="536373"/>
                </a:solidFill>
              </a:rPr>
              <a:t>          + 3×log(1+addtocart)</a:t>
            </a:r>
          </a:p>
          <a:p>
            <a:pPr>
              <a:defRPr sz="1388" b="0">
                <a:solidFill>
                  <a:srgbClr val="536373"/>
                </a:solidFill>
              </a:defRPr>
            </a:pPr>
            <a:r>
              <a:rPr sz="1388" b="0">
                <a:solidFill>
                  <a:srgbClr val="536373"/>
                </a:solidFill>
              </a:rPr>
              <a:t>          + 5×log(1+transaction)</a:t>
            </a:r>
          </a:p>
          <a:p>
            <a:pPr>
              <a:defRPr sz="1388" b="0">
                <a:solidFill>
                  <a:srgbClr val="536373"/>
                </a:solidFill>
              </a:defRPr>
            </a:pPr>
            <a:r>
              <a:rPr sz="1388" b="0">
                <a:solidFill>
                  <a:srgbClr val="536373"/>
                </a:solidFill>
              </a:rPr>
              <a:t>Trọng số [1, 3, 5] là quy ước hiện tại, chưa được chứng minh tối ưu.</a:t>
            </a:r>
          </a:p>
        </p:txBody>
      </p:sp>
      <p:sp>
        <p:nvSpPr>
          <p:cNvPr id="109" name="heading-1-0">
            <a:extLst>
              <a:ext uri="{FF2B5EF4-FFF2-40B4-BE49-F238E27FC236}">
                <a16:creationId xmlns:a16="http://schemas.microsoft.com/office/drawing/2014/main" id="{100CAE4A-A3F9-40AF-9C53-E9DE6BB2380D}"/>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behavior_edges_train.parquet</a:t>
            </a:r>
          </a:p>
        </p:txBody>
      </p:sp>
      <p:sp>
        <p:nvSpPr>
          <p:cNvPr id="110" name="body-1-0">
            <a:extLst>
              <a:ext uri="{FF2B5EF4-FFF2-40B4-BE49-F238E27FC236}">
                <a16:creationId xmlns:a16="http://schemas.microsoft.com/office/drawing/2014/main" id="{ECA729A4-0FD6-4A56-BC52-32D946367D55}"/>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1.769.390 cạnh visitor–item–behavior. Không phải đồ thị chuyển tiếp item của SR-GNN; đồ thị đó phải dựng riêng từ prefix.</a:t>
            </a:r>
          </a:p>
        </p:txBody>
      </p:sp>
      <p:sp>
        <p:nvSpPr>
          <p:cNvPr id="111" name="heading-1-1">
            <a:extLst>
              <a:ext uri="{FF2B5EF4-FFF2-40B4-BE49-F238E27FC236}">
                <a16:creationId xmlns:a16="http://schemas.microsoft.com/office/drawing/2014/main" id="{7F25C3C1-F291-420C-9582-219AFD207FD4}"/>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Từ vựng định danh</a:t>
            </a:r>
          </a:p>
        </p:txBody>
      </p:sp>
      <p:sp>
        <p:nvSpPr>
          <p:cNvPr id="112" name="body-1-1">
            <a:extLst>
              <a:ext uri="{FF2B5EF4-FFF2-40B4-BE49-F238E27FC236}">
                <a16:creationId xmlns:a16="http://schemas.microsoft.com/office/drawing/2014/main" id="{911DAC72-F2DE-44AE-B5DF-FDAD91097281}"/>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user_mapping: 1.123.755 visitor.</a:t>
            </a:r>
          </a:p>
          <a:p>
            <a:pPr>
              <a:defRPr sz="1388" b="0">
                <a:solidFill>
                  <a:srgbClr val="536373"/>
                </a:solidFill>
              </a:defRPr>
            </a:pPr>
            <a:r>
              <a:rPr sz="1388" b="0">
                <a:solidFill>
                  <a:srgbClr val="536373"/>
                </a:solidFill>
              </a:rPr>
              <a:t>item_mapping: 212.915 item train.</a:t>
            </a:r>
          </a:p>
          <a:p>
            <a:pPr>
              <a:defRPr sz="1388" b="0">
                <a:solidFill>
                  <a:srgbClr val="536373"/>
                </a:solidFill>
              </a:defRPr>
            </a:pPr>
            <a:r>
              <a:rPr sz="1388" b="0">
                <a:solidFill>
                  <a:srgbClr val="536373"/>
                </a:solidFill>
              </a:rPr>
              <a:t>PAD=0, UNK=1; ID đã biết bắt đầu từ 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04 / THUỘC TÍNH VÀ CATALOG</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Thu gọn hơn 20 triệu cập nhật thuộc tính.</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read_properties(), build_catalog(), build_category_tree(); số lượng xác nhận từ lần chạy CSV thật.</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15 / 41</a:t>
            </a:r>
          </a:p>
        </p:txBody>
      </p:sp>
      <p:sp>
        <p:nvSpPr>
          <p:cNvPr id="105" name="heading-0-0">
            <a:extLst>
              <a:ext uri="{FF2B5EF4-FFF2-40B4-BE49-F238E27FC236}">
                <a16:creationId xmlns:a16="http://schemas.microsoft.com/office/drawing/2014/main" id="{E238C942-140E-4946-B0AB-2EEF3E2E9C6F}"/>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Đọc dữ liệu theo khối</a:t>
            </a:r>
          </a:p>
        </p:txBody>
      </p:sp>
      <p:sp>
        <p:nvSpPr>
          <p:cNvPr id="106" name="body-0-0">
            <a:extLst>
              <a:ext uri="{FF2B5EF4-FFF2-40B4-BE49-F238E27FC236}">
                <a16:creationId xmlns:a16="http://schemas.microsoft.com/office/drawing/2014/main" id="{1867C068-F32A-499F-A769-7CF43064FFC5}"/>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20.275.902 dòng raw, chunk 1.000.000 dòng. Chỉ giữ categoryid và available, loại giá trị rỗng và bản sao.</a:t>
            </a:r>
          </a:p>
        </p:txBody>
      </p:sp>
      <p:sp>
        <p:nvSpPr>
          <p:cNvPr id="107" name="heading-0-1">
            <a:extLst>
              <a:ext uri="{FF2B5EF4-FFF2-40B4-BE49-F238E27FC236}">
                <a16:creationId xmlns:a16="http://schemas.microsoft.com/office/drawing/2014/main" id="{5DBBC109-83C1-4FE5-84BA-F754A22607BE}"/>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property_history.parquet</a:t>
            </a:r>
          </a:p>
        </p:txBody>
      </p:sp>
      <p:sp>
        <p:nvSpPr>
          <p:cNvPr id="108" name="body-0-1">
            <a:extLst>
              <a:ext uri="{FF2B5EF4-FFF2-40B4-BE49-F238E27FC236}">
                <a16:creationId xmlns:a16="http://schemas.microsoft.com/office/drawing/2014/main" id="{23E24022-A11B-454E-8F2A-AFCC2AF61563}"/>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2.291.853 bản cập nhật hợp lệ; available chỉ 0/1. Hiệu lực [property_time, valid_to), không lấp bằng dữ liệu tương lai.</a:t>
            </a:r>
          </a:p>
        </p:txBody>
      </p:sp>
      <p:sp>
        <p:nvSpPr>
          <p:cNvPr id="109" name="heading-1-0">
            <a:extLst>
              <a:ext uri="{FF2B5EF4-FFF2-40B4-BE49-F238E27FC236}">
                <a16:creationId xmlns:a16="http://schemas.microsoft.com/office/drawing/2014/main" id="{EB15EE7A-2597-47CB-8F15-15FF4B514EA5}"/>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catalog.parquet</a:t>
            </a:r>
          </a:p>
        </p:txBody>
      </p:sp>
      <p:sp>
        <p:nvSpPr>
          <p:cNvPr id="110" name="body-1-0">
            <a:extLst>
              <a:ext uri="{FF2B5EF4-FFF2-40B4-BE49-F238E27FC236}">
                <a16:creationId xmlns:a16="http://schemas.microsoft.com/office/drawing/2014/main" id="{ABDC1901-B4FD-403F-912E-7DBC40AFBA9F}"/>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466.868 item từ hợp log và thuộc tính. known_at là lần quan sát đầu; seen_in_train chỉ item có tương tác train.</a:t>
            </a:r>
          </a:p>
        </p:txBody>
      </p:sp>
      <p:sp>
        <p:nvSpPr>
          <p:cNvPr id="111" name="heading-1-1">
            <a:extLst>
              <a:ext uri="{FF2B5EF4-FFF2-40B4-BE49-F238E27FC236}">
                <a16:creationId xmlns:a16="http://schemas.microsoft.com/office/drawing/2014/main" id="{A40F5CFB-0AFD-4A35-AF7B-1EC234E6BBD9}"/>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category_tree.parquet</a:t>
            </a:r>
          </a:p>
        </p:txBody>
      </p:sp>
      <p:sp>
        <p:nvSpPr>
          <p:cNvPr id="112" name="body-1-1">
            <a:extLst>
              <a:ext uri="{FF2B5EF4-FFF2-40B4-BE49-F238E27FC236}">
                <a16:creationId xmlns:a16="http://schemas.microsoft.com/office/drawing/2014/main" id="{6936F62A-1222-4EA8-B22E-DE2905AA1077}"/>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1.669 dòng. Kiểm tra khóa duy nhất, không rỗng, không chu trình và không thiếu cha. Bổ sung root_category_id, category_depth, category_path.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04 / METADATA THEO THỜI ĐIỂM</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Mỗi query chỉ dùng thuộc tính đã biết tại t.</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lookup_metadata() tra bản cập nhật gần nhất không vượt query_time; đã xác minh trên dữ liệu thật.</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16 / 41</a:t>
            </a:r>
          </a:p>
        </p:txBody>
      </p:sp>
      <p:sp>
        <p:nvSpPr>
          <p:cNvPr id="105" name="heading-0-0">
            <a:extLst>
              <a:ext uri="{FF2B5EF4-FFF2-40B4-BE49-F238E27FC236}">
                <a16:creationId xmlns:a16="http://schemas.microsoft.com/office/drawing/2014/main" id="{11741948-1EBC-4E64-A567-1941CD578DD8}"/>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Quy tắc as-of</a:t>
            </a:r>
          </a:p>
        </p:txBody>
      </p:sp>
      <p:sp>
        <p:nvSpPr>
          <p:cNvPr id="106" name="body-0-0">
            <a:extLst>
              <a:ext uri="{FF2B5EF4-FFF2-40B4-BE49-F238E27FC236}">
                <a16:creationId xmlns:a16="http://schemas.microsoft.com/office/drawing/2014/main" id="{27B2E2C1-58E4-4C57-ABAF-46B8B1CD2F04}"/>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Với mỗi item, chọn bản ghi mới nhất có property_time ≤ query_time. Không lấy thuộc tính tương lai điền vào quá khứ.</a:t>
            </a:r>
          </a:p>
        </p:txBody>
      </p:sp>
      <p:sp>
        <p:nvSpPr>
          <p:cNvPr id="107" name="heading-0-1">
            <a:extLst>
              <a:ext uri="{FF2B5EF4-FFF2-40B4-BE49-F238E27FC236}">
                <a16:creationId xmlns:a16="http://schemas.microsoft.com/office/drawing/2014/main" id="{3805C2B5-655A-4054-ABB7-C54A47FFB482}"/>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Ví dụ minh họa</a:t>
            </a:r>
          </a:p>
        </p:txBody>
      </p:sp>
      <p:sp>
        <p:nvSpPr>
          <p:cNvPr id="108" name="body-0-1">
            <a:extLst>
              <a:ext uri="{FF2B5EF4-FFF2-40B4-BE49-F238E27FC236}">
                <a16:creationId xmlns:a16="http://schemas.microsoft.com/office/drawing/2014/main" id="{468D4965-D8AC-48C5-AA17-F7A104C6C2B2}"/>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09:00 available = 1.</a:t>
            </a:r>
          </a:p>
          <a:p>
            <a:pPr>
              <a:defRPr sz="1388" b="0">
                <a:solidFill>
                  <a:srgbClr val="536373"/>
                </a:solidFill>
              </a:defRPr>
            </a:pPr>
            <a:r>
              <a:rPr sz="1388" b="0">
                <a:solidFill>
                  <a:srgbClr val="536373"/>
                </a:solidFill>
              </a:rPr>
              <a:t>11:00 available = 0.</a:t>
            </a:r>
          </a:p>
          <a:p>
            <a:pPr>
              <a:defRPr sz="1388" b="0">
                <a:solidFill>
                  <a:srgbClr val="536373"/>
                </a:solidFill>
              </a:defRPr>
            </a:pPr>
            <a:r>
              <a:rPr sz="1388" b="0">
                <a:solidFill>
                  <a:srgbClr val="536373"/>
                </a:solidFill>
              </a:rPr>
              <a:t>Query lúc 10:00 dùng giá trị 1 của 09:00. Đây là ví dụ tự xây dựng.</a:t>
            </a:r>
          </a:p>
        </p:txBody>
      </p:sp>
      <p:sp>
        <p:nvSpPr>
          <p:cNvPr id="109" name="heading-1-0">
            <a:extLst>
              <a:ext uri="{FF2B5EF4-FFF2-40B4-BE49-F238E27FC236}">
                <a16:creationId xmlns:a16="http://schemas.microsoft.com/office/drawing/2014/main" id="{73F578E1-3B93-4E0C-A301-E13EDE2E705A}"/>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Snapshot train</a:t>
            </a:r>
          </a:p>
        </p:txBody>
      </p:sp>
      <p:sp>
        <p:nvSpPr>
          <p:cNvPr id="110" name="body-1-0">
            <a:extLst>
              <a:ext uri="{FF2B5EF4-FFF2-40B4-BE49-F238E27FC236}">
                <a16:creationId xmlns:a16="http://schemas.microsoft.com/office/drawing/2014/main" id="{FB63E8F0-61D6-4D3F-8BFC-A687131F9693}"/>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456.974 item đã biết tại train_end. Snapshot chỉ mô tả cutoff; không thay metadata từng query validation/test.</a:t>
            </a:r>
          </a:p>
        </p:txBody>
      </p:sp>
      <p:sp>
        <p:nvSpPr>
          <p:cNvPr id="111" name="heading-1-1">
            <a:extLst>
              <a:ext uri="{FF2B5EF4-FFF2-40B4-BE49-F238E27FC236}">
                <a16:creationId xmlns:a16="http://schemas.microsoft.com/office/drawing/2014/main" id="{B5DD9B99-9FAF-47EA-9018-1D5EF6DB2B52}"/>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Trạng thái unknown</a:t>
            </a:r>
          </a:p>
        </p:txBody>
      </p:sp>
      <p:sp>
        <p:nvSpPr>
          <p:cNvPr id="112" name="body-1-1">
            <a:extLst>
              <a:ext uri="{FF2B5EF4-FFF2-40B4-BE49-F238E27FC236}">
                <a16:creationId xmlns:a16="http://schemas.microsoft.com/office/drawing/2014/main" id="{A53C7F22-D5E9-4661-8961-85AF41A1D8B9}"/>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Trong item train ở snapshot: 20,84% chưa rõ availability, 20,96% chưa rõ danh mục. Giữ các cờ unknown/missing/invalid.</a:t>
            </a:r>
          </a:p>
        </p:txBody>
      </p:sp>
      <p:sp>
        <p:nvSpPr>
          <p:cNvPr id="113" name="note">
            <a:extLst>
              <a:ext uri="{FF2B5EF4-FFF2-40B4-BE49-F238E27FC236}">
                <a16:creationId xmlns:a16="http://schemas.microsoft.com/office/drawing/2014/main" id="{C96E4260-70A9-482C-A4F5-296F7B359043}"/>
              </a:ext>
            </a:extLst>
          </p:cNvPr>
          <p:cNvSpPr>
            <a:spLocks noGrp="1"/>
          </p:cNvSpPr>
          <p:nvPr/>
        </p:nvSpPr>
        <p:spPr>
          <a:xfrm>
            <a:off x="533400" y="5953125"/>
            <a:ext cx="11106150" cy="304800"/>
          </a:xfrm>
          <a:prstGeom prst="rect">
            <a:avLst/>
          </a:prstGeom>
          <a:noFill/>
          <a:ln w="0">
            <a:noFill/>
            <a:prstDash val="solid"/>
          </a:ln>
        </p:spPr>
        <p:txBody>
          <a:bodyPr anchor="t"/>
          <a:lstStyle>
            <a:defPPr>
              <a:defRPr sz="900" b="0">
                <a:solidFill>
                  <a:srgbClr val="536373"/>
                </a:solidFill>
              </a:defRPr>
            </a:defPPr>
            <a:lvl1pPr>
              <a:defRPr sz="900" b="0">
                <a:solidFill>
                  <a:srgbClr val="536373"/>
                </a:solidFill>
              </a:defRPr>
            </a:lvl1pPr>
            <a:lvl2pPr>
              <a:defRPr sz="900" b="0">
                <a:solidFill>
                  <a:srgbClr val="536373"/>
                </a:solidFill>
              </a:defRPr>
            </a:lvl2pPr>
            <a:lvl3pPr>
              <a:defRPr sz="900" b="0">
                <a:solidFill>
                  <a:srgbClr val="536373"/>
                </a:solidFill>
              </a:defRPr>
            </a:lvl3pPr>
            <a:lvl4pPr>
              <a:defRPr sz="900" b="0">
                <a:solidFill>
                  <a:srgbClr val="536373"/>
                </a:solidFill>
              </a:defRPr>
            </a:lvl4pPr>
            <a:lvl5pPr>
              <a:defRPr sz="900" b="0">
                <a:solidFill>
                  <a:srgbClr val="536373"/>
                </a:solidFill>
              </a:defRPr>
            </a:lvl5pPr>
            <a:lvl6pPr>
              <a:defRPr sz="900" b="0">
                <a:solidFill>
                  <a:srgbClr val="536373"/>
                </a:solidFill>
              </a:defRPr>
            </a:lvl6pPr>
            <a:lvl7pPr>
              <a:defRPr sz="900" b="0">
                <a:solidFill>
                  <a:srgbClr val="536373"/>
                </a:solidFill>
              </a:defRPr>
            </a:lvl7pPr>
            <a:lvl8pPr>
              <a:defRPr sz="900" b="0">
                <a:solidFill>
                  <a:srgbClr val="536373"/>
                </a:solidFill>
              </a:defRPr>
            </a:lvl8pPr>
            <a:lvl9pPr>
              <a:defRPr sz="900" b="0">
                <a:solidFill>
                  <a:srgbClr val="536373"/>
                </a:solidFill>
              </a:defRPr>
            </a:lvl9pPr>
          </a:lstStyle>
          <a:p>
            <a:pPr>
              <a:defRPr sz="900" b="0">
                <a:solidFill>
                  <a:srgbClr val="536373"/>
                </a:solidFill>
              </a:defRPr>
            </a:pPr>
            <a:r>
              <a:rPr sz="900" b="0">
                <a:solidFill>
                  <a:srgbClr val="536373"/>
                </a:solidFill>
              </a:rPr>
              <a:t>Trạng thái gần nhất trong log không bảo đảm phản ánh mọi thay đổi thực tế chưa ghi nhận.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04 / ĐIỀU KIỆN ỨNG VIÊN</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Ứng viên hợp lệ phụ thuộc thời điểm query.</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Quy tắc dùng chung qua scripts/dataset.py.</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17 / 41</a:t>
            </a:r>
          </a:p>
        </p:txBody>
      </p:sp>
      <p:sp>
        <p:nvSpPr>
          <p:cNvPr id="105" name="heading-0-0">
            <a:extLst>
              <a:ext uri="{FF2B5EF4-FFF2-40B4-BE49-F238E27FC236}">
                <a16:creationId xmlns:a16="http://schemas.microsoft.com/office/drawing/2014/main" id="{F1BEDF46-3AB7-4ECF-8969-DFFB05617364}"/>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Điều kiện đồng thời</a:t>
            </a:r>
          </a:p>
        </p:txBody>
      </p:sp>
      <p:sp>
        <p:nvSpPr>
          <p:cNvPr id="106" name="body-0-0">
            <a:extLst>
              <a:ext uri="{FF2B5EF4-FFF2-40B4-BE49-F238E27FC236}">
                <a16:creationId xmlns:a16="http://schemas.microsoft.com/office/drawing/2014/main" id="{68F2149F-C951-4CDA-8028-F1E298193252}"/>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known_at ≤ query_time.</a:t>
            </a:r>
          </a:p>
          <a:p>
            <a:pPr>
              <a:defRPr sz="1388" b="0">
                <a:solidFill>
                  <a:srgbClr val="536373"/>
                </a:solidFill>
              </a:defRPr>
            </a:pPr>
            <a:r>
              <a:rPr sz="1388" b="0">
                <a:solidFill>
                  <a:srgbClr val="536373"/>
                </a:solidFill>
              </a:rPr>
              <a:t>Giá trị available gần nhất là 1 hoặc chưa biết. Loại item có available = 0 tại t.</a:t>
            </a:r>
          </a:p>
        </p:txBody>
      </p:sp>
      <p:sp>
        <p:nvSpPr>
          <p:cNvPr id="107" name="heading-0-1">
            <a:extLst>
              <a:ext uri="{FF2B5EF4-FFF2-40B4-BE49-F238E27FC236}">
                <a16:creationId xmlns:a16="http://schemas.microsoft.com/office/drawing/2014/main" id="{A5F9D21D-5DEB-4478-A5D0-F5E0D67FF424}"/>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Giữ thiếu thông tin tường minh</a:t>
            </a:r>
          </a:p>
        </p:txBody>
      </p:sp>
      <p:sp>
        <p:nvSpPr>
          <p:cNvPr id="108" name="body-0-1">
            <a:extLst>
              <a:ext uri="{FF2B5EF4-FFF2-40B4-BE49-F238E27FC236}">
                <a16:creationId xmlns:a16="http://schemas.microsoft.com/office/drawing/2014/main" id="{72753D70-5BF2-4736-A529-C4D67788790A}"/>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Unknown availability vẫn được giữ kèm cờ. Danh mục thiếu hoặc ngoài cây gán category_id = -1. Không đồng nhất unknown với không khả dụng.</a:t>
            </a:r>
          </a:p>
        </p:txBody>
      </p:sp>
      <p:sp>
        <p:nvSpPr>
          <p:cNvPr id="109" name="heading-1-0">
            <a:extLst>
              <a:ext uri="{FF2B5EF4-FFF2-40B4-BE49-F238E27FC236}">
                <a16:creationId xmlns:a16="http://schemas.microsoft.com/office/drawing/2014/main" id="{76B625E3-F2D7-47A2-92BB-242ABC06587E}"/>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Helper truy cập an toàn</a:t>
            </a:r>
          </a:p>
        </p:txBody>
      </p:sp>
      <p:sp>
        <p:nvSpPr>
          <p:cNvPr id="110" name="body-1-0">
            <a:extLst>
              <a:ext uri="{FF2B5EF4-FFF2-40B4-BE49-F238E27FC236}">
                <a16:creationId xmlns:a16="http://schemas.microsoft.com/office/drawing/2014/main" id="{D62587E1-735E-4C6D-908C-2CFE89950626}"/>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candidates_at_time(directory, prediction_time, config, warm_only=False).</a:t>
            </a:r>
          </a:p>
          <a:p>
            <a:pPr>
              <a:defRPr sz="1388" b="0">
                <a:solidFill>
                  <a:srgbClr val="536373"/>
                </a:solidFill>
              </a:defRPr>
            </a:pPr>
            <a:r>
              <a:rPr sz="1388" b="0">
                <a:solidFill>
                  <a:srgbClr val="536373"/>
                </a:solidFill>
              </a:rPr>
              <a:t>history_for_query(events, query) chỉ cung cấp lịch sử quan sát hợp lệ.</a:t>
            </a:r>
          </a:p>
        </p:txBody>
      </p:sp>
      <p:sp>
        <p:nvSpPr>
          <p:cNvPr id="111" name="heading-1-1">
            <a:extLst>
              <a:ext uri="{FF2B5EF4-FFF2-40B4-BE49-F238E27FC236}">
                <a16:creationId xmlns:a16="http://schemas.microsoft.com/office/drawing/2014/main" id="{C9717CE7-46DF-4769-ADB7-C854E855F94A}"/>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Ngoài từ vựng train</a:t>
            </a:r>
          </a:p>
        </p:txBody>
      </p:sp>
      <p:sp>
        <p:nvSpPr>
          <p:cNvPr id="112" name="body-1-1">
            <a:extLst>
              <a:ext uri="{FF2B5EF4-FFF2-40B4-BE49-F238E27FC236}">
                <a16:creationId xmlns:a16="http://schemas.microsoft.com/office/drawing/2014/main" id="{FE70A1C6-4D76-48B5-BADF-92A9E6F253A2}"/>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Có trong catalog chưa có nghĩa đã có embedding. Phải công bố chính sách cho item ngoài train và cơ chế dự phòng.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20624" y="91440"/>
            <a:ext cx="11292840" cy="457200"/>
          </a:xfrm>
          <a:prstGeom prst="rect">
            <a:avLst/>
          </a:prstGeom>
          <a:noFill/>
          <a:effectLst/>
        </p:spPr>
        <p:txBody>
          <a:bodyPr wrap="none" lIns="0" tIns="0" rIns="0" bIns="0" anchor="ctr">
            <a:spAutoFit/>
          </a:bodyPr>
          <a:lstStyle/>
          <a:p>
            <a:pPr algn="l">
              <a:lnSpc>
                <a:spcPct val="105000"/>
              </a:lnSpc>
              <a:spcBef>
                <a:spcPts val="0"/>
              </a:spcBef>
              <a:spcAft>
                <a:spcPts val="0"/>
              </a:spcAft>
            </a:pPr>
            <a:r>
              <a:rPr lang="vi-VN" sz="2300" b="1">
                <a:solidFill>
                  <a:srgbClr val="FFFFFF"/>
                </a:solidFill>
                <a:latin typeface="Arial"/>
              </a:rPr>
              <a:t>04 / CHỐNG RÒ RỈ THÔNG TIN</a:t>
            </a:r>
          </a:p>
        </p:txBody>
      </p:sp>
      <p:sp>
        <p:nvSpPr>
          <p:cNvPr id="3" name="TextBox 3"/>
          <p:cNvSpPr txBox="1"/>
          <p:nvPr/>
        </p:nvSpPr>
        <p:spPr>
          <a:xfrm>
            <a:off x="512064" y="969264"/>
            <a:ext cx="11109960" cy="694944"/>
          </a:xfrm>
          <a:prstGeom prst="rect">
            <a:avLst/>
          </a:prstGeom>
          <a:noFill/>
          <a:effectLst/>
        </p:spPr>
        <p:txBody>
          <a:bodyPr wrap="none" lIns="0" tIns="0" rIns="0" bIns="0" anchor="t">
            <a:spAutoFit/>
          </a:bodyPr>
          <a:lstStyle/>
          <a:p>
            <a:pPr algn="l">
              <a:lnSpc>
                <a:spcPct val="105000"/>
              </a:lnSpc>
              <a:spcBef>
                <a:spcPts val="0"/>
              </a:spcBef>
              <a:spcAft>
                <a:spcPts val="0"/>
              </a:spcAft>
            </a:pPr>
            <a:r>
              <a:rPr lang="vi-VN" sz="2900" b="1">
                <a:solidFill>
                  <a:srgbClr val="003366"/>
                </a:solidFill>
                <a:latin typeface="Arial"/>
              </a:rPr>
              <a:t>Mọi đặc trưng phải có trước thời điểm gợi ý.</a:t>
            </a:r>
          </a:p>
        </p:txBody>
      </p:sp>
      <p:sp>
        <p:nvSpPr>
          <p:cNvPr id="4" name="TextBox 4"/>
          <p:cNvSpPr txBox="1"/>
          <p:nvPr/>
        </p:nvSpPr>
        <p:spPr>
          <a:xfrm>
            <a:off x="539496" y="1783080"/>
            <a:ext cx="10972800" cy="329184"/>
          </a:xfrm>
          <a:prstGeom prst="rect">
            <a:avLst/>
          </a:prstGeom>
          <a:noFill/>
          <a:effectLst/>
        </p:spPr>
        <p:txBody>
          <a:bodyPr wrap="square" lIns="0" tIns="0" rIns="0" bIns="0" anchor="t">
            <a:noAutofit/>
          </a:bodyPr>
          <a:lstStyle/>
          <a:p>
            <a:pPr algn="l">
              <a:lnSpc>
                <a:spcPct val="108000"/>
              </a:lnSpc>
              <a:spcBef>
                <a:spcPts val="0"/>
              </a:spcBef>
              <a:spcAft>
                <a:spcPts val="0"/>
              </a:spcAft>
            </a:pPr>
            <a:r>
              <a:rPr sz="1400" b="0">
                <a:solidFill>
                  <a:srgbClr val="536373"/>
                </a:solidFill>
                <a:latin typeface="Arial"/>
              </a:rPr>
              <a:t>Pipeline hiện tại tạo mẫu theo nhóm timestamp; prefix và target luôn thuộc cùng một phiên.</a:t>
            </a:r>
          </a:p>
        </p:txBody>
      </p:sp>
      <p:sp>
        <p:nvSpPr>
          <p:cNvPr id="6" name="TextBox 7"/>
          <p:cNvSpPr txBox="1"/>
          <p:nvPr/>
        </p:nvSpPr>
        <p:spPr>
          <a:xfrm>
            <a:off x="10561320" y="6510528"/>
            <a:ext cx="1097280" cy="210312"/>
          </a:xfrm>
          <a:prstGeom prst="rect">
            <a:avLst/>
          </a:prstGeom>
          <a:noFill/>
          <a:effectLst/>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18 / 41</a:t>
            </a:r>
          </a:p>
        </p:txBody>
      </p:sp>
      <p:sp>
        <p:nvSpPr>
          <p:cNvPr id="8" name="Rounded Rectangle 9"/>
          <p:cNvSpPr/>
          <p:nvPr/>
        </p:nvSpPr>
        <p:spPr>
          <a:xfrm>
            <a:off x="594360" y="2276856"/>
            <a:ext cx="4434840" cy="1225296"/>
          </a:xfrm>
          <a:prstGeom prst="roundRect">
            <a:avLst>
              <a:gd name="adj" fmla="val 8000"/>
            </a:avLst>
          </a:prstGeom>
          <a:solidFill>
            <a:srgbClr val="EA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10"/>
          <p:cNvSpPr/>
          <p:nvPr/>
        </p:nvSpPr>
        <p:spPr>
          <a:xfrm>
            <a:off x="5394960" y="2276856"/>
            <a:ext cx="6208776" cy="1225296"/>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11"/>
          <p:cNvSpPr txBox="1"/>
          <p:nvPr/>
        </p:nvSpPr>
        <p:spPr>
          <a:xfrm>
            <a:off x="850392" y="2514600"/>
            <a:ext cx="3913632" cy="274320"/>
          </a:xfrm>
          <a:prstGeom prst="rect">
            <a:avLst/>
          </a:prstGeom>
          <a:noFill/>
          <a:effectLst/>
        </p:spPr>
        <p:txBody>
          <a:bodyPr wrap="none" lIns="0" tIns="0" rIns="0" bIns="0" anchor="t">
            <a:spAutoFit/>
          </a:bodyPr>
          <a:lstStyle/>
          <a:p>
            <a:pPr algn="l">
              <a:lnSpc>
                <a:spcPts val="1547"/>
              </a:lnSpc>
              <a:spcBef>
                <a:spcPts val="0"/>
              </a:spcBef>
              <a:spcAft>
                <a:spcPts val="0"/>
              </a:spcAft>
            </a:pPr>
            <a:r>
              <a:rPr lang="vi-VN" sz="1300" b="1">
                <a:solidFill>
                  <a:srgbClr val="005A9C"/>
                </a:solidFill>
                <a:latin typeface="Arial"/>
              </a:rPr>
              <a:t>PREFIX CÙNG PHIÊN</a:t>
            </a:r>
          </a:p>
        </p:txBody>
      </p:sp>
      <p:sp>
        <p:nvSpPr>
          <p:cNvPr id="11" name="TextBox 12"/>
          <p:cNvSpPr txBox="1"/>
          <p:nvPr/>
        </p:nvSpPr>
        <p:spPr>
          <a:xfrm>
            <a:off x="850392" y="2944368"/>
            <a:ext cx="3913632" cy="347472"/>
          </a:xfrm>
          <a:prstGeom prst="rect">
            <a:avLst/>
          </a:prstGeom>
          <a:noFill/>
          <a:effectLst/>
        </p:spPr>
        <p:txBody>
          <a:bodyPr wrap="none" lIns="0" tIns="0" rIns="0" bIns="0" anchor="t">
            <a:spAutoFit/>
          </a:bodyPr>
          <a:lstStyle/>
          <a:p>
            <a:pPr algn="l">
              <a:lnSpc>
                <a:spcPts val="2142"/>
              </a:lnSpc>
              <a:spcBef>
                <a:spcPts val="0"/>
              </a:spcBef>
              <a:spcAft>
                <a:spcPts val="0"/>
              </a:spcAft>
            </a:pPr>
            <a:r>
              <a:rPr lang="vi-VN" sz="1800" b="0">
                <a:solidFill>
                  <a:srgbClr val="003366"/>
                </a:solidFill>
                <a:latin typeface="Arial"/>
              </a:rPr>
              <a:t>Toàn bộ nhóm đã quan sát đến t</a:t>
            </a:r>
          </a:p>
        </p:txBody>
      </p:sp>
      <p:sp>
        <p:nvSpPr>
          <p:cNvPr id="12" name="TextBox 13"/>
          <p:cNvSpPr txBox="1"/>
          <p:nvPr/>
        </p:nvSpPr>
        <p:spPr>
          <a:xfrm>
            <a:off x="5669280" y="2514600"/>
            <a:ext cx="5641848" cy="274320"/>
          </a:xfrm>
          <a:prstGeom prst="rect">
            <a:avLst/>
          </a:prstGeom>
          <a:noFill/>
          <a:effectLst/>
        </p:spPr>
        <p:txBody>
          <a:bodyPr wrap="none" lIns="0" tIns="0" rIns="0" bIns="0" anchor="t">
            <a:spAutoFit/>
          </a:bodyPr>
          <a:lstStyle/>
          <a:p>
            <a:pPr algn="l">
              <a:lnSpc>
                <a:spcPts val="1547"/>
              </a:lnSpc>
              <a:spcBef>
                <a:spcPts val="0"/>
              </a:spcBef>
              <a:spcAft>
                <a:spcPts val="0"/>
              </a:spcAft>
            </a:pPr>
            <a:r>
              <a:rPr lang="vi-VN" sz="1300" b="1">
                <a:solidFill>
                  <a:srgbClr val="C41230"/>
                </a:solidFill>
                <a:latin typeface="Arial"/>
              </a:rPr>
              <a:t>TARGET NHÓM KẾ</a:t>
            </a:r>
          </a:p>
        </p:txBody>
      </p:sp>
      <p:sp>
        <p:nvSpPr>
          <p:cNvPr id="13" name="TextBox 14"/>
          <p:cNvSpPr txBox="1"/>
          <p:nvPr/>
        </p:nvSpPr>
        <p:spPr>
          <a:xfrm>
            <a:off x="5669280" y="2944368"/>
            <a:ext cx="5641848" cy="347472"/>
          </a:xfrm>
          <a:prstGeom prst="rect">
            <a:avLst/>
          </a:prstGeom>
          <a:noFill/>
          <a:effectLst/>
        </p:spPr>
        <p:txBody>
          <a:bodyPr wrap="none" lIns="0" tIns="0" rIns="0" bIns="0" anchor="t">
            <a:spAutoFit/>
          </a:bodyPr>
          <a:lstStyle/>
          <a:p>
            <a:pPr algn="l">
              <a:lnSpc>
                <a:spcPts val="2142"/>
              </a:lnSpc>
              <a:spcBef>
                <a:spcPts val="0"/>
              </a:spcBef>
              <a:spcAft>
                <a:spcPts val="0"/>
              </a:spcAft>
            </a:pPr>
            <a:r>
              <a:rPr lang="vi-VN" sz="1800" b="0">
                <a:solidFill>
                  <a:srgbClr val="003366"/>
                </a:solidFill>
                <a:latin typeface="Arial"/>
              </a:rPr>
              <a:t>Tập item tại timestamp kế tiếp trong phiên</a:t>
            </a:r>
          </a:p>
        </p:txBody>
      </p:sp>
      <p:cxnSp>
        <p:nvCxnSpPr>
          <p:cNvPr id="14" name="Connector 15"/>
          <p:cNvCxnSpPr/>
          <p:nvPr/>
        </p:nvCxnSpPr>
        <p:spPr>
          <a:xfrm>
            <a:off x="841248" y="3822191"/>
            <a:ext cx="10424160" cy="0"/>
          </a:xfrm>
          <a:prstGeom prst="line">
            <a:avLst/>
          </a:prstGeom>
          <a:ln w="2159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15" name="Isosceles Triangle 16"/>
          <p:cNvSpPr/>
          <p:nvPr/>
        </p:nvSpPr>
        <p:spPr>
          <a:xfrm rot="5400000">
            <a:off x="11237976" y="3762755"/>
            <a:ext cx="118872" cy="118872"/>
          </a:xfrm>
          <a:prstGeom prst="triangl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7"/>
          <p:cNvCxnSpPr/>
          <p:nvPr/>
        </p:nvCxnSpPr>
        <p:spPr>
          <a:xfrm>
            <a:off x="5202936" y="2011680"/>
            <a:ext cx="0" cy="2103120"/>
          </a:xfrm>
          <a:prstGeom prst="line">
            <a:avLst/>
          </a:prstGeom>
          <a:ln w="29209">
            <a:solidFill>
              <a:srgbClr val="C41230"/>
            </a:solidFill>
          </a:ln>
          <a:effectLst/>
        </p:spPr>
        <p:style>
          <a:lnRef idx="2">
            <a:schemeClr val="accent1"/>
          </a:lnRef>
          <a:fillRef idx="0">
            <a:schemeClr val="accent1"/>
          </a:fillRef>
          <a:effectRef idx="1">
            <a:schemeClr val="accent1"/>
          </a:effectRef>
          <a:fontRef idx="minor">
            <a:schemeClr val="tx1"/>
          </a:fontRef>
        </p:style>
      </p:cxnSp>
      <p:sp>
        <p:nvSpPr>
          <p:cNvPr id="17" name="Oval 18"/>
          <p:cNvSpPr/>
          <p:nvPr/>
        </p:nvSpPr>
        <p:spPr>
          <a:xfrm>
            <a:off x="5129784" y="3749039"/>
            <a:ext cx="146304" cy="146304"/>
          </a:xfrm>
          <a:prstGeom prst="ellipse">
            <a:avLst/>
          </a:prstGeom>
          <a:solidFill>
            <a:srgbClr val="C41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9"/>
          <p:cNvSpPr txBox="1"/>
          <p:nvPr/>
        </p:nvSpPr>
        <p:spPr>
          <a:xfrm>
            <a:off x="4882896" y="4123944"/>
            <a:ext cx="640080" cy="420624"/>
          </a:xfrm>
          <a:prstGeom prst="rect">
            <a:avLst/>
          </a:prstGeom>
          <a:noFill/>
          <a:effectLst/>
        </p:spPr>
        <p:txBody>
          <a:bodyPr wrap="none" lIns="0" tIns="0" rIns="0" bIns="0" anchor="t">
            <a:spAutoFit/>
          </a:bodyPr>
          <a:lstStyle/>
          <a:p>
            <a:pPr algn="ctr">
              <a:lnSpc>
                <a:spcPts val="2856"/>
              </a:lnSpc>
              <a:spcBef>
                <a:spcPts val="0"/>
              </a:spcBef>
              <a:spcAft>
                <a:spcPts val="0"/>
              </a:spcAft>
            </a:pPr>
            <a:r>
              <a:rPr lang="vi-VN" sz="2400" b="1">
                <a:solidFill>
                  <a:srgbClr val="C41230"/>
                </a:solidFill>
                <a:latin typeface="Arial"/>
              </a:rPr>
              <a:t>t</a:t>
            </a:r>
          </a:p>
        </p:txBody>
      </p:sp>
      <p:sp>
        <p:nvSpPr>
          <p:cNvPr id="19" name="TextBox 20"/>
          <p:cNvSpPr txBox="1"/>
          <p:nvPr/>
        </p:nvSpPr>
        <p:spPr>
          <a:xfrm>
            <a:off x="850392" y="4041648"/>
            <a:ext cx="2743200" cy="274320"/>
          </a:xfrm>
          <a:prstGeom prst="rect">
            <a:avLst/>
          </a:prstGeom>
          <a:noFill/>
          <a:effectLst/>
        </p:spPr>
        <p:txBody>
          <a:bodyPr wrap="none" lIns="0" tIns="0" rIns="0" bIns="0" anchor="t">
            <a:spAutoFit/>
          </a:bodyPr>
          <a:lstStyle/>
          <a:p>
            <a:pPr algn="l">
              <a:lnSpc>
                <a:spcPts val="1547"/>
              </a:lnSpc>
              <a:spcBef>
                <a:spcPts val="0"/>
              </a:spcBef>
              <a:spcAft>
                <a:spcPts val="0"/>
              </a:spcAft>
            </a:pPr>
            <a:r>
              <a:rPr lang="vi-VN" sz="1300" b="0">
                <a:solidFill>
                  <a:srgbClr val="536373"/>
                </a:solidFill>
                <a:latin typeface="Arial"/>
              </a:rPr>
              <a:t>quá khứ</a:t>
            </a:r>
          </a:p>
        </p:txBody>
      </p:sp>
      <p:sp>
        <p:nvSpPr>
          <p:cNvPr id="20" name="TextBox 21"/>
          <p:cNvSpPr txBox="1"/>
          <p:nvPr/>
        </p:nvSpPr>
        <p:spPr>
          <a:xfrm>
            <a:off x="9720072" y="4041648"/>
            <a:ext cx="1645920" cy="274320"/>
          </a:xfrm>
          <a:prstGeom prst="rect">
            <a:avLst/>
          </a:prstGeom>
          <a:noFill/>
          <a:effectLst/>
        </p:spPr>
        <p:txBody>
          <a:bodyPr wrap="none" lIns="0" tIns="0" rIns="0" bIns="0" anchor="t">
            <a:spAutoFit/>
          </a:bodyPr>
          <a:lstStyle/>
          <a:p>
            <a:pPr algn="r">
              <a:lnSpc>
                <a:spcPts val="1547"/>
              </a:lnSpc>
              <a:spcBef>
                <a:spcPts val="0"/>
              </a:spcBef>
              <a:spcAft>
                <a:spcPts val="0"/>
              </a:spcAft>
            </a:pPr>
            <a:r>
              <a:rPr lang="vi-VN" sz="1300" b="0">
                <a:solidFill>
                  <a:srgbClr val="536373"/>
                </a:solidFill>
                <a:latin typeface="Arial"/>
              </a:rPr>
              <a:t>t kế tiếp</a:t>
            </a:r>
          </a:p>
        </p:txBody>
      </p:sp>
      <p:sp>
        <p:nvSpPr>
          <p:cNvPr id="21" name="TextBox 22"/>
          <p:cNvSpPr txBox="1"/>
          <p:nvPr/>
        </p:nvSpPr>
        <p:spPr>
          <a:xfrm>
            <a:off x="603504" y="4736592"/>
            <a:ext cx="3383280" cy="402336"/>
          </a:xfrm>
          <a:prstGeom prst="rect">
            <a:avLst/>
          </a:prstGeom>
          <a:noFill/>
          <a:effectLst/>
        </p:spPr>
        <p:txBody>
          <a:bodyPr wrap="none" lIns="0" tIns="0" rIns="0" bIns="0" anchor="t">
            <a:spAutoFit/>
          </a:bodyPr>
          <a:lstStyle/>
          <a:p>
            <a:pPr algn="l">
              <a:lnSpc>
                <a:spcPts val="2261"/>
              </a:lnSpc>
              <a:spcBef>
                <a:spcPts val="0"/>
              </a:spcBef>
              <a:spcAft>
                <a:spcPts val="0"/>
              </a:spcAft>
            </a:pPr>
            <a:r>
              <a:rPr lang="vi-VN" sz="1900" b="1">
                <a:solidFill>
                  <a:srgbClr val="003366"/>
                </a:solidFill>
                <a:latin typeface="Arial"/>
              </a:rPr>
              <a:t>Cùng một phiên</a:t>
            </a:r>
          </a:p>
        </p:txBody>
      </p:sp>
      <p:sp>
        <p:nvSpPr>
          <p:cNvPr id="22" name="TextBox 23"/>
          <p:cNvSpPr txBox="1"/>
          <p:nvPr/>
        </p:nvSpPr>
        <p:spPr>
          <a:xfrm>
            <a:off x="603504" y="5321808"/>
            <a:ext cx="3337560" cy="658368"/>
          </a:xfrm>
          <a:prstGeom prst="rect">
            <a:avLst/>
          </a:prstGeom>
          <a:noFill/>
          <a:effectLst/>
        </p:spPr>
        <p:txBody>
          <a:bodyPr wrap="none" lIns="0" tIns="0" rIns="0" bIns="0" anchor="t">
            <a:spAutoFit/>
          </a:bodyPr>
          <a:lstStyle/>
          <a:p>
            <a:pPr algn="l">
              <a:lnSpc>
                <a:spcPts val="1844"/>
              </a:lnSpc>
              <a:spcBef>
                <a:spcPts val="0"/>
              </a:spcBef>
              <a:spcAft>
                <a:spcPts val="0"/>
              </a:spcAft>
            </a:pPr>
            <a:r>
              <a:rPr lang="vi-VN" sz="1550" b="0">
                <a:solidFill>
                  <a:srgbClr val="536373"/>
                </a:solidFill>
                <a:latin typeface="Arial"/>
              </a:rPr>
              <a:t>Không nối target sang phiên khác, dù cùng visitor.</a:t>
            </a:r>
          </a:p>
        </p:txBody>
      </p:sp>
      <p:sp>
        <p:nvSpPr>
          <p:cNvPr id="23" name="TextBox 24"/>
          <p:cNvSpPr txBox="1"/>
          <p:nvPr/>
        </p:nvSpPr>
        <p:spPr>
          <a:xfrm>
            <a:off x="4389120" y="4736592"/>
            <a:ext cx="3383280" cy="402336"/>
          </a:xfrm>
          <a:prstGeom prst="rect">
            <a:avLst/>
          </a:prstGeom>
          <a:noFill/>
          <a:effectLst/>
        </p:spPr>
        <p:txBody>
          <a:bodyPr wrap="none" lIns="0" tIns="0" rIns="0" bIns="0" anchor="t">
            <a:spAutoFit/>
          </a:bodyPr>
          <a:lstStyle/>
          <a:p>
            <a:pPr algn="l">
              <a:lnSpc>
                <a:spcPts val="2261"/>
              </a:lnSpc>
              <a:spcBef>
                <a:spcPts val="0"/>
              </a:spcBef>
              <a:spcAft>
                <a:spcPts val="0"/>
              </a:spcAft>
            </a:pPr>
            <a:r>
              <a:rPr lang="vi-VN" sz="1900" b="1">
                <a:solidFill>
                  <a:srgbClr val="003366"/>
                </a:solidFill>
                <a:latin typeface="Arial"/>
              </a:rPr>
              <a:t>Nhóm timestamp</a:t>
            </a:r>
          </a:p>
        </p:txBody>
      </p:sp>
      <p:sp>
        <p:nvSpPr>
          <p:cNvPr id="24" name="TextBox 25"/>
          <p:cNvSpPr txBox="1"/>
          <p:nvPr/>
        </p:nvSpPr>
        <p:spPr>
          <a:xfrm>
            <a:off x="4389120" y="5321808"/>
            <a:ext cx="3337560" cy="658368"/>
          </a:xfrm>
          <a:prstGeom prst="rect">
            <a:avLst/>
          </a:prstGeom>
          <a:noFill/>
          <a:effectLst/>
        </p:spPr>
        <p:txBody>
          <a:bodyPr wrap="none" lIns="0" tIns="0" rIns="0" bIns="0" anchor="t">
            <a:spAutoFit/>
          </a:bodyPr>
          <a:lstStyle/>
          <a:p>
            <a:pPr algn="l">
              <a:lnSpc>
                <a:spcPts val="1844"/>
              </a:lnSpc>
              <a:spcBef>
                <a:spcPts val="0"/>
              </a:spcBef>
              <a:spcAft>
                <a:spcPts val="0"/>
              </a:spcAft>
            </a:pPr>
            <a:r>
              <a:rPr lang="vi-VN" sz="1550" b="0">
                <a:solidFill>
                  <a:srgbClr val="536373"/>
                </a:solidFill>
                <a:latin typeface="Arial"/>
              </a:rPr>
              <a:t>Quan sát trọn nhóm; không tạo thứ tự giả.</a:t>
            </a:r>
          </a:p>
        </p:txBody>
      </p:sp>
      <p:sp>
        <p:nvSpPr>
          <p:cNvPr id="25" name="TextBox 26"/>
          <p:cNvSpPr txBox="1"/>
          <p:nvPr/>
        </p:nvSpPr>
        <p:spPr>
          <a:xfrm>
            <a:off x="8174736" y="4736592"/>
            <a:ext cx="3383280" cy="402336"/>
          </a:xfrm>
          <a:prstGeom prst="rect">
            <a:avLst/>
          </a:prstGeom>
          <a:noFill/>
          <a:effectLst/>
        </p:spPr>
        <p:txBody>
          <a:bodyPr wrap="none" lIns="0" tIns="0" rIns="0" bIns="0" anchor="t">
            <a:spAutoFit/>
          </a:bodyPr>
          <a:lstStyle/>
          <a:p>
            <a:pPr algn="l">
              <a:lnSpc>
                <a:spcPts val="2261"/>
              </a:lnSpc>
              <a:spcBef>
                <a:spcPts val="0"/>
              </a:spcBef>
              <a:spcAft>
                <a:spcPts val="0"/>
              </a:spcAft>
            </a:pPr>
            <a:r>
              <a:rPr lang="vi-VN" sz="1900" b="1">
                <a:solidFill>
                  <a:srgbClr val="003366"/>
                </a:solidFill>
                <a:latin typeface="Arial"/>
              </a:rPr>
              <a:t>Target dạng tập</a:t>
            </a:r>
          </a:p>
        </p:txBody>
      </p:sp>
      <p:sp>
        <p:nvSpPr>
          <p:cNvPr id="26" name="TextBox 27"/>
          <p:cNvSpPr txBox="1"/>
          <p:nvPr/>
        </p:nvSpPr>
        <p:spPr>
          <a:xfrm>
            <a:off x="8174736" y="5321808"/>
            <a:ext cx="3337560" cy="658368"/>
          </a:xfrm>
          <a:prstGeom prst="rect">
            <a:avLst/>
          </a:prstGeom>
          <a:noFill/>
          <a:effectLst/>
        </p:spPr>
        <p:txBody>
          <a:bodyPr wrap="none" lIns="0" tIns="0" rIns="0" bIns="0" anchor="t">
            <a:spAutoFit/>
          </a:bodyPr>
          <a:lstStyle/>
          <a:p>
            <a:pPr algn="l">
              <a:lnSpc>
                <a:spcPts val="1844"/>
              </a:lnSpc>
              <a:spcBef>
                <a:spcPts val="0"/>
              </a:spcBef>
              <a:spcAft>
                <a:spcPts val="0"/>
              </a:spcAft>
            </a:pPr>
            <a:r>
              <a:rPr lang="vi-VN" sz="1550" b="0">
                <a:solidFill>
                  <a:srgbClr val="536373"/>
                </a:solidFill>
                <a:latin typeface="Arial"/>
              </a:rPr>
              <a:t>Giữ item lặp trong prefix; mỗi item tính một relevance.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04 / CHIA TẬP THEO THỜI GIAN</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Ranh giới thời gian phải bảo toàn phiên.</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Cutoff thực của lần chạy được ghi trong manifest; tỷ lệ query sau lọc không bắt buộc 80/10/10.</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19 / 41</a:t>
            </a:r>
          </a:p>
        </p:txBody>
      </p:sp>
      <p:sp>
        <p:nvSpPr>
          <p:cNvPr id="105" name="heading-0-0">
            <a:extLst>
              <a:ext uri="{FF2B5EF4-FFF2-40B4-BE49-F238E27FC236}">
                <a16:creationId xmlns:a16="http://schemas.microsoft.com/office/drawing/2014/main" id="{EF658E46-B5E0-445E-BBD3-58924593A72F}"/>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Mốc train_end, phân vị 80%</a:t>
            </a:r>
          </a:p>
        </p:txBody>
      </p:sp>
      <p:sp>
        <p:nvSpPr>
          <p:cNvPr id="106" name="body-0-0">
            <a:extLst>
              <a:ext uri="{FF2B5EF4-FFF2-40B4-BE49-F238E27FC236}">
                <a16:creationId xmlns:a16="http://schemas.microsoft.com/office/drawing/2014/main" id="{EF7A6339-A4B7-41B8-BD0D-0569D691FA9E}"/>
              </a:ext>
            </a:extLst>
          </p:cNvPr>
          <p:cNvSpPr>
            <a:spLocks noGrp="1"/>
          </p:cNvSpPr>
          <p:nvPr/>
        </p:nvSpPr>
        <p:spPr>
          <a:xfrm>
            <a:off x="533400" y="2619375"/>
            <a:ext cx="5391150" cy="730250"/>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2015-08-18 04:23:20.445000+00:00 UTC</a:t>
            </a:r>
          </a:p>
        </p:txBody>
      </p:sp>
      <p:sp>
        <p:nvSpPr>
          <p:cNvPr id="107" name="heading-0-1">
            <a:extLst>
              <a:ext uri="{FF2B5EF4-FFF2-40B4-BE49-F238E27FC236}">
                <a16:creationId xmlns:a16="http://schemas.microsoft.com/office/drawing/2014/main" id="{7890D586-DB97-4456-A236-E662239685E3}"/>
              </a:ext>
            </a:extLst>
          </p:cNvPr>
          <p:cNvSpPr>
            <a:spLocks noGrp="1"/>
          </p:cNvSpPr>
          <p:nvPr/>
        </p:nvSpPr>
        <p:spPr>
          <a:xfrm>
            <a:off x="533400" y="341630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Mốc validation_end, phân vị 90%</a:t>
            </a:r>
          </a:p>
        </p:txBody>
      </p:sp>
      <p:sp>
        <p:nvSpPr>
          <p:cNvPr id="108" name="body-0-1">
            <a:extLst>
              <a:ext uri="{FF2B5EF4-FFF2-40B4-BE49-F238E27FC236}">
                <a16:creationId xmlns:a16="http://schemas.microsoft.com/office/drawing/2014/main" id="{35867837-1EF0-4B65-A94B-AB25FAA18256}"/>
              </a:ext>
            </a:extLst>
          </p:cNvPr>
          <p:cNvSpPr>
            <a:spLocks noGrp="1"/>
          </p:cNvSpPr>
          <p:nvPr/>
        </p:nvSpPr>
        <p:spPr>
          <a:xfrm>
            <a:off x="533400" y="3730625"/>
            <a:ext cx="5391150" cy="730250"/>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2015-09-02 17:49:14.032000+00:00 UTC</a:t>
            </a:r>
          </a:p>
        </p:txBody>
      </p:sp>
      <p:sp>
        <p:nvSpPr>
          <p:cNvPr id="109" name="heading-0-2">
            <a:extLst>
              <a:ext uri="{FF2B5EF4-FFF2-40B4-BE49-F238E27FC236}">
                <a16:creationId xmlns:a16="http://schemas.microsoft.com/office/drawing/2014/main" id="{48D2B963-8916-4D25-91D8-5F1699E25AE4}"/>
              </a:ext>
            </a:extLst>
          </p:cNvPr>
          <p:cNvSpPr>
            <a:spLocks noGrp="1"/>
          </p:cNvSpPr>
          <p:nvPr/>
        </p:nvSpPr>
        <p:spPr>
          <a:xfrm>
            <a:off x="533400" y="45275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Tỷ lệ sau lọc</a:t>
            </a:r>
          </a:p>
        </p:txBody>
      </p:sp>
      <p:sp>
        <p:nvSpPr>
          <p:cNvPr id="110" name="body-0-2">
            <a:extLst>
              <a:ext uri="{FF2B5EF4-FFF2-40B4-BE49-F238E27FC236}">
                <a16:creationId xmlns:a16="http://schemas.microsoft.com/office/drawing/2014/main" id="{5B2A59C9-EA5A-47D1-8E82-11095F09E0E5}"/>
              </a:ext>
            </a:extLst>
          </p:cNvPr>
          <p:cNvSpPr>
            <a:spLocks noGrp="1"/>
          </p:cNvSpPr>
          <p:nvPr/>
        </p:nvSpPr>
        <p:spPr>
          <a:xfrm>
            <a:off x="533400" y="4841875"/>
            <a:ext cx="5391150" cy="730250"/>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Các phân vị của sự kiện không bảo đảm query cuối cùng theo tỷ lệ 80% / 10% / 10%.</a:t>
            </a:r>
          </a:p>
        </p:txBody>
      </p:sp>
      <p:sp>
        <p:nvSpPr>
          <p:cNvPr id="111" name="heading-1-0">
            <a:extLst>
              <a:ext uri="{FF2B5EF4-FFF2-40B4-BE49-F238E27FC236}">
                <a16:creationId xmlns:a16="http://schemas.microsoft.com/office/drawing/2014/main" id="{996A3735-1DE2-4F79-A0DA-509B66F9CEB2}"/>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Phiên cắt ranh giới</a:t>
            </a:r>
          </a:p>
        </p:txBody>
      </p:sp>
      <p:sp>
        <p:nvSpPr>
          <p:cNvPr id="112" name="body-1-0">
            <a:extLst>
              <a:ext uri="{FF2B5EF4-FFF2-40B4-BE49-F238E27FC236}">
                <a16:creationId xmlns:a16="http://schemas.microsoft.com/office/drawing/2014/main" id="{A3FC0006-F24A-48CB-B932-44139DF94651}"/>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Phiên có min_time ≤ cutoff &lt; max_time mang boundary_drop. 328 sự kiện thuộc phiên này bị loại khỏi query, prefix và target.</a:t>
            </a:r>
          </a:p>
        </p:txBody>
      </p:sp>
      <p:sp>
        <p:nvSpPr>
          <p:cNvPr id="113" name="heading-1-1">
            <a:extLst>
              <a:ext uri="{FF2B5EF4-FFF2-40B4-BE49-F238E27FC236}">
                <a16:creationId xmlns:a16="http://schemas.microsoft.com/office/drawing/2014/main" id="{918FFBE4-C104-4948-882F-270262CE576B}"/>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Phạm vi áp dụng</a:t>
            </a:r>
          </a:p>
        </p:txBody>
      </p:sp>
      <p:sp>
        <p:nvSpPr>
          <p:cNvPr id="114" name="body-1-1">
            <a:extLst>
              <a:ext uri="{FF2B5EF4-FFF2-40B4-BE49-F238E27FC236}">
                <a16:creationId xmlns:a16="http://schemas.microsoft.com/office/drawing/2014/main" id="{494808AE-2DB7-4DA3-9F64-E17CFBA84719}"/>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Train/validation/test có 806.025 / 92.566 / 92.468 query; target luôn ở cùng session và split.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04 / TẠO QUERY–TARGET NEXT-STEP</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Mỗi prefix có nhãn từ đúng nhóm kế tiếp.</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Đã tạo 991.059 query và 993.336 cặp target từ toàn bộ dữ liệu thật.</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20 / 41</a:t>
            </a:r>
          </a:p>
        </p:txBody>
      </p:sp>
      <p:sp>
        <p:nvSpPr>
          <p:cNvPr id="105" name="heading-0-0">
            <a:extLst>
              <a:ext uri="{FF2B5EF4-FFF2-40B4-BE49-F238E27FC236}">
                <a16:creationId xmlns:a16="http://schemas.microsoft.com/office/drawing/2014/main" id="{ECBFFB25-62EE-43EC-9F1B-1B57E89F7B26}"/>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create_queries()</a:t>
            </a:r>
          </a:p>
        </p:txBody>
      </p:sp>
      <p:sp>
        <p:nvSpPr>
          <p:cNvPr id="106" name="body-0-0">
            <a:extLst>
              <a:ext uri="{FF2B5EF4-FFF2-40B4-BE49-F238E27FC236}">
                <a16:creationId xmlns:a16="http://schemas.microsoft.com/office/drawing/2014/main" id="{62B2A967-21CC-4159-862E-E39213C40119}"/>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Nhóm theo (session_id, event_time). Mỗi nhóm trừ nhóm cuối tạo query; query_id là ID nhóm xác định, không đồng nhất session_id.</a:t>
            </a:r>
          </a:p>
        </p:txBody>
      </p:sp>
      <p:sp>
        <p:nvSpPr>
          <p:cNvPr id="107" name="heading-0-1">
            <a:extLst>
              <a:ext uri="{FF2B5EF4-FFF2-40B4-BE49-F238E27FC236}">
                <a16:creationId xmlns:a16="http://schemas.microsoft.com/office/drawing/2014/main" id="{78639521-E0E0-4211-86E9-3CA6DE19C1C3}"/>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Nhóm không tạo mẫu</a:t>
            </a:r>
          </a:p>
        </p:txBody>
      </p:sp>
      <p:sp>
        <p:nvSpPr>
          <p:cNvPr id="108" name="body-0-1">
            <a:extLst>
              <a:ext uri="{FF2B5EF4-FFF2-40B4-BE49-F238E27FC236}">
                <a16:creationId xmlns:a16="http://schemas.microsoft.com/office/drawing/2014/main" id="{0077E89F-7CFC-4147-8E62-DFD319C8196E}"/>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Nhóm cuối, phiên một nhóm và mọi nhóm của phiên boundary được lưu tại excluded_steps.parquet kèm lý do. Không tự gán target rỗng.</a:t>
            </a:r>
          </a:p>
        </p:txBody>
      </p:sp>
      <p:sp>
        <p:nvSpPr>
          <p:cNvPr id="109" name="heading-1-0">
            <a:extLst>
              <a:ext uri="{FF2B5EF4-FFF2-40B4-BE49-F238E27FC236}">
                <a16:creationId xmlns:a16="http://schemas.microsoft.com/office/drawing/2014/main" id="{A1509E27-7579-4FCA-95A4-7BDA15198C75}"/>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create_targets()</a:t>
            </a:r>
          </a:p>
        </p:txBody>
      </p:sp>
      <p:sp>
        <p:nvSpPr>
          <p:cNvPr id="110" name="body-1-0">
            <a:extLst>
              <a:ext uri="{FF2B5EF4-FFF2-40B4-BE49-F238E27FC236}">
                <a16:creationId xmlns:a16="http://schemas.microsoft.com/office/drawing/2014/main" id="{305F99FB-1ADE-4E80-9D35-ECFE8E9AF25D}"/>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Lấy mọi sự kiện tại target_time của cùng session. Gộp item trùng thành một target; lưu target_event_count. Giữ cả xem, thêm giỏ và mua.</a:t>
            </a:r>
          </a:p>
        </p:txBody>
      </p:sp>
      <p:sp>
        <p:nvSpPr>
          <p:cNvPr id="111" name="heading-1-1">
            <a:extLst>
              <a:ext uri="{FF2B5EF4-FFF2-40B4-BE49-F238E27FC236}">
                <a16:creationId xmlns:a16="http://schemas.microsoft.com/office/drawing/2014/main" id="{D780D2F7-0499-4DBD-B11F-F626E29D8785}"/>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Ví dụ và chống rò rỉ</a:t>
            </a:r>
          </a:p>
        </p:txBody>
      </p:sp>
      <p:sp>
        <p:nvSpPr>
          <p:cNvPr id="112" name="body-1-1">
            <a:extLst>
              <a:ext uri="{FF2B5EF4-FFF2-40B4-BE49-F238E27FC236}">
                <a16:creationId xmlns:a16="http://schemas.microsoft.com/office/drawing/2014/main" id="{25C49374-778E-4138-BDDE-0652AD639295}"/>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Xem A → xem B → {thêm giỏ B, xem C}. Query sau xem B có target {B,C}. B được phép lặp; không lấy sự kiện xa hơn nhóm kế.</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04 / ĐẶC TRƯNG VÀ MẪU ÂM</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Đặc trưng chỉ mô tả prefix trong cùng phiên.</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build_prefix_features() và sample_train_negatives(); feature chỉ lấy cùng session, không dùng phiên trước.</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21 / 41</a:t>
            </a:r>
          </a:p>
        </p:txBody>
      </p:sp>
      <p:sp>
        <p:nvSpPr>
          <p:cNvPr id="105" name="heading-0-0">
            <a:extLst>
              <a:ext uri="{FF2B5EF4-FFF2-40B4-BE49-F238E27FC236}">
                <a16:creationId xmlns:a16="http://schemas.microsoft.com/office/drawing/2014/main" id="{EF3BBEB8-829E-45D6-959C-2E26417F5F32}"/>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query_features.parquet</a:t>
            </a:r>
          </a:p>
        </p:txBody>
      </p:sp>
      <p:sp>
        <p:nvSpPr>
          <p:cNvPr id="106" name="body-0-0">
            <a:extLst>
              <a:ext uri="{FF2B5EF4-FFF2-40B4-BE49-F238E27FC236}">
                <a16:creationId xmlns:a16="http://schemas.microsoft.com/office/drawing/2014/main" id="{280DB2B0-4AD6-42CA-85DF-A94C2030D115}"/>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991.059 dòng feature: số nhóm/sự kiện prefix, đếm hành vi, last_*_time và *_recency_seconds. Không có target_time hoặc target_count.</a:t>
            </a:r>
          </a:p>
        </p:txBody>
      </p:sp>
      <p:sp>
        <p:nvSpPr>
          <p:cNvPr id="107" name="heading-0-1">
            <a:extLst>
              <a:ext uri="{FF2B5EF4-FFF2-40B4-BE49-F238E27FC236}">
                <a16:creationId xmlns:a16="http://schemas.microsoft.com/office/drawing/2014/main" id="{0D871C2E-8772-470B-8867-12293C8B8164}"/>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Quan sát trọn nhóm</a:t>
            </a:r>
          </a:p>
        </p:txBody>
      </p:sp>
      <p:sp>
        <p:nvSpPr>
          <p:cNvPr id="108" name="body-0-1">
            <a:extLst>
              <a:ext uri="{FF2B5EF4-FFF2-40B4-BE49-F238E27FC236}">
                <a16:creationId xmlns:a16="http://schemas.microsoft.com/office/drawing/2014/main" id="{D9B21038-F398-4EBD-AB1F-5522EB1A8C9A}"/>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Đếm sau toàn bộ sự kiện cùng timestamp. Recency thiếu là chưa có hành vi, không tự điền 0. Không dùng độ dài phiên hoàn chỉnh.</a:t>
            </a:r>
          </a:p>
        </p:txBody>
      </p:sp>
      <p:sp>
        <p:nvSpPr>
          <p:cNvPr id="109" name="heading-1-0">
            <a:extLst>
              <a:ext uri="{FF2B5EF4-FFF2-40B4-BE49-F238E27FC236}">
                <a16:creationId xmlns:a16="http://schemas.microsoft.com/office/drawing/2014/main" id="{BD9BD2F8-F27D-455A-92A4-5D85DB20BCA3}"/>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negative_samples_train.parquet</a:t>
            </a:r>
          </a:p>
        </p:txBody>
      </p:sp>
      <p:sp>
        <p:nvSpPr>
          <p:cNvPr id="110" name="body-1-0">
            <a:extLst>
              <a:ext uri="{FF2B5EF4-FFF2-40B4-BE49-F238E27FC236}">
                <a16:creationId xmlns:a16="http://schemas.microsoft.com/office/drawing/2014/main" id="{F73F2AE0-A3DE-4D75-852D-EB65A38F1D4A}"/>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Mặc định tắt (k=0), tệp âm hiện có 0 dòng. Khi bật, lấy tối đa k item train hợp lệ tại t, loại toàn bộ tập target của nhóm kế.</a:t>
            </a:r>
          </a:p>
        </p:txBody>
      </p:sp>
      <p:sp>
        <p:nvSpPr>
          <p:cNvPr id="111" name="heading-1-1">
            <a:extLst>
              <a:ext uri="{FF2B5EF4-FFF2-40B4-BE49-F238E27FC236}">
                <a16:creationId xmlns:a16="http://schemas.microsoft.com/office/drawing/2014/main" id="{E279069F-2AC8-44B2-AF81-CD3CF1F30FF9}"/>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Giới hạn diễn giải</a:t>
            </a:r>
          </a:p>
        </p:txBody>
      </p:sp>
      <p:sp>
        <p:nvSpPr>
          <p:cNvPr id="112" name="body-1-1">
            <a:extLst>
              <a:ext uri="{FF2B5EF4-FFF2-40B4-BE49-F238E27FC236}">
                <a16:creationId xmlns:a16="http://schemas.microsoft.com/office/drawing/2014/main" id="{CF7E9CBC-CCBD-4586-A37F-05F75D7B86ED}"/>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Không xuất hiện ở nhóm kế không đồng nghĩa không thích. Báo cáo thiếu mẫu khi pool nhỏ; không dùng mẫu âm train làm ứng viên đánh giá.</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20624" y="91440"/>
            <a:ext cx="11292840" cy="457200"/>
          </a:xfrm>
          <a:prstGeom prst="rect">
            <a:avLst/>
          </a:prstGeom>
          <a:noFill/>
          <a:effectLst/>
        </p:spPr>
        <p:txBody>
          <a:bodyPr wrap="none" lIns="0" tIns="0" rIns="0" bIns="0" anchor="ctr">
            <a:spAutoFit/>
          </a:bodyPr>
          <a:lstStyle/>
          <a:p>
            <a:pPr algn="l">
              <a:lnSpc>
                <a:spcPct val="105000"/>
              </a:lnSpc>
              <a:spcBef>
                <a:spcPts val="0"/>
              </a:spcBef>
              <a:spcAft>
                <a:spcPts val="0"/>
              </a:spcAft>
            </a:pPr>
            <a:r>
              <a:rPr lang="vi-VN" sz="2300" b="1">
                <a:solidFill>
                  <a:srgbClr val="FFFFFF"/>
                </a:solidFill>
                <a:latin typeface="Arial"/>
              </a:rPr>
              <a:t>04 / KẾT QUẢ TRÊN DỮ LIỆU THẬT</a:t>
            </a:r>
          </a:p>
        </p:txBody>
      </p:sp>
      <p:sp>
        <p:nvSpPr>
          <p:cNvPr id="3" name="TextBox 3"/>
          <p:cNvSpPr txBox="1"/>
          <p:nvPr/>
        </p:nvSpPr>
        <p:spPr>
          <a:xfrm>
            <a:off x="512064" y="969264"/>
            <a:ext cx="11109960" cy="694944"/>
          </a:xfrm>
          <a:prstGeom prst="rect">
            <a:avLst/>
          </a:prstGeom>
          <a:noFill/>
          <a:effectLst/>
        </p:spPr>
        <p:txBody>
          <a:bodyPr wrap="none" lIns="0" tIns="0" rIns="0" bIns="0" anchor="t">
            <a:spAutoFit/>
          </a:bodyPr>
          <a:lstStyle/>
          <a:p>
            <a:pPr algn="l">
              <a:lnSpc>
                <a:spcPct val="105000"/>
              </a:lnSpc>
              <a:spcBef>
                <a:spcPts val="0"/>
              </a:spcBef>
              <a:spcAft>
                <a:spcPts val="0"/>
              </a:spcAft>
            </a:pPr>
            <a:r>
              <a:rPr lang="vi-VN" sz="2900" b="1">
                <a:solidFill>
                  <a:srgbClr val="003366"/>
                </a:solidFill>
                <a:latin typeface="Arial"/>
              </a:rPr>
              <a:t>Đã tái tạo toàn bộ tập next-step RetailRocket.</a:t>
            </a:r>
          </a:p>
        </p:txBody>
      </p:sp>
      <p:sp>
        <p:nvSpPr>
          <p:cNvPr id="4" name="TextBox 4"/>
          <p:cNvSpPr txBox="1"/>
          <p:nvPr/>
        </p:nvSpPr>
        <p:spPr>
          <a:xfrm>
            <a:off x="539496" y="1783080"/>
            <a:ext cx="10972800" cy="329184"/>
          </a:xfrm>
          <a:prstGeom prst="rect">
            <a:avLst/>
          </a:prstGeom>
          <a:noFill/>
          <a:effectLst/>
        </p:spPr>
        <p:txBody>
          <a:bodyPr wrap="square" lIns="0" tIns="0" rIns="0" bIns="0" anchor="t">
            <a:noAutofit/>
          </a:bodyPr>
          <a:lstStyle/>
          <a:p>
            <a:pPr algn="l">
              <a:lnSpc>
                <a:spcPct val="108000"/>
              </a:lnSpc>
              <a:spcBef>
                <a:spcPts val="0"/>
              </a:spcBef>
              <a:spcAft>
                <a:spcPts val="0"/>
              </a:spcAft>
            </a:pPr>
            <a:r>
              <a:rPr sz="1400" b="0">
                <a:solidFill>
                  <a:srgbClr val="536373"/>
                </a:solidFill>
                <a:latin typeface="Arial"/>
              </a:rPr>
              <a:t>Số liệu từ summary và manifest của lần chạy bốn CSV thật; chưa có kết quả xếp hạng mô hình.</a:t>
            </a:r>
          </a:p>
        </p:txBody>
      </p:sp>
      <p:sp>
        <p:nvSpPr>
          <p:cNvPr id="6" name="TextBox 7"/>
          <p:cNvSpPr txBox="1"/>
          <p:nvPr/>
        </p:nvSpPr>
        <p:spPr>
          <a:xfrm>
            <a:off x="10561320" y="6510528"/>
            <a:ext cx="1097280" cy="210312"/>
          </a:xfrm>
          <a:prstGeom prst="rect">
            <a:avLst/>
          </a:prstGeom>
          <a:noFill/>
          <a:effectLst/>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22 / 41</a:t>
            </a:r>
          </a:p>
        </p:txBody>
      </p:sp>
      <p:sp>
        <p:nvSpPr>
          <p:cNvPr id="8" name="TextBox 9"/>
          <p:cNvSpPr txBox="1"/>
          <p:nvPr/>
        </p:nvSpPr>
        <p:spPr>
          <a:xfrm>
            <a:off x="585216" y="2267712"/>
            <a:ext cx="2468880" cy="640080"/>
          </a:xfrm>
          <a:prstGeom prst="rect">
            <a:avLst/>
          </a:prstGeom>
          <a:noFill/>
          <a:effectLst/>
        </p:spPr>
        <p:txBody>
          <a:bodyPr wrap="none" lIns="0" tIns="0" rIns="0" bIns="0" anchor="t">
            <a:spAutoFit/>
          </a:bodyPr>
          <a:lstStyle/>
          <a:p>
            <a:pPr algn="l">
              <a:lnSpc>
                <a:spcPts val="3451"/>
              </a:lnSpc>
              <a:spcBef>
                <a:spcPts val="0"/>
              </a:spcBef>
              <a:spcAft>
                <a:spcPts val="0"/>
              </a:spcAft>
            </a:pPr>
            <a:r>
              <a:rPr lang="vi-VN" sz="2900" b="1">
                <a:solidFill>
                  <a:srgbClr val="005A9C"/>
                </a:solidFill>
                <a:latin typeface="Arial"/>
              </a:rPr>
              <a:t>2.755.641</a:t>
            </a:r>
          </a:p>
        </p:txBody>
      </p:sp>
      <p:sp>
        <p:nvSpPr>
          <p:cNvPr id="9" name="TextBox 10"/>
          <p:cNvSpPr txBox="1"/>
          <p:nvPr/>
        </p:nvSpPr>
        <p:spPr>
          <a:xfrm>
            <a:off x="585216" y="2971800"/>
            <a:ext cx="2468880" cy="585216"/>
          </a:xfrm>
          <a:prstGeom prst="rect">
            <a:avLst/>
          </a:prstGeom>
          <a:noFill/>
          <a:effectLst/>
        </p:spPr>
        <p:txBody>
          <a:bodyPr wrap="none" lIns="0" tIns="0" rIns="0" bIns="0" anchor="t">
            <a:spAutoFit/>
          </a:bodyPr>
          <a:lstStyle/>
          <a:p>
            <a:pPr algn="l">
              <a:lnSpc>
                <a:spcPts val="1606"/>
              </a:lnSpc>
              <a:spcBef>
                <a:spcPts val="0"/>
              </a:spcBef>
              <a:spcAft>
                <a:spcPts val="0"/>
              </a:spcAft>
            </a:pPr>
            <a:r>
              <a:rPr lang="vi-VN" sz="1350" b="0">
                <a:solidFill>
                  <a:srgbClr val="536373"/>
                </a:solidFill>
                <a:latin typeface="Arial"/>
              </a:rPr>
              <a:t>sự kiện sạch</a:t>
            </a:r>
          </a:p>
        </p:txBody>
      </p:sp>
      <p:sp>
        <p:nvSpPr>
          <p:cNvPr id="10" name="TextBox 11"/>
          <p:cNvSpPr txBox="1"/>
          <p:nvPr/>
        </p:nvSpPr>
        <p:spPr>
          <a:xfrm>
            <a:off x="3456432" y="2267712"/>
            <a:ext cx="2468880" cy="640080"/>
          </a:xfrm>
          <a:prstGeom prst="rect">
            <a:avLst/>
          </a:prstGeom>
          <a:noFill/>
          <a:effectLst/>
        </p:spPr>
        <p:txBody>
          <a:bodyPr wrap="none" lIns="0" tIns="0" rIns="0" bIns="0" anchor="t">
            <a:spAutoFit/>
          </a:bodyPr>
          <a:lstStyle/>
          <a:p>
            <a:pPr algn="l">
              <a:lnSpc>
                <a:spcPts val="3451"/>
              </a:lnSpc>
              <a:spcBef>
                <a:spcPts val="0"/>
              </a:spcBef>
              <a:spcAft>
                <a:spcPts val="0"/>
              </a:spcAft>
            </a:pPr>
            <a:r>
              <a:rPr lang="vi-VN" sz="2900" b="1">
                <a:solidFill>
                  <a:srgbClr val="005A9C"/>
                </a:solidFill>
                <a:latin typeface="Arial"/>
              </a:rPr>
              <a:t>991.059</a:t>
            </a:r>
          </a:p>
        </p:txBody>
      </p:sp>
      <p:sp>
        <p:nvSpPr>
          <p:cNvPr id="11" name="TextBox 12"/>
          <p:cNvSpPr txBox="1"/>
          <p:nvPr/>
        </p:nvSpPr>
        <p:spPr>
          <a:xfrm>
            <a:off x="3456432" y="2971800"/>
            <a:ext cx="2468880" cy="585216"/>
          </a:xfrm>
          <a:prstGeom prst="rect">
            <a:avLst/>
          </a:prstGeom>
          <a:noFill/>
          <a:effectLst/>
        </p:spPr>
        <p:txBody>
          <a:bodyPr wrap="none" lIns="0" tIns="0" rIns="0" bIns="0" anchor="t">
            <a:spAutoFit/>
          </a:bodyPr>
          <a:lstStyle/>
          <a:p>
            <a:pPr algn="l">
              <a:lnSpc>
                <a:spcPts val="1606"/>
              </a:lnSpc>
              <a:spcBef>
                <a:spcPts val="0"/>
              </a:spcBef>
              <a:spcAft>
                <a:spcPts val="0"/>
              </a:spcAft>
            </a:pPr>
            <a:r>
              <a:rPr lang="vi-VN" sz="1350" b="0">
                <a:solidFill>
                  <a:srgbClr val="536373"/>
                </a:solidFill>
                <a:latin typeface="Arial"/>
              </a:rPr>
              <a:t>query next-step</a:t>
            </a:r>
          </a:p>
        </p:txBody>
      </p:sp>
      <p:sp>
        <p:nvSpPr>
          <p:cNvPr id="12" name="TextBox 13"/>
          <p:cNvSpPr txBox="1"/>
          <p:nvPr/>
        </p:nvSpPr>
        <p:spPr>
          <a:xfrm>
            <a:off x="6327648" y="2267712"/>
            <a:ext cx="2468880" cy="640080"/>
          </a:xfrm>
          <a:prstGeom prst="rect">
            <a:avLst/>
          </a:prstGeom>
          <a:noFill/>
          <a:effectLst/>
        </p:spPr>
        <p:txBody>
          <a:bodyPr wrap="none" lIns="0" tIns="0" rIns="0" bIns="0" anchor="t">
            <a:spAutoFit/>
          </a:bodyPr>
          <a:lstStyle/>
          <a:p>
            <a:pPr algn="l">
              <a:lnSpc>
                <a:spcPts val="3451"/>
              </a:lnSpc>
              <a:spcBef>
                <a:spcPts val="0"/>
              </a:spcBef>
              <a:spcAft>
                <a:spcPts val="0"/>
              </a:spcAft>
            </a:pPr>
            <a:r>
              <a:rPr lang="vi-VN" sz="2900" b="1">
                <a:solidFill>
                  <a:srgbClr val="005A9C"/>
                </a:solidFill>
                <a:latin typeface="Arial"/>
              </a:rPr>
              <a:t>993.336</a:t>
            </a:r>
          </a:p>
        </p:txBody>
      </p:sp>
      <p:sp>
        <p:nvSpPr>
          <p:cNvPr id="13" name="TextBox 14"/>
          <p:cNvSpPr txBox="1"/>
          <p:nvPr/>
        </p:nvSpPr>
        <p:spPr>
          <a:xfrm>
            <a:off x="6327648" y="2971800"/>
            <a:ext cx="2468880" cy="585216"/>
          </a:xfrm>
          <a:prstGeom prst="rect">
            <a:avLst/>
          </a:prstGeom>
          <a:noFill/>
          <a:effectLst/>
        </p:spPr>
        <p:txBody>
          <a:bodyPr wrap="none" lIns="0" tIns="0" rIns="0" bIns="0" anchor="t">
            <a:spAutoFit/>
          </a:bodyPr>
          <a:lstStyle/>
          <a:p>
            <a:pPr algn="l">
              <a:lnSpc>
                <a:spcPts val="1606"/>
              </a:lnSpc>
              <a:spcBef>
                <a:spcPts val="0"/>
              </a:spcBef>
              <a:spcAft>
                <a:spcPts val="0"/>
              </a:spcAft>
            </a:pPr>
            <a:r>
              <a:rPr lang="vi-VN" sz="1350" b="0">
                <a:solidFill>
                  <a:srgbClr val="536373"/>
                </a:solidFill>
                <a:latin typeface="Arial"/>
              </a:rPr>
              <a:t>cặp query–item target</a:t>
            </a:r>
          </a:p>
        </p:txBody>
      </p:sp>
      <p:sp>
        <p:nvSpPr>
          <p:cNvPr id="14" name="TextBox 15"/>
          <p:cNvSpPr txBox="1"/>
          <p:nvPr/>
        </p:nvSpPr>
        <p:spPr>
          <a:xfrm>
            <a:off x="9189720" y="2267712"/>
            <a:ext cx="2468880" cy="640080"/>
          </a:xfrm>
          <a:prstGeom prst="rect">
            <a:avLst/>
          </a:prstGeom>
          <a:noFill/>
          <a:effectLst/>
        </p:spPr>
        <p:txBody>
          <a:bodyPr wrap="none" lIns="0" tIns="0" rIns="0" bIns="0" anchor="t">
            <a:spAutoFit/>
          </a:bodyPr>
          <a:lstStyle/>
          <a:p>
            <a:pPr algn="l">
              <a:lnSpc>
                <a:spcPts val="3451"/>
              </a:lnSpc>
              <a:spcBef>
                <a:spcPts val="0"/>
              </a:spcBef>
              <a:spcAft>
                <a:spcPts val="0"/>
              </a:spcAft>
            </a:pPr>
            <a:r>
              <a:rPr lang="vi-VN" sz="2900" b="1">
                <a:solidFill>
                  <a:srgbClr val="005A9C"/>
                </a:solidFill>
                <a:latin typeface="Arial"/>
              </a:rPr>
              <a:t>20</a:t>
            </a:r>
          </a:p>
        </p:txBody>
      </p:sp>
      <p:sp>
        <p:nvSpPr>
          <p:cNvPr id="15" name="TextBox 16"/>
          <p:cNvSpPr txBox="1"/>
          <p:nvPr/>
        </p:nvSpPr>
        <p:spPr>
          <a:xfrm>
            <a:off x="9189720" y="2971800"/>
            <a:ext cx="2468880" cy="585216"/>
          </a:xfrm>
          <a:prstGeom prst="rect">
            <a:avLst/>
          </a:prstGeom>
          <a:noFill/>
          <a:effectLst/>
        </p:spPr>
        <p:txBody>
          <a:bodyPr wrap="none" lIns="0" tIns="0" rIns="0" bIns="0" anchor="t">
            <a:spAutoFit/>
          </a:bodyPr>
          <a:lstStyle/>
          <a:p>
            <a:pPr algn="l">
              <a:lnSpc>
                <a:spcPts val="1606"/>
              </a:lnSpc>
              <a:spcBef>
                <a:spcPts val="0"/>
              </a:spcBef>
              <a:spcAft>
                <a:spcPts val="0"/>
              </a:spcAft>
            </a:pPr>
            <a:r>
              <a:rPr lang="vi-VN" sz="1350" b="0">
                <a:solidFill>
                  <a:srgbClr val="536373"/>
                </a:solidFill>
                <a:latin typeface="Arial"/>
              </a:rPr>
              <a:t>Parquet đã xác minh</a:t>
            </a:r>
          </a:p>
        </p:txBody>
      </p:sp>
      <p:sp>
        <p:nvSpPr>
          <p:cNvPr id="16" name="Rectangle 17"/>
          <p:cNvSpPr/>
          <p:nvPr/>
        </p:nvSpPr>
        <p:spPr>
          <a:xfrm>
            <a:off x="594360" y="3657600"/>
            <a:ext cx="10991088" cy="475488"/>
          </a:xfrm>
          <a:prstGeom prst="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8"/>
          <p:cNvSpPr txBox="1"/>
          <p:nvPr/>
        </p:nvSpPr>
        <p:spPr>
          <a:xfrm>
            <a:off x="722376" y="3813048"/>
            <a:ext cx="2670048" cy="265176"/>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1">
                <a:solidFill>
                  <a:srgbClr val="FFFFFF"/>
                </a:solidFill>
                <a:latin typeface="Arial"/>
              </a:rPr>
              <a:t>Chỉ tiêu</a:t>
            </a:r>
          </a:p>
        </p:txBody>
      </p:sp>
      <p:sp>
        <p:nvSpPr>
          <p:cNvPr id="18" name="TextBox 19"/>
          <p:cNvSpPr txBox="1"/>
          <p:nvPr/>
        </p:nvSpPr>
        <p:spPr>
          <a:xfrm>
            <a:off x="3648456" y="3813048"/>
            <a:ext cx="2487168" cy="265176"/>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1">
                <a:solidFill>
                  <a:srgbClr val="FFFFFF"/>
                </a:solidFill>
                <a:latin typeface="Arial"/>
              </a:rPr>
              <a:t>Train</a:t>
            </a:r>
          </a:p>
        </p:txBody>
      </p:sp>
      <p:sp>
        <p:nvSpPr>
          <p:cNvPr id="19" name="TextBox 20"/>
          <p:cNvSpPr txBox="1"/>
          <p:nvPr/>
        </p:nvSpPr>
        <p:spPr>
          <a:xfrm>
            <a:off x="6391655" y="3813048"/>
            <a:ext cx="2487168" cy="265176"/>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1">
                <a:solidFill>
                  <a:srgbClr val="FFFFFF"/>
                </a:solidFill>
                <a:latin typeface="Arial"/>
              </a:rPr>
              <a:t>Validation</a:t>
            </a:r>
          </a:p>
        </p:txBody>
      </p:sp>
      <p:sp>
        <p:nvSpPr>
          <p:cNvPr id="20" name="TextBox 21"/>
          <p:cNvSpPr txBox="1"/>
          <p:nvPr/>
        </p:nvSpPr>
        <p:spPr>
          <a:xfrm>
            <a:off x="9134856" y="3813048"/>
            <a:ext cx="2322576" cy="265176"/>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1">
                <a:solidFill>
                  <a:srgbClr val="FFFFFF"/>
                </a:solidFill>
                <a:latin typeface="Arial"/>
              </a:rPr>
              <a:t>Test</a:t>
            </a:r>
          </a:p>
        </p:txBody>
      </p:sp>
      <p:sp>
        <p:nvSpPr>
          <p:cNvPr id="21" name="Rectangle 22"/>
          <p:cNvSpPr/>
          <p:nvPr/>
        </p:nvSpPr>
        <p:spPr>
          <a:xfrm>
            <a:off x="594360" y="4133087"/>
            <a:ext cx="10991088"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3"/>
          <p:cNvSpPr txBox="1"/>
          <p:nvPr/>
        </p:nvSpPr>
        <p:spPr>
          <a:xfrm>
            <a:off x="722376" y="4288536"/>
            <a:ext cx="2670048" cy="265176"/>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003366"/>
                </a:solidFill>
                <a:latin typeface="Arial"/>
              </a:rPr>
              <a:t>Query next-step</a:t>
            </a:r>
          </a:p>
        </p:txBody>
      </p:sp>
      <p:sp>
        <p:nvSpPr>
          <p:cNvPr id="23" name="TextBox 24"/>
          <p:cNvSpPr txBox="1"/>
          <p:nvPr/>
        </p:nvSpPr>
        <p:spPr>
          <a:xfrm>
            <a:off x="3648456" y="4288536"/>
            <a:ext cx="2487168" cy="265176"/>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003366"/>
                </a:solidFill>
                <a:latin typeface="Arial"/>
              </a:rPr>
              <a:t>806.025</a:t>
            </a:r>
          </a:p>
        </p:txBody>
      </p:sp>
      <p:sp>
        <p:nvSpPr>
          <p:cNvPr id="24" name="TextBox 25"/>
          <p:cNvSpPr txBox="1"/>
          <p:nvPr/>
        </p:nvSpPr>
        <p:spPr>
          <a:xfrm>
            <a:off x="6391655" y="4288536"/>
            <a:ext cx="2487168" cy="265176"/>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003366"/>
                </a:solidFill>
                <a:latin typeface="Arial"/>
              </a:rPr>
              <a:t>92.566</a:t>
            </a:r>
          </a:p>
        </p:txBody>
      </p:sp>
      <p:sp>
        <p:nvSpPr>
          <p:cNvPr id="25" name="TextBox 26"/>
          <p:cNvSpPr txBox="1"/>
          <p:nvPr/>
        </p:nvSpPr>
        <p:spPr>
          <a:xfrm>
            <a:off x="9134856" y="4288536"/>
            <a:ext cx="2322576" cy="265176"/>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003366"/>
                </a:solidFill>
                <a:latin typeface="Arial"/>
              </a:rPr>
              <a:t>92.468</a:t>
            </a:r>
          </a:p>
        </p:txBody>
      </p:sp>
      <p:sp>
        <p:nvSpPr>
          <p:cNvPr id="26" name="Rectangle 27"/>
          <p:cNvSpPr/>
          <p:nvPr/>
        </p:nvSpPr>
        <p:spPr>
          <a:xfrm>
            <a:off x="594360" y="4608576"/>
            <a:ext cx="10991088" cy="475488"/>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8"/>
          <p:cNvSpPr txBox="1"/>
          <p:nvPr/>
        </p:nvSpPr>
        <p:spPr>
          <a:xfrm>
            <a:off x="722376" y="4764024"/>
            <a:ext cx="2670048" cy="265176"/>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003366"/>
                </a:solidFill>
                <a:latin typeface="Arial"/>
              </a:rPr>
              <a:t>Cặp query–item target</a:t>
            </a:r>
          </a:p>
        </p:txBody>
      </p:sp>
      <p:sp>
        <p:nvSpPr>
          <p:cNvPr id="28" name="TextBox 29"/>
          <p:cNvSpPr txBox="1"/>
          <p:nvPr/>
        </p:nvSpPr>
        <p:spPr>
          <a:xfrm>
            <a:off x="3648456" y="4764024"/>
            <a:ext cx="2487168" cy="265176"/>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003366"/>
                </a:solidFill>
                <a:latin typeface="Arial"/>
              </a:rPr>
              <a:t>807.908</a:t>
            </a:r>
          </a:p>
        </p:txBody>
      </p:sp>
      <p:sp>
        <p:nvSpPr>
          <p:cNvPr id="29" name="TextBox 30"/>
          <p:cNvSpPr txBox="1"/>
          <p:nvPr/>
        </p:nvSpPr>
        <p:spPr>
          <a:xfrm>
            <a:off x="6391655" y="4764024"/>
            <a:ext cx="2487168" cy="265176"/>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003366"/>
                </a:solidFill>
                <a:latin typeface="Arial"/>
              </a:rPr>
              <a:t>92.794</a:t>
            </a:r>
          </a:p>
        </p:txBody>
      </p:sp>
      <p:sp>
        <p:nvSpPr>
          <p:cNvPr id="30" name="TextBox 31"/>
          <p:cNvSpPr txBox="1"/>
          <p:nvPr/>
        </p:nvSpPr>
        <p:spPr>
          <a:xfrm>
            <a:off x="9134856" y="4764024"/>
            <a:ext cx="2322576" cy="265176"/>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003366"/>
                </a:solidFill>
                <a:latin typeface="Arial"/>
              </a:rPr>
              <a:t>92.634</a:t>
            </a:r>
          </a:p>
        </p:txBody>
      </p:sp>
      <p:sp>
        <p:nvSpPr>
          <p:cNvPr id="31" name="Rectangle 32"/>
          <p:cNvSpPr/>
          <p:nvPr/>
        </p:nvSpPr>
        <p:spPr>
          <a:xfrm>
            <a:off x="594360" y="5084064"/>
            <a:ext cx="10991088"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3"/>
          <p:cNvSpPr txBox="1"/>
          <p:nvPr/>
        </p:nvSpPr>
        <p:spPr>
          <a:xfrm>
            <a:off x="722376" y="5239512"/>
            <a:ext cx="2670048" cy="265176"/>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003366"/>
                </a:solidFill>
                <a:latin typeface="Arial"/>
              </a:rPr>
              <a:t>Phiên tạo query</a:t>
            </a:r>
          </a:p>
        </p:txBody>
      </p:sp>
      <p:sp>
        <p:nvSpPr>
          <p:cNvPr id="33" name="TextBox 34"/>
          <p:cNvSpPr txBox="1"/>
          <p:nvPr/>
        </p:nvSpPr>
        <p:spPr>
          <a:xfrm>
            <a:off x="3648456" y="5239512"/>
            <a:ext cx="2487168" cy="265176"/>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003366"/>
                </a:solidFill>
                <a:latin typeface="Arial"/>
              </a:rPr>
              <a:t>306.332</a:t>
            </a:r>
          </a:p>
        </p:txBody>
      </p:sp>
      <p:sp>
        <p:nvSpPr>
          <p:cNvPr id="34" name="TextBox 35"/>
          <p:cNvSpPr txBox="1"/>
          <p:nvPr/>
        </p:nvSpPr>
        <p:spPr>
          <a:xfrm>
            <a:off x="6391655" y="5239512"/>
            <a:ext cx="2487168" cy="265176"/>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003366"/>
                </a:solidFill>
                <a:latin typeface="Arial"/>
              </a:rPr>
              <a:t>38.290</a:t>
            </a:r>
          </a:p>
        </p:txBody>
      </p:sp>
      <p:sp>
        <p:nvSpPr>
          <p:cNvPr id="35" name="TextBox 36"/>
          <p:cNvSpPr txBox="1"/>
          <p:nvPr/>
        </p:nvSpPr>
        <p:spPr>
          <a:xfrm>
            <a:off x="9134856" y="5239512"/>
            <a:ext cx="2322576" cy="265176"/>
          </a:xfrm>
          <a:prstGeom prst="rect">
            <a:avLst/>
          </a:prstGeom>
          <a:noFill/>
          <a:effectLst/>
        </p:spPr>
        <p:txBody>
          <a:bodyPr wrap="none" lIns="0" tIns="0" rIns="0" bIns="0" anchor="t">
            <a:spAutoFit/>
          </a:bodyPr>
          <a:lstStyle/>
          <a:p>
            <a:pPr algn="l">
              <a:lnSpc>
                <a:spcPts val="1666"/>
              </a:lnSpc>
              <a:spcBef>
                <a:spcPts val="0"/>
              </a:spcBef>
              <a:spcAft>
                <a:spcPts val="0"/>
              </a:spcAft>
            </a:pPr>
            <a:r>
              <a:rPr lang="vi-VN" sz="1400" b="0">
                <a:solidFill>
                  <a:srgbClr val="003366"/>
                </a:solidFill>
                <a:latin typeface="Arial"/>
              </a:rPr>
              <a:t>37.864</a:t>
            </a:r>
          </a:p>
        </p:txBody>
      </p:sp>
      <p:sp>
        <p:nvSpPr>
          <p:cNvPr id="36" name="Rounded Rectangle 37"/>
          <p:cNvSpPr/>
          <p:nvPr/>
        </p:nvSpPr>
        <p:spPr>
          <a:xfrm>
            <a:off x="612648" y="5833872"/>
            <a:ext cx="2468880" cy="310896"/>
          </a:xfrm>
          <a:prstGeom prst="roundRect">
            <a:avLst>
              <a:gd name="adj" fmla="val 8000"/>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8"/>
          <p:cNvSpPr txBox="1"/>
          <p:nvPr/>
        </p:nvSpPr>
        <p:spPr>
          <a:xfrm>
            <a:off x="694944" y="5893308"/>
            <a:ext cx="2304288" cy="210312"/>
          </a:xfrm>
          <a:prstGeom prst="rect">
            <a:avLst/>
          </a:prstGeom>
          <a:noFill/>
          <a:effectLst/>
        </p:spPr>
        <p:txBody>
          <a:bodyPr wrap="none" lIns="0" tIns="0" rIns="0" bIns="0" anchor="t">
            <a:spAutoFit/>
          </a:bodyPr>
          <a:lstStyle/>
          <a:p>
            <a:pPr algn="ctr">
              <a:lnSpc>
                <a:spcPts val="1082"/>
              </a:lnSpc>
              <a:spcBef>
                <a:spcPts val="0"/>
              </a:spcBef>
              <a:spcAft>
                <a:spcPts val="0"/>
              </a:spcAft>
            </a:pPr>
            <a:r>
              <a:rPr lang="vi-VN" sz="910" b="1">
                <a:solidFill>
                  <a:srgbClr val="FFFFFF"/>
                </a:solidFill>
                <a:latin typeface="Arial"/>
              </a:rPr>
              <a:t>30/30 KIỂM THỬ ĐẠT</a:t>
            </a:r>
          </a:p>
        </p:txBody>
      </p:sp>
      <p:sp>
        <p:nvSpPr>
          <p:cNvPr id="38" name="Rounded Rectangle 39"/>
          <p:cNvSpPr/>
          <p:nvPr/>
        </p:nvSpPr>
        <p:spPr>
          <a:xfrm>
            <a:off x="3273552" y="5833872"/>
            <a:ext cx="3712463" cy="310896"/>
          </a:xfrm>
          <a:prstGeom prst="roundRect">
            <a:avLst>
              <a:gd name="adj" fmla="val 8000"/>
            </a:avLst>
          </a:prstGeom>
          <a:solidFill>
            <a:srgbClr val="005A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40"/>
          <p:cNvSpPr txBox="1"/>
          <p:nvPr/>
        </p:nvSpPr>
        <p:spPr>
          <a:xfrm>
            <a:off x="3355848" y="5893308"/>
            <a:ext cx="3547871" cy="210312"/>
          </a:xfrm>
          <a:prstGeom prst="rect">
            <a:avLst/>
          </a:prstGeom>
          <a:noFill/>
          <a:effectLst/>
        </p:spPr>
        <p:txBody>
          <a:bodyPr wrap="none" lIns="0" tIns="0" rIns="0" bIns="0" anchor="t">
            <a:spAutoFit/>
          </a:bodyPr>
          <a:lstStyle/>
          <a:p>
            <a:pPr algn="ctr">
              <a:lnSpc>
                <a:spcPts val="1082"/>
              </a:lnSpc>
              <a:spcBef>
                <a:spcPts val="0"/>
              </a:spcBef>
              <a:spcAft>
                <a:spcPts val="0"/>
              </a:spcAft>
            </a:pPr>
            <a:r>
              <a:rPr lang="vi-VN" sz="910" b="1">
                <a:solidFill>
                  <a:srgbClr val="FFFFFF"/>
                </a:solidFill>
                <a:latin typeface="Arial"/>
              </a:rPr>
              <a:t>20/20 TỆP KHỚP MANIFEST</a:t>
            </a:r>
          </a:p>
        </p:txBody>
      </p:sp>
      <p:sp>
        <p:nvSpPr>
          <p:cNvPr id="40" name="TextBox 41"/>
          <p:cNvSpPr txBox="1"/>
          <p:nvPr/>
        </p:nvSpPr>
        <p:spPr>
          <a:xfrm>
            <a:off x="7315200" y="5897880"/>
            <a:ext cx="4160520" cy="265176"/>
          </a:xfrm>
          <a:prstGeom prst="rect">
            <a:avLst/>
          </a:prstGeom>
          <a:noFill/>
          <a:effectLst/>
        </p:spPr>
        <p:txBody>
          <a:bodyPr wrap="none" lIns="0" tIns="0" rIns="0" bIns="0" anchor="t">
            <a:spAutoFit/>
          </a:bodyPr>
          <a:lstStyle/>
          <a:p>
            <a:pPr algn="l">
              <a:lnSpc>
                <a:spcPts val="1523"/>
              </a:lnSpc>
              <a:spcBef>
                <a:spcPts val="0"/>
              </a:spcBef>
              <a:spcAft>
                <a:spcPts val="0"/>
              </a:spcAft>
            </a:pPr>
            <a:r>
              <a:rPr lang="vi-VN" sz="1280" b="0">
                <a:solidFill>
                  <a:srgbClr val="536373"/>
                </a:solidFill>
                <a:latin typeface="Arial"/>
              </a:rPr>
              <a:t>38 kiểm tra dữ liệu đạt.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04 / KIỂM ĐỊNH VÀ TÁI LẬP</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Tách kiểm tra dữ liệu khỏi chất lượng gợi ý.</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Kiểm chứng dữ liệu thật, kiểm thử trường hợp biên và audit độc lập; chưa đo chất lượng mô hình.</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23 / 41</a:t>
            </a:r>
          </a:p>
        </p:txBody>
      </p:sp>
      <p:sp>
        <p:nvSpPr>
          <p:cNvPr id="105" name="heading-0-0">
            <a:extLst>
              <a:ext uri="{FF2B5EF4-FFF2-40B4-BE49-F238E27FC236}">
                <a16:creationId xmlns:a16="http://schemas.microsoft.com/office/drawing/2014/main" id="{814BE2BA-5D6B-4C87-86D8-AAC32984B7C2}"/>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38 kiểm tra pipeline đạt</a:t>
            </a:r>
          </a:p>
        </p:txBody>
      </p:sp>
      <p:sp>
        <p:nvSpPr>
          <p:cNvPr id="106" name="body-0-0">
            <a:extLst>
              <a:ext uri="{FF2B5EF4-FFF2-40B4-BE49-F238E27FC236}">
                <a16:creationId xmlns:a16="http://schemas.microsoft.com/office/drawing/2014/main" id="{C8963705-0DF4-492B-909E-F4608E2FD325}"/>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Kiểm tra toàn bộ query/target: đúng nhóm kế, đủ tập item, cùng session/split; mapping train; metadata không vượt t; kiểm tra prefix và mẫu âm.</a:t>
            </a:r>
          </a:p>
        </p:txBody>
      </p:sp>
      <p:sp>
        <p:nvSpPr>
          <p:cNvPr id="107" name="heading-0-1">
            <a:extLst>
              <a:ext uri="{FF2B5EF4-FFF2-40B4-BE49-F238E27FC236}">
                <a16:creationId xmlns:a16="http://schemas.microsoft.com/office/drawing/2014/main" id="{CB90BF17-310B-4C7C-967D-71E3E158E1DC}"/>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30 kiểm thử tự động đạt</a:t>
            </a:r>
          </a:p>
        </p:txBody>
      </p:sp>
      <p:sp>
        <p:nvSpPr>
          <p:cNvPr id="108" name="body-0-1">
            <a:extLst>
              <a:ext uri="{FF2B5EF4-FFF2-40B4-BE49-F238E27FC236}">
                <a16:creationId xmlns:a16="http://schemas.microsoft.com/office/drawing/2014/main" id="{077A657F-0E13-4401-81B6-02C249BB9AA2}"/>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Gồm nhóm đồng thời, item lặp, boundary và chạy xuyên suốt. Audit riêng 240 query / 243 cặp target thật tái tính history/label/metadata.</a:t>
            </a:r>
          </a:p>
        </p:txBody>
      </p:sp>
      <p:sp>
        <p:nvSpPr>
          <p:cNvPr id="109" name="heading-1-0">
            <a:extLst>
              <a:ext uri="{FF2B5EF4-FFF2-40B4-BE49-F238E27FC236}">
                <a16:creationId xmlns:a16="http://schemas.microsoft.com/office/drawing/2014/main" id="{6A320159-E8D7-4329-A882-09873013F3A2}"/>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Manifest và SHA-256</a:t>
            </a:r>
          </a:p>
        </p:txBody>
      </p:sp>
      <p:sp>
        <p:nvSpPr>
          <p:cNvPr id="110" name="body-1-0">
            <a:extLst>
              <a:ext uri="{FF2B5EF4-FFF2-40B4-BE49-F238E27FC236}">
                <a16:creationId xmlns:a16="http://schemas.microsoft.com/office/drawing/2014/main" id="{78B8C925-46FA-4044-B897-C4C9F15AFFEE}"/>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Schema v2, task=next_step; SHA-256 bốn raw, config, pipeline, reader và 20 Parquet đã khớp. Đã thử sửa artifact để kiểm chứng phát hiện lỗi.</a:t>
            </a:r>
          </a:p>
        </p:txBody>
      </p:sp>
      <p:sp>
        <p:nvSpPr>
          <p:cNvPr id="111" name="heading-1-1">
            <a:extLst>
              <a:ext uri="{FF2B5EF4-FFF2-40B4-BE49-F238E27FC236}">
                <a16:creationId xmlns:a16="http://schemas.microsoft.com/office/drawing/2014/main" id="{FC96E67D-1777-4B26-9B81-6E13B69A80DE}"/>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Khóa INCOMPLETE</a:t>
            </a:r>
          </a:p>
        </p:txBody>
      </p:sp>
      <p:sp>
        <p:nvSpPr>
          <p:cNvPr id="112" name="body-1-1">
            <a:extLst>
              <a:ext uri="{FF2B5EF4-FFF2-40B4-BE49-F238E27FC236}">
                <a16:creationId xmlns:a16="http://schemas.microsoft.com/office/drawing/2014/main" id="{2ED5A96B-F850-4B80-8F05-D38298753FA3}"/>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INCOMPLETE chặn nạp bộ chưa hoàn tất hoặc lần tái tạo bị lỗi. dataset_info.json xác định task/schema; verifier kiểm checksum.</a:t>
            </a:r>
          </a:p>
        </p:txBody>
      </p:sp>
      <p:sp>
        <p:nvSpPr>
          <p:cNvPr id="113" name="note">
            <a:extLst>
              <a:ext uri="{FF2B5EF4-FFF2-40B4-BE49-F238E27FC236}">
                <a16:creationId xmlns:a16="http://schemas.microsoft.com/office/drawing/2014/main" id="{93542E94-C418-4B66-8F2E-76B0EF177A45}"/>
              </a:ext>
            </a:extLst>
          </p:cNvPr>
          <p:cNvSpPr>
            <a:spLocks noGrp="1"/>
          </p:cNvSpPr>
          <p:nvPr/>
        </p:nvSpPr>
        <p:spPr>
          <a:xfrm>
            <a:off x="533400" y="5953125"/>
            <a:ext cx="11106150" cy="304800"/>
          </a:xfrm>
          <a:prstGeom prst="rect">
            <a:avLst/>
          </a:prstGeom>
          <a:noFill/>
          <a:ln w="0">
            <a:noFill/>
            <a:prstDash val="solid"/>
          </a:ln>
        </p:spPr>
        <p:txBody>
          <a:bodyPr anchor="t"/>
          <a:lstStyle>
            <a:defPPr>
              <a:defRPr sz="900" b="0">
                <a:solidFill>
                  <a:srgbClr val="536373"/>
                </a:solidFill>
              </a:defRPr>
            </a:defPPr>
            <a:lvl1pPr>
              <a:defRPr sz="900" b="0">
                <a:solidFill>
                  <a:srgbClr val="536373"/>
                </a:solidFill>
              </a:defRPr>
            </a:lvl1pPr>
            <a:lvl2pPr>
              <a:defRPr sz="900" b="0">
                <a:solidFill>
                  <a:srgbClr val="536373"/>
                </a:solidFill>
              </a:defRPr>
            </a:lvl2pPr>
            <a:lvl3pPr>
              <a:defRPr sz="900" b="0">
                <a:solidFill>
                  <a:srgbClr val="536373"/>
                </a:solidFill>
              </a:defRPr>
            </a:lvl3pPr>
            <a:lvl4pPr>
              <a:defRPr sz="900" b="0">
                <a:solidFill>
                  <a:srgbClr val="536373"/>
                </a:solidFill>
              </a:defRPr>
            </a:lvl4pPr>
            <a:lvl5pPr>
              <a:defRPr sz="900" b="0">
                <a:solidFill>
                  <a:srgbClr val="536373"/>
                </a:solidFill>
              </a:defRPr>
            </a:lvl5pPr>
            <a:lvl6pPr>
              <a:defRPr sz="900" b="0">
                <a:solidFill>
                  <a:srgbClr val="536373"/>
                </a:solidFill>
              </a:defRPr>
            </a:lvl6pPr>
            <a:lvl7pPr>
              <a:defRPr sz="900" b="0">
                <a:solidFill>
                  <a:srgbClr val="536373"/>
                </a:solidFill>
              </a:defRPr>
            </a:lvl7pPr>
            <a:lvl8pPr>
              <a:defRPr sz="900" b="0">
                <a:solidFill>
                  <a:srgbClr val="536373"/>
                </a:solidFill>
              </a:defRPr>
            </a:lvl8pPr>
            <a:lvl9pPr>
              <a:defRPr sz="900" b="0">
                <a:solidFill>
                  <a:srgbClr val="536373"/>
                </a:solidFill>
              </a:defRPr>
            </a:lvl9pPr>
          </a:lstStyle>
          <a:p>
            <a:pPr>
              <a:defRPr sz="900" b="0">
                <a:solidFill>
                  <a:srgbClr val="536373"/>
                </a:solidFill>
              </a:defRPr>
            </a:pPr>
            <a:r>
              <a:rPr sz="900" b="0">
                <a:solidFill>
                  <a:srgbClr val="536373"/>
                </a:solidFill>
              </a:rPr>
              <a:t>Pipeline vượt kiểm tra chưa chứng minh mô hình có chất lượng xếp hạng tốt.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04 / DANH MỤC ARTIFACT NEXT-STEP</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Schema v2: 14 bảng chính và 6 bảng chia tập.</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Đầu ra duy nhất data/nextstep/; số dòng thực tế nằm trong manifest của lần chạy đã xác minh.</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24 / 41</a:t>
            </a:r>
          </a:p>
        </p:txBody>
      </p:sp>
      <p:sp>
        <p:nvSpPr>
          <p:cNvPr id="105" name="heading-0-0">
            <a:extLst>
              <a:ext uri="{FF2B5EF4-FFF2-40B4-BE49-F238E27FC236}">
                <a16:creationId xmlns:a16="http://schemas.microsoft.com/office/drawing/2014/main" id="{33558E7D-2777-4869-AF93-DDDC1603F4B2}"/>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Sự kiện, thuộc tính, catalog</a:t>
            </a:r>
          </a:p>
        </p:txBody>
      </p:sp>
      <p:sp>
        <p:nvSpPr>
          <p:cNvPr id="106" name="body-0-0">
            <a:extLst>
              <a:ext uri="{FF2B5EF4-FFF2-40B4-BE49-F238E27FC236}">
                <a16:creationId xmlns:a16="http://schemas.microsoft.com/office/drawing/2014/main" id="{53415528-1770-4E41-BD12-020C32053367}"/>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events.parquet</a:t>
            </a:r>
          </a:p>
          <a:p>
            <a:pPr>
              <a:defRPr sz="1388" b="0">
                <a:solidFill>
                  <a:srgbClr val="536373"/>
                </a:solidFill>
              </a:defRPr>
            </a:pPr>
            <a:r>
              <a:rPr sz="1388" b="0">
                <a:solidFill>
                  <a:srgbClr val="536373"/>
                </a:solidFill>
              </a:rPr>
              <a:t>property_history.parquet</a:t>
            </a:r>
          </a:p>
          <a:p>
            <a:pPr>
              <a:defRPr sz="1388" b="0">
                <a:solidFill>
                  <a:srgbClr val="536373"/>
                </a:solidFill>
              </a:defRPr>
            </a:pPr>
            <a:r>
              <a:rPr sz="1388" b="0">
                <a:solidFill>
                  <a:srgbClr val="536373"/>
                </a:solidFill>
              </a:rPr>
              <a:t>category_tree.parquet</a:t>
            </a:r>
          </a:p>
          <a:p>
            <a:pPr>
              <a:defRPr sz="1388" b="0">
                <a:solidFill>
                  <a:srgbClr val="536373"/>
                </a:solidFill>
              </a:defRPr>
            </a:pPr>
            <a:r>
              <a:rPr sz="1388" b="0">
                <a:solidFill>
                  <a:srgbClr val="536373"/>
                </a:solidFill>
              </a:rPr>
              <a:t>catalog.parquet</a:t>
            </a:r>
          </a:p>
          <a:p>
            <a:pPr>
              <a:defRPr sz="1388" b="0">
                <a:solidFill>
                  <a:srgbClr val="536373"/>
                </a:solidFill>
              </a:defRPr>
            </a:pPr>
            <a:r>
              <a:rPr sz="1388" b="0">
                <a:solidFill>
                  <a:srgbClr val="536373"/>
                </a:solidFill>
              </a:rPr>
              <a:t>products_train_snapshot.parquet</a:t>
            </a:r>
          </a:p>
        </p:txBody>
      </p:sp>
      <p:sp>
        <p:nvSpPr>
          <p:cNvPr id="107" name="heading-0-1">
            <a:extLst>
              <a:ext uri="{FF2B5EF4-FFF2-40B4-BE49-F238E27FC236}">
                <a16:creationId xmlns:a16="http://schemas.microsoft.com/office/drawing/2014/main" id="{A2C711E9-CB92-4EDB-AA85-F989552DCE14}"/>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Biểu diễn train</a:t>
            </a:r>
          </a:p>
        </p:txBody>
      </p:sp>
      <p:sp>
        <p:nvSpPr>
          <p:cNvPr id="108" name="body-0-1">
            <a:extLst>
              <a:ext uri="{FF2B5EF4-FFF2-40B4-BE49-F238E27FC236}">
                <a16:creationId xmlns:a16="http://schemas.microsoft.com/office/drawing/2014/main" id="{FC0FB188-C7F1-4EA1-BA59-23562E90E45D}"/>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user_mapping.parquet</a:t>
            </a:r>
          </a:p>
          <a:p>
            <a:pPr>
              <a:defRPr sz="1388" b="0">
                <a:solidFill>
                  <a:srgbClr val="536373"/>
                </a:solidFill>
              </a:defRPr>
            </a:pPr>
            <a:r>
              <a:rPr sz="1388" b="0">
                <a:solidFill>
                  <a:srgbClr val="536373"/>
                </a:solidFill>
              </a:rPr>
              <a:t>item_mapping.parquet</a:t>
            </a:r>
          </a:p>
          <a:p>
            <a:pPr>
              <a:defRPr sz="1388" b="0">
                <a:solidFill>
                  <a:srgbClr val="536373"/>
                </a:solidFill>
              </a:defRPr>
            </a:pPr>
            <a:r>
              <a:rPr sz="1388" b="0">
                <a:solidFill>
                  <a:srgbClr val="536373"/>
                </a:solidFill>
              </a:rPr>
              <a:t>interactions_train.parquet</a:t>
            </a:r>
          </a:p>
          <a:p>
            <a:pPr>
              <a:defRPr sz="1388" b="0">
                <a:solidFill>
                  <a:srgbClr val="536373"/>
                </a:solidFill>
              </a:defRPr>
            </a:pPr>
            <a:r>
              <a:rPr sz="1388" b="0">
                <a:solidFill>
                  <a:srgbClr val="536373"/>
                </a:solidFill>
              </a:rPr>
              <a:t>behavior_edges_train.parquet</a:t>
            </a:r>
          </a:p>
        </p:txBody>
      </p:sp>
      <p:sp>
        <p:nvSpPr>
          <p:cNvPr id="109" name="heading-1-0">
            <a:extLst>
              <a:ext uri="{FF2B5EF4-FFF2-40B4-BE49-F238E27FC236}">
                <a16:creationId xmlns:a16="http://schemas.microsoft.com/office/drawing/2014/main" id="{030FE1A9-231B-4830-A650-15A156A9229A}"/>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Query, nhãn và đặc trưng</a:t>
            </a:r>
          </a:p>
        </p:txBody>
      </p:sp>
      <p:sp>
        <p:nvSpPr>
          <p:cNvPr id="110" name="body-1-0">
            <a:extLst>
              <a:ext uri="{FF2B5EF4-FFF2-40B4-BE49-F238E27FC236}">
                <a16:creationId xmlns:a16="http://schemas.microsoft.com/office/drawing/2014/main" id="{AA49A242-82E1-47FC-AAC4-4213B137CCE0}"/>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queries: 991.059.</a:t>
            </a:r>
          </a:p>
          <a:p>
            <a:pPr>
              <a:defRPr sz="1388" b="0">
                <a:solidFill>
                  <a:srgbClr val="536373"/>
                </a:solidFill>
              </a:defRPr>
            </a:pPr>
            <a:r>
              <a:rPr sz="1388" b="0">
                <a:solidFill>
                  <a:srgbClr val="536373"/>
                </a:solidFill>
              </a:rPr>
              <a:t>nextstep_targets: 993.336.</a:t>
            </a:r>
          </a:p>
          <a:p>
            <a:pPr>
              <a:defRPr sz="1388" b="0">
                <a:solidFill>
                  <a:srgbClr val="536373"/>
                </a:solidFill>
              </a:defRPr>
            </a:pPr>
            <a:r>
              <a:rPr sz="1388" b="0">
                <a:solidFill>
                  <a:srgbClr val="536373"/>
                </a:solidFill>
              </a:rPr>
              <a:t>query_features: 991.059.</a:t>
            </a:r>
          </a:p>
          <a:p>
            <a:pPr>
              <a:defRPr sz="1388" b="0">
                <a:solidFill>
                  <a:srgbClr val="536373"/>
                </a:solidFill>
              </a:defRPr>
            </a:pPr>
            <a:r>
              <a:rPr sz="1388" b="0">
                <a:solidFill>
                  <a:srgbClr val="536373"/>
                </a:solidFill>
              </a:rPr>
              <a:t>excluded_steps: 1.761.956.</a:t>
            </a:r>
          </a:p>
          <a:p>
            <a:pPr>
              <a:defRPr sz="1388" b="0">
                <a:solidFill>
                  <a:srgbClr val="536373"/>
                </a:solidFill>
              </a:defRPr>
            </a:pPr>
            <a:r>
              <a:rPr sz="1388" b="0">
                <a:solidFill>
                  <a:srgbClr val="536373"/>
                </a:solidFill>
              </a:rPr>
              <a:t>negative_samples_train: 0 (tắt).</a:t>
            </a:r>
          </a:p>
        </p:txBody>
      </p:sp>
      <p:sp>
        <p:nvSpPr>
          <p:cNvPr id="111" name="heading-1-1">
            <a:extLst>
              <a:ext uri="{FF2B5EF4-FFF2-40B4-BE49-F238E27FC236}">
                <a16:creationId xmlns:a16="http://schemas.microsoft.com/office/drawing/2014/main" id="{5F0FD2C8-079A-439C-83F2-7FCD7EF9388B}"/>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Sáu tệp splits/</a:t>
            </a:r>
          </a:p>
        </p:txBody>
      </p:sp>
      <p:sp>
        <p:nvSpPr>
          <p:cNvPr id="112" name="body-1-1">
            <a:extLst>
              <a:ext uri="{FF2B5EF4-FFF2-40B4-BE49-F238E27FC236}">
                <a16:creationId xmlns:a16="http://schemas.microsoft.com/office/drawing/2014/main" id="{079DE076-857E-4A5B-8B27-5F56CDFA9088}"/>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splits/train_queries, train_targets.</a:t>
            </a:r>
          </a:p>
          <a:p>
            <a:pPr>
              <a:defRPr sz="1388" b="0">
                <a:solidFill>
                  <a:srgbClr val="536373"/>
                </a:solidFill>
              </a:defRPr>
            </a:pPr>
            <a:r>
              <a:rPr sz="1388" b="0">
                <a:solidFill>
                  <a:srgbClr val="536373"/>
                </a:solidFill>
              </a:rPr>
              <a:t>splits/validation_queries, validation_targets.</a:t>
            </a:r>
          </a:p>
          <a:p>
            <a:pPr>
              <a:defRPr sz="1388" b="0">
                <a:solidFill>
                  <a:srgbClr val="536373"/>
                </a:solidFill>
              </a:defRPr>
            </a:pPr>
            <a:r>
              <a:rPr sz="1388" b="0">
                <a:solidFill>
                  <a:srgbClr val="536373"/>
                </a:solidFill>
              </a:rPr>
              <a:t>splits/test_queries, test_targets.</a:t>
            </a:r>
          </a:p>
          <a:p>
            <a:pPr>
              <a:defRPr sz="1388" b="0">
                <a:solidFill>
                  <a:srgbClr val="536373"/>
                </a:solidFill>
              </a:defRPr>
            </a:pPr>
            <a:r>
              <a:rPr sz="1388" b="0">
                <a:solidFill>
                  <a:srgbClr val="536373"/>
                </a:solidFill>
              </a:rPr>
              <a:t>Các bảng có đuôi .parquet; dataset_info.json ghi task/schema.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04 / MÃ NGUỒN VÀ TÀI LIỆU</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Các thành phần đã bàn giao trong codebase.</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Một pipeline và một cấu hình next-step; không còn notebook tiền xử lý tạo mẫu song song.</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25 / 41</a:t>
            </a:r>
          </a:p>
        </p:txBody>
      </p:sp>
      <p:sp>
        <p:nvSpPr>
          <p:cNvPr id="105" name="heading-0-0">
            <a:extLst>
              <a:ext uri="{FF2B5EF4-FFF2-40B4-BE49-F238E27FC236}">
                <a16:creationId xmlns:a16="http://schemas.microsoft.com/office/drawing/2014/main" id="{71FF4F47-4D6D-4154-8374-AB4AD9B6B6C4}"/>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Pipeline và cấu hình</a:t>
            </a:r>
          </a:p>
        </p:txBody>
      </p:sp>
      <p:sp>
        <p:nvSpPr>
          <p:cNvPr id="106" name="body-0-0">
            <a:extLst>
              <a:ext uri="{FF2B5EF4-FFF2-40B4-BE49-F238E27FC236}">
                <a16:creationId xmlns:a16="http://schemas.microsoft.com/office/drawing/2014/main" id="{A02DC4EC-D2D6-4634-B4FD-13F5CBFAFD88}"/>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scripts/prepare_nextstep.py</a:t>
            </a:r>
          </a:p>
          <a:p>
            <a:pPr>
              <a:defRPr sz="1388" b="0">
                <a:solidFill>
                  <a:srgbClr val="536373"/>
                </a:solidFill>
              </a:defRPr>
            </a:pPr>
            <a:r>
              <a:rPr sz="1388" b="0">
                <a:solidFill>
                  <a:srgbClr val="536373"/>
                </a:solidFill>
              </a:rPr>
              <a:t>configs/nextstep.json</a:t>
            </a:r>
          </a:p>
          <a:p>
            <a:pPr>
              <a:defRPr sz="1388" b="0">
                <a:solidFill>
                  <a:srgbClr val="536373"/>
                </a:solidFill>
              </a:defRPr>
            </a:pPr>
            <a:r>
              <a:rPr sz="1388" b="0">
                <a:solidFill>
                  <a:srgbClr val="536373"/>
                </a:solidFill>
              </a:rPr>
              <a:t>scripts/dataset.py</a:t>
            </a:r>
          </a:p>
          <a:p>
            <a:pPr>
              <a:defRPr sz="1388" b="0">
                <a:solidFill>
                  <a:srgbClr val="536373"/>
                </a:solidFill>
              </a:defRPr>
            </a:pPr>
            <a:r>
              <a:rPr sz="1388" b="0">
                <a:solidFill>
                  <a:srgbClr val="536373"/>
                </a:solidFill>
              </a:rPr>
              <a:t>scripts/verify_artifacts.py</a:t>
            </a:r>
          </a:p>
          <a:p>
            <a:pPr>
              <a:defRPr sz="1388" b="0">
                <a:solidFill>
                  <a:srgbClr val="536373"/>
                </a:solidFill>
              </a:defRPr>
            </a:pPr>
            <a:r>
              <a:rPr sz="1388" b="0">
                <a:solidFill>
                  <a:srgbClr val="536373"/>
                </a:solidFill>
              </a:rPr>
              <a:t>scripts/audit_nextstep.py</a:t>
            </a:r>
          </a:p>
        </p:txBody>
      </p:sp>
      <p:sp>
        <p:nvSpPr>
          <p:cNvPr id="107" name="heading-0-1">
            <a:extLst>
              <a:ext uri="{FF2B5EF4-FFF2-40B4-BE49-F238E27FC236}">
                <a16:creationId xmlns:a16="http://schemas.microsoft.com/office/drawing/2014/main" id="{52D54313-76E1-4F68-BD56-C4EE4F7280B5}"/>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Báo cáo kiểm định</a:t>
            </a:r>
          </a:p>
        </p:txBody>
      </p:sp>
      <p:sp>
        <p:nvSpPr>
          <p:cNvPr id="108" name="body-0-1">
            <a:extLst>
              <a:ext uri="{FF2B5EF4-FFF2-40B4-BE49-F238E27FC236}">
                <a16:creationId xmlns:a16="http://schemas.microsoft.com/office/drawing/2014/main" id="{9DDF9BF3-4209-45AC-9E69-7E8D1BC8E16A}"/>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reports/nextstep/summary.json</a:t>
            </a:r>
          </a:p>
          <a:p>
            <a:pPr>
              <a:defRPr sz="1388" b="0">
                <a:solidFill>
                  <a:srgbClr val="536373"/>
                </a:solidFill>
              </a:defRPr>
            </a:pPr>
            <a:r>
              <a:rPr sz="1388" b="0">
                <a:solidFill>
                  <a:srgbClr val="536373"/>
                </a:solidFill>
              </a:rPr>
              <a:t>reports/nextstep/manifest.json</a:t>
            </a:r>
          </a:p>
          <a:p>
            <a:pPr>
              <a:defRPr sz="1388" b="0">
                <a:solidFill>
                  <a:srgbClr val="536373"/>
                </a:solidFill>
              </a:defRPr>
            </a:pPr>
            <a:r>
              <a:rPr sz="1388" b="0">
                <a:solidFill>
                  <a:srgbClr val="536373"/>
                </a:solidFill>
              </a:rPr>
              <a:t>reports/nextstep/analysis.json</a:t>
            </a:r>
          </a:p>
          <a:p>
            <a:pPr>
              <a:defRPr sz="1388" b="0">
                <a:solidFill>
                  <a:srgbClr val="536373"/>
                </a:solidFill>
              </a:defRPr>
            </a:pPr>
            <a:r>
              <a:rPr sz="1388" b="0">
                <a:solidFill>
                  <a:srgbClr val="536373"/>
                </a:solidFill>
              </a:rPr>
              <a:t>reports/nextstep/validation.json</a:t>
            </a:r>
          </a:p>
        </p:txBody>
      </p:sp>
      <p:sp>
        <p:nvSpPr>
          <p:cNvPr id="109" name="heading-1-0">
            <a:extLst>
              <a:ext uri="{FF2B5EF4-FFF2-40B4-BE49-F238E27FC236}">
                <a16:creationId xmlns:a16="http://schemas.microsoft.com/office/drawing/2014/main" id="{4AD626B6-A986-41D8-BC1D-A9979D38E7F0}"/>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Giao thức và từ điển dữ liệu</a:t>
            </a:r>
          </a:p>
        </p:txBody>
      </p:sp>
      <p:sp>
        <p:nvSpPr>
          <p:cNvPr id="110" name="body-1-0">
            <a:extLst>
              <a:ext uri="{FF2B5EF4-FFF2-40B4-BE49-F238E27FC236}">
                <a16:creationId xmlns:a16="http://schemas.microsoft.com/office/drawing/2014/main" id="{155EC514-C6CC-4D11-9515-67A46B49D5B9}"/>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docs/DATA_PROTOCOL.md</a:t>
            </a:r>
          </a:p>
          <a:p>
            <a:pPr>
              <a:defRPr sz="1388" b="0">
                <a:solidFill>
                  <a:srgbClr val="536373"/>
                </a:solidFill>
              </a:defRPr>
            </a:pPr>
            <a:r>
              <a:rPr sz="1388" b="0">
                <a:solidFill>
                  <a:srgbClr val="536373"/>
                </a:solidFill>
              </a:rPr>
              <a:t>docs/DATA_DICTIONARY.md</a:t>
            </a:r>
          </a:p>
        </p:txBody>
      </p:sp>
      <p:sp>
        <p:nvSpPr>
          <p:cNvPr id="111" name="heading-1-1">
            <a:extLst>
              <a:ext uri="{FF2B5EF4-FFF2-40B4-BE49-F238E27FC236}">
                <a16:creationId xmlns:a16="http://schemas.microsoft.com/office/drawing/2014/main" id="{74557B41-14B2-4FEA-BBD3-81E077A62A71}"/>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Notebook và đề cương</a:t>
            </a:r>
          </a:p>
        </p:txBody>
      </p:sp>
      <p:sp>
        <p:nvSpPr>
          <p:cNvPr id="112" name="body-1-1">
            <a:extLst>
              <a:ext uri="{FF2B5EF4-FFF2-40B4-BE49-F238E27FC236}">
                <a16:creationId xmlns:a16="http://schemas.microsoft.com/office/drawing/2014/main" id="{77C6AC56-83FC-4F00-A5D3-B6B189185A56}"/>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01_data_audit.ipynb: nguồn CSV.</a:t>
            </a:r>
          </a:p>
          <a:p>
            <a:pPr>
              <a:defRPr sz="1388" b="0">
                <a:solidFill>
                  <a:srgbClr val="536373"/>
                </a:solidFill>
              </a:defRPr>
            </a:pPr>
            <a:r>
              <a:rPr sz="1388" b="0">
                <a:solidFill>
                  <a:srgbClr val="536373"/>
                </a:solidFill>
              </a:rPr>
              <a:t>02_nextstep_overview.ipynb: prefix/target.</a:t>
            </a:r>
          </a:p>
          <a:p>
            <a:pPr>
              <a:defRPr sz="1388" b="0">
                <a:solidFill>
                  <a:srgbClr val="536373"/>
                </a:solidFill>
              </a:defRPr>
            </a:pPr>
            <a:r>
              <a:rPr sz="1388" b="0">
                <a:solidFill>
                  <a:srgbClr val="536373"/>
                </a:solidFill>
              </a:rPr>
              <a:t>03_xem_du_lieu_parquet.ipynb: xem bảng.</a:t>
            </a:r>
          </a:p>
          <a:p>
            <a:pPr>
              <a:defRPr sz="1388" b="0">
                <a:solidFill>
                  <a:srgbClr val="536373"/>
                </a:solidFill>
              </a:defRPr>
            </a:pPr>
            <a:r>
              <a:rPr sz="1388" b="0">
                <a:solidFill>
                  <a:srgbClr val="536373"/>
                </a:solidFill>
              </a:rPr>
              <a:t>Cả ba notebook đã chạy thành công.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05 / BỘ MẪU NEXT-STEP ĐÃ CÀI ĐẶT</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Prefix theo nhóm timestamp, target dạng tập.</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Đã chạy trên toàn dữ liệu; 1.836 query có tập target gồm nhiều item.</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26 / 41</a:t>
            </a:r>
          </a:p>
        </p:txBody>
      </p:sp>
      <p:sp>
        <p:nvSpPr>
          <p:cNvPr id="105" name="heading-0-0">
            <a:extLst>
              <a:ext uri="{FF2B5EF4-FFF2-40B4-BE49-F238E27FC236}">
                <a16:creationId xmlns:a16="http://schemas.microsoft.com/office/drawing/2014/main" id="{8A9983EF-A425-4D30-93C0-D33119DA7DE3}"/>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Đầu vào và nhãn</a:t>
            </a:r>
          </a:p>
        </p:txBody>
      </p:sp>
      <p:sp>
        <p:nvSpPr>
          <p:cNvPr id="106" name="body-0-0">
            <a:extLst>
              <a:ext uri="{FF2B5EF4-FFF2-40B4-BE49-F238E27FC236}">
                <a16:creationId xmlns:a16="http://schemas.microsoft.com/office/drawing/2014/main" id="{ACA85762-FB0E-4D9C-836B-A4CF8C04AF8E}"/>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Tại nhóm g, prefix gồm các nhóm từ đầu phiên đến g. Target G là tập item khác nhau của nhóm g+1.</a:t>
            </a:r>
          </a:p>
        </p:txBody>
      </p:sp>
      <p:sp>
        <p:nvSpPr>
          <p:cNvPr id="107" name="heading-0-1">
            <a:extLst>
              <a:ext uri="{FF2B5EF4-FFF2-40B4-BE49-F238E27FC236}">
                <a16:creationId xmlns:a16="http://schemas.microsoft.com/office/drawing/2014/main" id="{0A6AD222-8FCA-4BB6-9B6A-2C6EC9A819D7}"/>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Sự kiện cùng timestamp</a:t>
            </a:r>
          </a:p>
        </p:txBody>
      </p:sp>
      <p:sp>
        <p:nvSpPr>
          <p:cNvPr id="108" name="body-0-1">
            <a:extLst>
              <a:ext uri="{FF2B5EF4-FFF2-40B4-BE49-F238E27FC236}">
                <a16:creationId xmlns:a16="http://schemas.microsoft.com/office/drawing/2014/main" id="{BDE19E68-C675-4510-95A0-7CC344D863BD}"/>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Không tự áp thứ tự giả. Mô hình cần biểu diễn theo nhóm hoặc quy ước công bố rõ. Nhiều sự kiện cùng item ở target chỉ tính một relevance.</a:t>
            </a:r>
          </a:p>
        </p:txBody>
      </p:sp>
      <p:sp>
        <p:nvSpPr>
          <p:cNvPr id="109" name="heading-1-0">
            <a:extLst>
              <a:ext uri="{FF2B5EF4-FFF2-40B4-BE49-F238E27FC236}">
                <a16:creationId xmlns:a16="http://schemas.microsoft.com/office/drawing/2014/main" id="{2D4DCAD5-BF86-45EB-82A6-1ADAC4E77151}"/>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Ví dụ minh họa</a:t>
            </a:r>
          </a:p>
        </p:txBody>
      </p:sp>
      <p:sp>
        <p:nvSpPr>
          <p:cNvPr id="110" name="body-1-0">
            <a:extLst>
              <a:ext uri="{FF2B5EF4-FFF2-40B4-BE49-F238E27FC236}">
                <a16:creationId xmlns:a16="http://schemas.microsoft.com/office/drawing/2014/main" id="{8873D5F5-E60E-4574-8153-D21BC8533B75}"/>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Nhóm 1: xem A.</a:t>
            </a:r>
          </a:p>
          <a:p>
            <a:pPr>
              <a:defRPr sz="1388" b="0">
                <a:solidFill>
                  <a:srgbClr val="536373"/>
                </a:solidFill>
              </a:defRPr>
            </a:pPr>
            <a:r>
              <a:rPr sz="1388" b="0">
                <a:solidFill>
                  <a:srgbClr val="536373"/>
                </a:solidFill>
              </a:rPr>
              <a:t>Nhóm 2: xem B.</a:t>
            </a:r>
          </a:p>
          <a:p>
            <a:pPr>
              <a:defRPr sz="1388" b="0">
                <a:solidFill>
                  <a:srgbClr val="536373"/>
                </a:solidFill>
              </a:defRPr>
            </a:pPr>
            <a:r>
              <a:rPr sz="1388" b="0">
                <a:solidFill>
                  <a:srgbClr val="536373"/>
                </a:solidFill>
              </a:rPr>
              <a:t>Nhóm 3: thêm giỏ B và xem C.</a:t>
            </a:r>
          </a:p>
          <a:p>
            <a:pPr>
              <a:defRPr sz="1388" b="0">
                <a:solidFill>
                  <a:srgbClr val="536373"/>
                </a:solidFill>
              </a:defRPr>
            </a:pPr>
            <a:r>
              <a:rPr sz="1388" b="0">
                <a:solidFill>
                  <a:srgbClr val="536373"/>
                </a:solidFill>
              </a:rPr>
              <a:t>Query sau nhóm 2 có prefix A, B và target {B, C}.</a:t>
            </a:r>
          </a:p>
        </p:txBody>
      </p:sp>
      <p:sp>
        <p:nvSpPr>
          <p:cNvPr id="111" name="heading-1-1">
            <a:extLst>
              <a:ext uri="{FF2B5EF4-FFF2-40B4-BE49-F238E27FC236}">
                <a16:creationId xmlns:a16="http://schemas.microsoft.com/office/drawing/2014/main" id="{6E2E0937-6854-4622-97B7-6AE971BB4D83}"/>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Trường hợp không tạo mẫu</a:t>
            </a:r>
          </a:p>
        </p:txBody>
      </p:sp>
      <p:sp>
        <p:nvSpPr>
          <p:cNvPr id="112" name="body-1-1">
            <a:extLst>
              <a:ext uri="{FF2B5EF4-FFF2-40B4-BE49-F238E27FC236}">
                <a16:creationId xmlns:a16="http://schemas.microsoft.com/office/drawing/2014/main" id="{DED4783F-0F04-43C1-95E2-A580A2E2B078}"/>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Nhóm cuối không có nhãn tiếp theo. Phiên chỉ có một nhóm timestamp không tạo mẫu có target nhưng vẫn giữ trong nền dữ liệu.</a:t>
            </a:r>
          </a:p>
        </p:txBody>
      </p:sp>
      <p:sp>
        <p:nvSpPr>
          <p:cNvPr id="113" name="note">
            <a:extLst>
              <a:ext uri="{FF2B5EF4-FFF2-40B4-BE49-F238E27FC236}">
                <a16:creationId xmlns:a16="http://schemas.microsoft.com/office/drawing/2014/main" id="{43121C41-B153-48D6-9E7E-0C908018D482}"/>
              </a:ext>
            </a:extLst>
          </p:cNvPr>
          <p:cNvSpPr>
            <a:spLocks noGrp="1"/>
          </p:cNvSpPr>
          <p:nvPr/>
        </p:nvSpPr>
        <p:spPr>
          <a:xfrm>
            <a:off x="533400" y="5953125"/>
            <a:ext cx="11106150" cy="304800"/>
          </a:xfrm>
          <a:prstGeom prst="rect">
            <a:avLst/>
          </a:prstGeom>
          <a:noFill/>
          <a:ln w="0">
            <a:noFill/>
            <a:prstDash val="solid"/>
          </a:ln>
        </p:spPr>
        <p:txBody>
          <a:bodyPr anchor="t"/>
          <a:lstStyle>
            <a:defPPr>
              <a:defRPr sz="900" b="0">
                <a:solidFill>
                  <a:srgbClr val="536373"/>
                </a:solidFill>
              </a:defRPr>
            </a:defPPr>
            <a:lvl1pPr>
              <a:defRPr sz="900" b="0">
                <a:solidFill>
                  <a:srgbClr val="536373"/>
                </a:solidFill>
              </a:defRPr>
            </a:lvl1pPr>
            <a:lvl2pPr>
              <a:defRPr sz="900" b="0">
                <a:solidFill>
                  <a:srgbClr val="536373"/>
                </a:solidFill>
              </a:defRPr>
            </a:lvl2pPr>
            <a:lvl3pPr>
              <a:defRPr sz="900" b="0">
                <a:solidFill>
                  <a:srgbClr val="536373"/>
                </a:solidFill>
              </a:defRPr>
            </a:lvl3pPr>
            <a:lvl4pPr>
              <a:defRPr sz="900" b="0">
                <a:solidFill>
                  <a:srgbClr val="536373"/>
                </a:solidFill>
              </a:defRPr>
            </a:lvl4pPr>
            <a:lvl5pPr>
              <a:defRPr sz="900" b="0">
                <a:solidFill>
                  <a:srgbClr val="536373"/>
                </a:solidFill>
              </a:defRPr>
            </a:lvl5pPr>
            <a:lvl6pPr>
              <a:defRPr sz="900" b="0">
                <a:solidFill>
                  <a:srgbClr val="536373"/>
                </a:solidFill>
              </a:defRPr>
            </a:lvl6pPr>
            <a:lvl7pPr>
              <a:defRPr sz="900" b="0">
                <a:solidFill>
                  <a:srgbClr val="536373"/>
                </a:solidFill>
              </a:defRPr>
            </a:lvl7pPr>
            <a:lvl8pPr>
              <a:defRPr sz="900" b="0">
                <a:solidFill>
                  <a:srgbClr val="536373"/>
                </a:solidFill>
              </a:defRPr>
            </a:lvl8pPr>
            <a:lvl9pPr>
              <a:defRPr sz="900" b="0">
                <a:solidFill>
                  <a:srgbClr val="536373"/>
                </a:solidFill>
              </a:defRPr>
            </a:lvl9pPr>
          </a:lstStyle>
          <a:p>
            <a:pPr>
              <a:defRPr sz="900" b="0">
                <a:solidFill>
                  <a:srgbClr val="536373"/>
                </a:solidFill>
              </a:defRPr>
            </a:pPr>
            <a:r>
              <a:rPr sz="900" b="0">
                <a:solidFill>
                  <a:srgbClr val="536373"/>
                </a:solidFill>
              </a:rPr>
              <a:t>Cho phép target lặp item đã có trong prefix, không mặc định loại toàn bộ item từng xem.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05 / GIAO THỨC NEXT-STEP</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Giữ target quan sát được khi so sánh mô hình.</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Giao thức dữ liệu đã áp vào pipeline; giao thức huấn luyện và đánh giá là thiết kế bước tiếp theo.</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27 / 41</a:t>
            </a:r>
          </a:p>
        </p:txBody>
      </p:sp>
      <p:sp>
        <p:nvSpPr>
          <p:cNvPr id="105" name="heading-0-0">
            <a:extLst>
              <a:ext uri="{FF2B5EF4-FFF2-40B4-BE49-F238E27FC236}">
                <a16:creationId xmlns:a16="http://schemas.microsoft.com/office/drawing/2014/main" id="{E47E128B-35FC-407A-ABD0-F804937DC221}"/>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Chia thời gian và phiên</a:t>
            </a:r>
          </a:p>
        </p:txBody>
      </p:sp>
      <p:sp>
        <p:nvSpPr>
          <p:cNvPr id="106" name="body-0-0">
            <a:extLst>
              <a:ext uri="{FF2B5EF4-FFF2-40B4-BE49-F238E27FC236}">
                <a16:creationId xmlns:a16="http://schemas.microsoft.com/office/drawing/2014/main" id="{458A273B-DA7B-4283-A0C1-D5D10590FD93}"/>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Train trước validation và test. Giữ nhóm đồng thời nguyên vẹn. Pipeline loại toàn bộ phiên cắt ranh giới; thống kê riêng các nhóm bị loại.</a:t>
            </a:r>
          </a:p>
        </p:txBody>
      </p:sp>
      <p:sp>
        <p:nvSpPr>
          <p:cNvPr id="107" name="heading-0-1">
            <a:extLst>
              <a:ext uri="{FF2B5EF4-FFF2-40B4-BE49-F238E27FC236}">
                <a16:creationId xmlns:a16="http://schemas.microsoft.com/office/drawing/2014/main" id="{12902007-A034-4147-9823-2ADBFE8B202C}"/>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Thống kê chỉ từ train</a:t>
            </a:r>
          </a:p>
        </p:txBody>
      </p:sp>
      <p:sp>
        <p:nvSpPr>
          <p:cNvPr id="108" name="body-0-1">
            <a:extLst>
              <a:ext uri="{FF2B5EF4-FFF2-40B4-BE49-F238E27FC236}">
                <a16:creationId xmlns:a16="http://schemas.microsoft.com/office/drawing/2014/main" id="{6FF1CED6-8458-42FD-B037-66C56E5618C6}"/>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Popularity, tương đồng, từ vựng và tham số mô hình chỉ học từ train. Session KNN chỉ tra phiên train.</a:t>
            </a:r>
          </a:p>
        </p:txBody>
      </p:sp>
      <p:sp>
        <p:nvSpPr>
          <p:cNvPr id="109" name="heading-1-0">
            <a:extLst>
              <a:ext uri="{FF2B5EF4-FFF2-40B4-BE49-F238E27FC236}">
                <a16:creationId xmlns:a16="http://schemas.microsoft.com/office/drawing/2014/main" id="{1DC66366-338E-4670-9758-9C926613E7D3}"/>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Cùng ứng viên tại t</a:t>
            </a:r>
          </a:p>
        </p:txBody>
      </p:sp>
      <p:sp>
        <p:nvSpPr>
          <p:cNvPr id="110" name="body-1-0">
            <a:extLst>
              <a:ext uri="{FF2B5EF4-FFF2-40B4-BE49-F238E27FC236}">
                <a16:creationId xmlns:a16="http://schemas.microsoft.com/office/drawing/2014/main" id="{AF13550B-DF97-4588-8EB3-659B649C747F}"/>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Mọi phương pháp dùng chung tập ứng viên. Công bố target ngoài từ vựng train, target ngoài ứng viên và tỷ lệ dự phòng.</a:t>
            </a:r>
          </a:p>
        </p:txBody>
      </p:sp>
      <p:sp>
        <p:nvSpPr>
          <p:cNvPr id="111" name="heading-1-1">
            <a:extLst>
              <a:ext uri="{FF2B5EF4-FFF2-40B4-BE49-F238E27FC236}">
                <a16:creationId xmlns:a16="http://schemas.microsoft.com/office/drawing/2014/main" id="{08F90277-BB47-42D3-B2BF-BCFD4EEF5EC0}"/>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Mẫu số đánh giá minh bạch</a:t>
            </a:r>
          </a:p>
        </p:txBody>
      </p:sp>
      <p:sp>
        <p:nvSpPr>
          <p:cNvPr id="112" name="body-1-1">
            <a:extLst>
              <a:ext uri="{FF2B5EF4-FFF2-40B4-BE49-F238E27FC236}">
                <a16:creationId xmlns:a16="http://schemas.microsoft.com/office/drawing/2014/main" id="{BA5E84BD-C985-4CD5-A36A-FAD9A130F66A}"/>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Chỉ số chính giữ target quan sát trên toàn bộ query hợp lệ. Nếu bổ sung đánh giá target khả thi, nêu rõ phép lọc và mẫu số riêng.</a:t>
            </a:r>
          </a:p>
        </p:txBody>
      </p:sp>
      <p:sp>
        <p:nvSpPr>
          <p:cNvPr id="113" name="note">
            <a:extLst>
              <a:ext uri="{FF2B5EF4-FFF2-40B4-BE49-F238E27FC236}">
                <a16:creationId xmlns:a16="http://schemas.microsoft.com/office/drawing/2014/main" id="{C76105E0-FFF3-4576-9834-9643FBD1FB87}"/>
              </a:ext>
            </a:extLst>
          </p:cNvPr>
          <p:cNvSpPr>
            <a:spLocks noGrp="1"/>
          </p:cNvSpPr>
          <p:nvPr/>
        </p:nvSpPr>
        <p:spPr>
          <a:xfrm>
            <a:off x="533400" y="5953125"/>
            <a:ext cx="11106150" cy="304800"/>
          </a:xfrm>
          <a:prstGeom prst="rect">
            <a:avLst/>
          </a:prstGeom>
          <a:noFill/>
          <a:ln w="0">
            <a:noFill/>
            <a:prstDash val="solid"/>
          </a:ln>
        </p:spPr>
        <p:txBody>
          <a:bodyPr anchor="t"/>
          <a:lstStyle>
            <a:defPPr>
              <a:defRPr sz="900" b="0">
                <a:solidFill>
                  <a:srgbClr val="536373"/>
                </a:solidFill>
              </a:defRPr>
            </a:defPPr>
            <a:lvl1pPr>
              <a:defRPr sz="900" b="0">
                <a:solidFill>
                  <a:srgbClr val="536373"/>
                </a:solidFill>
              </a:defRPr>
            </a:lvl1pPr>
            <a:lvl2pPr>
              <a:defRPr sz="900" b="0">
                <a:solidFill>
                  <a:srgbClr val="536373"/>
                </a:solidFill>
              </a:defRPr>
            </a:lvl2pPr>
            <a:lvl3pPr>
              <a:defRPr sz="900" b="0">
                <a:solidFill>
                  <a:srgbClr val="536373"/>
                </a:solidFill>
              </a:defRPr>
            </a:lvl3pPr>
            <a:lvl4pPr>
              <a:defRPr sz="900" b="0">
                <a:solidFill>
                  <a:srgbClr val="536373"/>
                </a:solidFill>
              </a:defRPr>
            </a:lvl4pPr>
            <a:lvl5pPr>
              <a:defRPr sz="900" b="0">
                <a:solidFill>
                  <a:srgbClr val="536373"/>
                </a:solidFill>
              </a:defRPr>
            </a:lvl5pPr>
            <a:lvl6pPr>
              <a:defRPr sz="900" b="0">
                <a:solidFill>
                  <a:srgbClr val="536373"/>
                </a:solidFill>
              </a:defRPr>
            </a:lvl6pPr>
            <a:lvl7pPr>
              <a:defRPr sz="900" b="0">
                <a:solidFill>
                  <a:srgbClr val="536373"/>
                </a:solidFill>
              </a:defRPr>
            </a:lvl7pPr>
            <a:lvl8pPr>
              <a:defRPr sz="900" b="0">
                <a:solidFill>
                  <a:srgbClr val="536373"/>
                </a:solidFill>
              </a:defRPr>
            </a:lvl8pPr>
            <a:lvl9pPr>
              <a:defRPr sz="900" b="0">
                <a:solidFill>
                  <a:srgbClr val="536373"/>
                </a:solidFill>
              </a:defRPr>
            </a:lvl9pPr>
          </a:lstStyle>
          <a:p>
            <a:pPr>
              <a:defRPr sz="900" b="0">
                <a:solidFill>
                  <a:srgbClr val="536373"/>
                </a:solidFill>
              </a:defRPr>
            </a:pPr>
            <a:r>
              <a:rPr sz="900" b="0">
                <a:solidFill>
                  <a:srgbClr val="536373"/>
                </a:solidFill>
              </a:rPr>
              <a:t>Visitor xuất hiện ở nhiều split không tự gây rò rỉ nếu luôn tuân thủ thời gian.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05 / PHƯƠNG PHÁP DỰ KIẾN</a:t>
            </a:r>
          </a:p>
        </p:txBody>
      </p:sp>
      <p:sp>
        <p:nvSpPr>
          <p:cNvPr id="3"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Ba đối chứng và một mô hình nâng cao.</a:t>
            </a:r>
          </a:p>
        </p:txBody>
      </p:sp>
      <p:sp>
        <p:nvSpPr>
          <p:cNvPr id="4"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Các phương pháp dự kiến được so sánh trên cùng bộ mẫu next-step.</a:t>
            </a:r>
          </a:p>
        </p:txBody>
      </p:sp>
      <p:sp>
        <p:nvSpPr>
          <p:cNvPr id="5" name="TextBox 4"/>
          <p:cNvSpPr txBox="1"/>
          <p:nvPr/>
        </p:nvSpPr>
        <p:spPr>
          <a:xfrm>
            <a:off x="832104" y="6227064"/>
            <a:ext cx="10789920" cy="137160"/>
          </a:xfrm>
          <a:prstGeom prst="rect">
            <a:avLst/>
          </a:prstGeom>
          <a:noFill/>
        </p:spPr>
        <p:txBody>
          <a:bodyPr wrap="square" lIns="0" tIns="0" rIns="0" bIns="0" anchor="t">
            <a:noAutofit/>
          </a:bodyPr>
          <a:lstStyle/>
          <a:p>
            <a:pPr algn="l">
              <a:lnSpc>
                <a:spcPct val="108000"/>
              </a:lnSpc>
              <a:spcBef>
                <a:spcPts val="0"/>
              </a:spcBef>
              <a:spcAft>
                <a:spcPts val="0"/>
              </a:spcAft>
            </a:pPr>
            <a:endParaRPr sz="750" b="0" dirty="0">
              <a:solidFill>
                <a:srgbClr val="536373"/>
              </a:solidFill>
              <a:latin typeface="Arial"/>
            </a:endParaRPr>
          </a:p>
        </p:txBody>
      </p:sp>
      <p:graphicFrame>
        <p:nvGraphicFramePr>
          <p:cNvPr id="6" name="Table 5"/>
          <p:cNvGraphicFramePr>
            <a:graphicFrameLocks noGrp="1"/>
          </p:cNvGraphicFramePr>
          <p:nvPr>
            <p:extLst>
              <p:ext uri="{D42A27DB-BD31-4B8C-83A1-F6EECF244321}">
                <p14:modId xmlns:p14="http://schemas.microsoft.com/office/powerpoint/2010/main" val="1640315684"/>
              </p:ext>
            </p:extLst>
          </p:nvPr>
        </p:nvGraphicFramePr>
        <p:xfrm>
          <a:off x="493776" y="2331720"/>
          <a:ext cx="11018520" cy="30175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tblGrid>
              <a:tr h="502920">
                <a:tc>
                  <a:txBody>
                    <a:bodyPr/>
                    <a:lstStyle/>
                    <a:p>
                      <a:pPr>
                        <a:lnSpc>
                          <a:spcPct val="102000"/>
                        </a:lnSpc>
                        <a:spcBef>
                          <a:spcPts val="0"/>
                        </a:spcBef>
                        <a:spcAft>
                          <a:spcPts val="0"/>
                        </a:spcAft>
                      </a:pPr>
                      <a:r>
                        <a:rPr sz="1400" b="1">
                          <a:solidFill>
                            <a:srgbClr val="FFFFFF"/>
                          </a:solidFill>
                          <a:latin typeface="Arial"/>
                        </a:rPr>
                        <a:t>Vai trò</a:t>
                      </a:r>
                    </a:p>
                  </a:txBody>
                  <a:tcPr marL="109728" marR="109728" marT="73152" marB="73152" anchor="ctr">
                    <a:solidFill>
                      <a:srgbClr val="003366"/>
                    </a:solidFill>
                  </a:tcPr>
                </a:tc>
                <a:tc>
                  <a:txBody>
                    <a:bodyPr/>
                    <a:lstStyle/>
                    <a:p>
                      <a:pPr>
                        <a:lnSpc>
                          <a:spcPct val="102000"/>
                        </a:lnSpc>
                        <a:spcBef>
                          <a:spcPts val="0"/>
                        </a:spcBef>
                        <a:spcAft>
                          <a:spcPts val="0"/>
                        </a:spcAft>
                      </a:pPr>
                      <a:r>
                        <a:rPr sz="1400" b="1">
                          <a:solidFill>
                            <a:srgbClr val="FFFFFF"/>
                          </a:solidFill>
                          <a:latin typeface="Arial"/>
                        </a:rPr>
                        <a:t>Phương pháp</a:t>
                      </a:r>
                    </a:p>
                  </a:txBody>
                  <a:tcPr marL="109728" marR="109728" marT="73152" marB="73152" anchor="ctr">
                    <a:solidFill>
                      <a:srgbClr val="003366"/>
                    </a:solidFill>
                  </a:tcPr>
                </a:tc>
                <a:tc>
                  <a:txBody>
                    <a:bodyPr/>
                    <a:lstStyle/>
                    <a:p>
                      <a:pPr>
                        <a:lnSpc>
                          <a:spcPct val="102000"/>
                        </a:lnSpc>
                        <a:spcBef>
                          <a:spcPts val="0"/>
                        </a:spcBef>
                        <a:spcAft>
                          <a:spcPts val="0"/>
                        </a:spcAft>
                      </a:pPr>
                      <a:r>
                        <a:rPr sz="1400" b="1">
                          <a:solidFill>
                            <a:srgbClr val="FFFFFF"/>
                          </a:solidFill>
                          <a:latin typeface="Arial"/>
                        </a:rPr>
                        <a:t>Cách sử dụng dự kiến</a:t>
                      </a:r>
                    </a:p>
                  </a:txBody>
                  <a:tcPr marL="109728" marR="109728" marT="73152" marB="73152" anchor="ctr">
                    <a:solidFill>
                      <a:srgbClr val="003366"/>
                    </a:solidFill>
                  </a:tcPr>
                </a:tc>
                <a:extLst>
                  <a:ext uri="{0D108BD9-81ED-4DB2-BD59-A6C34878D82A}">
                    <a16:rowId xmlns:a16="http://schemas.microsoft.com/office/drawing/2014/main" val="10000"/>
                  </a:ext>
                </a:extLst>
              </a:tr>
              <a:tr h="502920">
                <a:tc>
                  <a:txBody>
                    <a:bodyPr/>
                    <a:lstStyle/>
                    <a:p>
                      <a:pPr>
                        <a:lnSpc>
                          <a:spcPct val="102000"/>
                        </a:lnSpc>
                        <a:spcBef>
                          <a:spcPts val="0"/>
                        </a:spcBef>
                        <a:spcAft>
                          <a:spcPts val="0"/>
                        </a:spcAft>
                      </a:pPr>
                      <a:r>
                        <a:rPr sz="1400" b="0">
                          <a:solidFill>
                            <a:srgbClr val="003366"/>
                          </a:solidFill>
                          <a:latin typeface="Arial"/>
                        </a:rPr>
                        <a:t>Đối chứng cơ bản</a:t>
                      </a:r>
                    </a:p>
                  </a:txBody>
                  <a:tcPr marL="109728" marR="109728" marT="73152" marB="73152" anchor="ctr">
                    <a:solidFill>
                      <a:srgbClr val="EAF1F7"/>
                    </a:solidFill>
                  </a:tcPr>
                </a:tc>
                <a:tc>
                  <a:txBody>
                    <a:bodyPr/>
                    <a:lstStyle/>
                    <a:p>
                      <a:pPr>
                        <a:lnSpc>
                          <a:spcPct val="102000"/>
                        </a:lnSpc>
                        <a:spcBef>
                          <a:spcPts val="0"/>
                        </a:spcBef>
                        <a:spcAft>
                          <a:spcPts val="0"/>
                        </a:spcAft>
                      </a:pPr>
                      <a:r>
                        <a:rPr sz="1400" b="0">
                          <a:solidFill>
                            <a:srgbClr val="003366"/>
                          </a:solidFill>
                          <a:latin typeface="Arial"/>
                        </a:rPr>
                        <a:t>Popularity</a:t>
                      </a:r>
                    </a:p>
                  </a:txBody>
                  <a:tcPr marL="109728" marR="109728" marT="73152" marB="73152" anchor="ctr">
                    <a:solidFill>
                      <a:srgbClr val="EAF1F7"/>
                    </a:solidFill>
                  </a:tcPr>
                </a:tc>
                <a:tc>
                  <a:txBody>
                    <a:bodyPr/>
                    <a:lstStyle/>
                    <a:p>
                      <a:pPr>
                        <a:lnSpc>
                          <a:spcPct val="102000"/>
                        </a:lnSpc>
                        <a:spcBef>
                          <a:spcPts val="0"/>
                        </a:spcBef>
                        <a:spcAft>
                          <a:spcPts val="0"/>
                        </a:spcAft>
                      </a:pPr>
                      <a:r>
                        <a:rPr sz="1400" b="0">
                          <a:solidFill>
                            <a:srgbClr val="003366"/>
                          </a:solidFill>
                          <a:latin typeface="Arial"/>
                        </a:rPr>
                        <a:t>Phổ biến trên train; dùng làm dự phòng</a:t>
                      </a:r>
                    </a:p>
                  </a:txBody>
                  <a:tcPr marL="109728" marR="109728" marT="73152" marB="73152" anchor="ctr">
                    <a:solidFill>
                      <a:srgbClr val="EAF1F7"/>
                    </a:solidFill>
                  </a:tcPr>
                </a:tc>
                <a:extLst>
                  <a:ext uri="{0D108BD9-81ED-4DB2-BD59-A6C34878D82A}">
                    <a16:rowId xmlns:a16="http://schemas.microsoft.com/office/drawing/2014/main" val="10001"/>
                  </a:ext>
                </a:extLst>
              </a:tr>
              <a:tr h="502920">
                <a:tc>
                  <a:txBody>
                    <a:bodyPr/>
                    <a:lstStyle/>
                    <a:p>
                      <a:pPr>
                        <a:lnSpc>
                          <a:spcPct val="102000"/>
                        </a:lnSpc>
                        <a:spcBef>
                          <a:spcPts val="0"/>
                        </a:spcBef>
                        <a:spcAft>
                          <a:spcPts val="0"/>
                        </a:spcAft>
                      </a:pPr>
                      <a:r>
                        <a:rPr sz="1400" b="0">
                          <a:solidFill>
                            <a:srgbClr val="003366"/>
                          </a:solidFill>
                          <a:latin typeface="Arial"/>
                        </a:rPr>
                        <a:t>Đối chứng theo item</a:t>
                      </a:r>
                    </a:p>
                  </a:txBody>
                  <a:tcPr marL="109728" marR="109728" marT="73152" marB="73152" anchor="ctr">
                    <a:solidFill>
                      <a:srgbClr val="FFFFFF"/>
                    </a:solidFill>
                  </a:tcPr>
                </a:tc>
                <a:tc>
                  <a:txBody>
                    <a:bodyPr/>
                    <a:lstStyle/>
                    <a:p>
                      <a:pPr>
                        <a:lnSpc>
                          <a:spcPct val="102000"/>
                        </a:lnSpc>
                        <a:spcBef>
                          <a:spcPts val="0"/>
                        </a:spcBef>
                        <a:spcAft>
                          <a:spcPts val="0"/>
                        </a:spcAft>
                      </a:pPr>
                      <a:r>
                        <a:rPr sz="1400" b="0">
                          <a:solidFill>
                            <a:srgbClr val="003366"/>
                          </a:solidFill>
                          <a:latin typeface="Arial"/>
                        </a:rPr>
                        <a:t>ItemKNN đa hành vi</a:t>
                      </a:r>
                    </a:p>
                  </a:txBody>
                  <a:tcPr marL="109728" marR="109728" marT="73152" marB="73152" anchor="ctr">
                    <a:solidFill>
                      <a:srgbClr val="FFFFFF"/>
                    </a:solidFill>
                  </a:tcPr>
                </a:tc>
                <a:tc>
                  <a:txBody>
                    <a:bodyPr/>
                    <a:lstStyle/>
                    <a:p>
                      <a:pPr>
                        <a:lnSpc>
                          <a:spcPct val="102000"/>
                        </a:lnSpc>
                        <a:spcBef>
                          <a:spcPts val="0"/>
                        </a:spcBef>
                        <a:spcAft>
                          <a:spcPts val="0"/>
                        </a:spcAft>
                      </a:pPr>
                      <a:r>
                        <a:rPr sz="1400" b="0">
                          <a:solidFill>
                            <a:srgbClr val="003366"/>
                          </a:solidFill>
                          <a:latin typeface="Arial"/>
                        </a:rPr>
                        <a:t>Tương đồng item; chấm điểm từ prefix</a:t>
                      </a:r>
                    </a:p>
                  </a:txBody>
                  <a:tcPr marL="109728" marR="109728" marT="73152" marB="73152" anchor="ctr">
                    <a:solidFill>
                      <a:srgbClr val="FFFFFF"/>
                    </a:solidFill>
                  </a:tcPr>
                </a:tc>
                <a:extLst>
                  <a:ext uri="{0D108BD9-81ED-4DB2-BD59-A6C34878D82A}">
                    <a16:rowId xmlns:a16="http://schemas.microsoft.com/office/drawing/2014/main" val="10002"/>
                  </a:ext>
                </a:extLst>
              </a:tr>
              <a:tr h="502920">
                <a:tc>
                  <a:txBody>
                    <a:bodyPr/>
                    <a:lstStyle/>
                    <a:p>
                      <a:pPr>
                        <a:lnSpc>
                          <a:spcPct val="102000"/>
                        </a:lnSpc>
                        <a:spcBef>
                          <a:spcPts val="0"/>
                        </a:spcBef>
                        <a:spcAft>
                          <a:spcPts val="0"/>
                        </a:spcAft>
                      </a:pPr>
                      <a:r>
                        <a:rPr sz="1400" b="0">
                          <a:solidFill>
                            <a:srgbClr val="003366"/>
                          </a:solidFill>
                          <a:latin typeface="Arial"/>
                        </a:rPr>
                        <a:t>Đối chứng theo phiên</a:t>
                      </a:r>
                    </a:p>
                  </a:txBody>
                  <a:tcPr marL="109728" marR="109728" marT="73152" marB="73152" anchor="ctr">
                    <a:solidFill>
                      <a:srgbClr val="EAF1F7"/>
                    </a:solidFill>
                  </a:tcPr>
                </a:tc>
                <a:tc>
                  <a:txBody>
                    <a:bodyPr/>
                    <a:lstStyle/>
                    <a:p>
                      <a:pPr>
                        <a:lnSpc>
                          <a:spcPct val="102000"/>
                        </a:lnSpc>
                        <a:spcBef>
                          <a:spcPts val="0"/>
                        </a:spcBef>
                        <a:spcAft>
                          <a:spcPts val="0"/>
                        </a:spcAft>
                      </a:pPr>
                      <a:r>
                        <a:rPr sz="1400" b="0">
                          <a:solidFill>
                            <a:srgbClr val="003366"/>
                          </a:solidFill>
                          <a:latin typeface="Arial"/>
                        </a:rPr>
                        <a:t>Session-KNN / V-SKNN</a:t>
                      </a:r>
                    </a:p>
                  </a:txBody>
                  <a:tcPr marL="109728" marR="109728" marT="73152" marB="73152" anchor="ctr">
                    <a:solidFill>
                      <a:srgbClr val="EAF1F7"/>
                    </a:solidFill>
                  </a:tcPr>
                </a:tc>
                <a:tc>
                  <a:txBody>
                    <a:bodyPr/>
                    <a:lstStyle/>
                    <a:p>
                      <a:pPr>
                        <a:lnSpc>
                          <a:spcPct val="102000"/>
                        </a:lnSpc>
                        <a:spcBef>
                          <a:spcPts val="0"/>
                        </a:spcBef>
                        <a:spcAft>
                          <a:spcPts val="0"/>
                        </a:spcAft>
                      </a:pPr>
                      <a:r>
                        <a:rPr sz="1400" b="0">
                          <a:solidFill>
                            <a:srgbClr val="003366"/>
                          </a:solidFill>
                          <a:latin typeface="Arial"/>
                        </a:rPr>
                        <a:t>Tìm phiên train tương tự prefix hiện tại</a:t>
                      </a:r>
                    </a:p>
                  </a:txBody>
                  <a:tcPr marL="109728" marR="109728" marT="73152" marB="73152" anchor="ctr">
                    <a:solidFill>
                      <a:srgbClr val="EAF1F7"/>
                    </a:solidFill>
                  </a:tcPr>
                </a:tc>
                <a:extLst>
                  <a:ext uri="{0D108BD9-81ED-4DB2-BD59-A6C34878D82A}">
                    <a16:rowId xmlns:a16="http://schemas.microsoft.com/office/drawing/2014/main" val="10003"/>
                  </a:ext>
                </a:extLst>
              </a:tr>
              <a:tr h="502920">
                <a:tc>
                  <a:txBody>
                    <a:bodyPr/>
                    <a:lstStyle/>
                    <a:p>
                      <a:pPr>
                        <a:lnSpc>
                          <a:spcPct val="102000"/>
                        </a:lnSpc>
                        <a:spcBef>
                          <a:spcPts val="0"/>
                        </a:spcBef>
                        <a:spcAft>
                          <a:spcPts val="0"/>
                        </a:spcAft>
                      </a:pPr>
                      <a:r>
                        <a:rPr sz="1400" b="0">
                          <a:solidFill>
                            <a:srgbClr val="003366"/>
                          </a:solidFill>
                          <a:latin typeface="Arial"/>
                        </a:rPr>
                        <a:t>Mô hình chính</a:t>
                      </a:r>
                    </a:p>
                  </a:txBody>
                  <a:tcPr marL="109728" marR="109728" marT="73152" marB="73152" anchor="ctr">
                    <a:solidFill>
                      <a:srgbClr val="FFFFFF"/>
                    </a:solidFill>
                  </a:tcPr>
                </a:tc>
                <a:tc>
                  <a:txBody>
                    <a:bodyPr/>
                    <a:lstStyle/>
                    <a:p>
                      <a:pPr>
                        <a:lnSpc>
                          <a:spcPct val="102000"/>
                        </a:lnSpc>
                        <a:spcBef>
                          <a:spcPts val="0"/>
                        </a:spcBef>
                        <a:spcAft>
                          <a:spcPts val="0"/>
                        </a:spcAft>
                      </a:pPr>
                      <a:r>
                        <a:rPr sz="1400" b="0">
                          <a:solidFill>
                            <a:srgbClr val="003366"/>
                          </a:solidFill>
                          <a:latin typeface="Arial"/>
                        </a:rPr>
                        <a:t>Chọn GRU4Rec hoặc SR-GNN</a:t>
                      </a:r>
                    </a:p>
                  </a:txBody>
                  <a:tcPr marL="109728" marR="109728" marT="73152" marB="73152" anchor="ctr">
                    <a:solidFill>
                      <a:srgbClr val="FFFFFF"/>
                    </a:solidFill>
                  </a:tcPr>
                </a:tc>
                <a:tc>
                  <a:txBody>
                    <a:bodyPr/>
                    <a:lstStyle/>
                    <a:p>
                      <a:pPr>
                        <a:lnSpc>
                          <a:spcPct val="102000"/>
                        </a:lnSpc>
                        <a:spcBef>
                          <a:spcPts val="0"/>
                        </a:spcBef>
                        <a:spcAft>
                          <a:spcPts val="0"/>
                        </a:spcAft>
                      </a:pPr>
                      <a:r>
                        <a:rPr sz="1400" b="0">
                          <a:solidFill>
                            <a:srgbClr val="003366"/>
                          </a:solidFill>
                          <a:latin typeface="Arial"/>
                        </a:rPr>
                        <a:t>Học diễn biến phiên; bổ sung loại hành vi</a:t>
                      </a:r>
                    </a:p>
                  </a:txBody>
                  <a:tcPr marL="109728" marR="109728" marT="73152" marB="73152" anchor="ctr">
                    <a:solidFill>
                      <a:srgbClr val="FFFFFF"/>
                    </a:solidFill>
                  </a:tcPr>
                </a:tc>
                <a:extLst>
                  <a:ext uri="{0D108BD9-81ED-4DB2-BD59-A6C34878D82A}">
                    <a16:rowId xmlns:a16="http://schemas.microsoft.com/office/drawing/2014/main" val="10004"/>
                  </a:ext>
                </a:extLst>
              </a:tr>
              <a:tr h="502920">
                <a:tc>
                  <a:txBody>
                    <a:bodyPr/>
                    <a:lstStyle/>
                    <a:p>
                      <a:pPr>
                        <a:lnSpc>
                          <a:spcPct val="102000"/>
                        </a:lnSpc>
                        <a:spcBef>
                          <a:spcPts val="0"/>
                        </a:spcBef>
                        <a:spcAft>
                          <a:spcPts val="0"/>
                        </a:spcAft>
                      </a:pPr>
                      <a:r>
                        <a:rPr sz="1400" b="0">
                          <a:solidFill>
                            <a:srgbClr val="003366"/>
                          </a:solidFill>
                          <a:latin typeface="Arial"/>
                        </a:rPr>
                        <a:t>Kiểm chứng đóng góp</a:t>
                      </a:r>
                    </a:p>
                  </a:txBody>
                  <a:tcPr marL="109728" marR="109728" marT="73152" marB="73152" anchor="ctr">
                    <a:solidFill>
                      <a:srgbClr val="EAF1F7"/>
                    </a:solidFill>
                  </a:tcPr>
                </a:tc>
                <a:tc>
                  <a:txBody>
                    <a:bodyPr/>
                    <a:lstStyle/>
                    <a:p>
                      <a:pPr>
                        <a:lnSpc>
                          <a:spcPct val="102000"/>
                        </a:lnSpc>
                        <a:spcBef>
                          <a:spcPts val="0"/>
                        </a:spcBef>
                        <a:spcAft>
                          <a:spcPts val="0"/>
                        </a:spcAft>
                      </a:pPr>
                      <a:r>
                        <a:rPr sz="1400" b="0">
                          <a:solidFill>
                            <a:srgbClr val="003366"/>
                          </a:solidFill>
                          <a:latin typeface="Arial"/>
                        </a:rPr>
                        <a:t>Có / không loại hành vi</a:t>
                      </a:r>
                    </a:p>
                  </a:txBody>
                  <a:tcPr marL="109728" marR="109728" marT="73152" marB="73152" anchor="ctr">
                    <a:solidFill>
                      <a:srgbClr val="EAF1F7"/>
                    </a:solidFill>
                  </a:tcPr>
                </a:tc>
                <a:tc>
                  <a:txBody>
                    <a:bodyPr/>
                    <a:lstStyle/>
                    <a:p>
                      <a:pPr>
                        <a:lnSpc>
                          <a:spcPct val="102000"/>
                        </a:lnSpc>
                        <a:spcBef>
                          <a:spcPts val="0"/>
                        </a:spcBef>
                        <a:spcAft>
                          <a:spcPts val="0"/>
                        </a:spcAft>
                      </a:pPr>
                      <a:r>
                        <a:rPr sz="1400" b="0" dirty="0" err="1">
                          <a:solidFill>
                            <a:srgbClr val="003366"/>
                          </a:solidFill>
                          <a:latin typeface="Arial"/>
                        </a:rPr>
                        <a:t>Cùng kiến trúc, dữ liệu và ngân sách tuning</a:t>
                      </a:r>
                      <a:endParaRPr sz="1400" b="0" dirty="0">
                        <a:solidFill>
                          <a:srgbClr val="003366"/>
                        </a:solidFill>
                        <a:latin typeface="Arial"/>
                      </a:endParaRPr>
                    </a:p>
                  </a:txBody>
                  <a:tcPr marL="109728" marR="109728" marT="73152" marB="73152" anchor="ctr">
                    <a:solidFill>
                      <a:srgbClr val="EAF1F7"/>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12648" y="5715000"/>
            <a:ext cx="10972800" cy="320040"/>
          </a:xfrm>
          <a:prstGeom prst="rect">
            <a:avLst/>
          </a:prstGeom>
          <a:noFill/>
        </p:spPr>
        <p:txBody>
          <a:bodyPr wrap="square" lIns="0" tIns="0" rIns="0" bIns="0" anchor="t">
            <a:noAutofit/>
          </a:bodyPr>
          <a:lstStyle/>
          <a:p>
            <a:pPr algn="l">
              <a:lnSpc>
                <a:spcPct val="108000"/>
              </a:lnSpc>
              <a:spcBef>
                <a:spcPts val="0"/>
              </a:spcBef>
              <a:spcAft>
                <a:spcPts val="0"/>
              </a:spcAft>
            </a:pPr>
            <a:r>
              <a:rPr sz="1500" b="1">
                <a:solidFill>
                  <a:srgbClr val="005A9C"/>
                </a:solidFill>
                <a:latin typeface="Arial"/>
              </a:rPr>
              <a:t>Chọn cấu hình bằng validation; không mặc định mô hình học sâu tốt hơn đối chứng.</a:t>
            </a:r>
          </a:p>
        </p:txBody>
      </p:sp>
      <p:sp>
        <p:nvSpPr>
          <p:cNvPr id="8"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28 / 41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05 / ĐỐI CHỨNG POPULARITY</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Mốc chất lượng và phương án dự phòng.</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Phương pháp dự kiến, chưa có kết quả thực nghiệm.</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29 / 41</a:t>
            </a:r>
          </a:p>
        </p:txBody>
      </p:sp>
      <p:sp>
        <p:nvSpPr>
          <p:cNvPr id="105" name="heading-0-0">
            <a:extLst>
              <a:ext uri="{FF2B5EF4-FFF2-40B4-BE49-F238E27FC236}">
                <a16:creationId xmlns:a16="http://schemas.microsoft.com/office/drawing/2014/main" id="{FAB9E72A-904E-42DF-A087-ED3E3C5EA098}"/>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Nguyên lý</a:t>
            </a:r>
          </a:p>
        </p:txBody>
      </p:sp>
      <p:sp>
        <p:nvSpPr>
          <p:cNvPr id="106" name="body-0-0">
            <a:extLst>
              <a:ext uri="{FF2B5EF4-FFF2-40B4-BE49-F238E27FC236}">
                <a16:creationId xmlns:a16="http://schemas.microsoft.com/office/drawing/2014/main" id="{3BB9871D-D71F-49E5-AC5A-79DAB44CD468}"/>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Xếp hạng item bằng độ phổ biến trên train. Bản đơn giản đếm tương tác; bản đa hành vi dùng trọng số theo event.</a:t>
            </a:r>
          </a:p>
        </p:txBody>
      </p:sp>
      <p:sp>
        <p:nvSpPr>
          <p:cNvPr id="107" name="heading-0-1">
            <a:extLst>
              <a:ext uri="{FF2B5EF4-FFF2-40B4-BE49-F238E27FC236}">
                <a16:creationId xmlns:a16="http://schemas.microsoft.com/office/drawing/2014/main" id="{355431AD-8107-4E90-A4F3-7E9FA1BB3215}"/>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Vai trò</a:t>
            </a:r>
          </a:p>
        </p:txBody>
      </p:sp>
      <p:sp>
        <p:nvSpPr>
          <p:cNvPr id="108" name="body-0-1">
            <a:extLst>
              <a:ext uri="{FF2B5EF4-FFF2-40B4-BE49-F238E27FC236}">
                <a16:creationId xmlns:a16="http://schemas.microsoft.com/office/drawing/2014/main" id="{55344EAF-EEEE-4BE6-AB84-B9F2966A216E}"/>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Đối chứng khi chưa dùng ngữ cảnh phiên. Phục vụ query thiếu tín hiệu hoặc mô hình không chấm điểm được.</a:t>
            </a:r>
          </a:p>
        </p:txBody>
      </p:sp>
      <p:sp>
        <p:nvSpPr>
          <p:cNvPr id="109" name="heading-1-0">
            <a:extLst>
              <a:ext uri="{FF2B5EF4-FFF2-40B4-BE49-F238E27FC236}">
                <a16:creationId xmlns:a16="http://schemas.microsoft.com/office/drawing/2014/main" id="{1C265A07-7FDE-4002-B1F6-6C23837EFA64}"/>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Lựa chọn cấu hình</a:t>
            </a:r>
          </a:p>
        </p:txBody>
      </p:sp>
      <p:sp>
        <p:nvSpPr>
          <p:cNvPr id="110" name="body-1-0">
            <a:extLst>
              <a:ext uri="{FF2B5EF4-FFF2-40B4-BE49-F238E27FC236}">
                <a16:creationId xmlns:a16="http://schemas.microsoft.com/office/drawing/2014/main" id="{199B90AD-D33D-478A-B3F7-DE052D982A52}"/>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Trọng số hành vi và cửa sổ thống kê chọn bằng validation. Không mặc định [1, 3, 5] là tối ưu.</a:t>
            </a:r>
          </a:p>
        </p:txBody>
      </p:sp>
      <p:sp>
        <p:nvSpPr>
          <p:cNvPr id="111" name="heading-1-1">
            <a:extLst>
              <a:ext uri="{FF2B5EF4-FFF2-40B4-BE49-F238E27FC236}">
                <a16:creationId xmlns:a16="http://schemas.microsoft.com/office/drawing/2014/main" id="{E4700233-2DBD-4EBD-B03D-82609799F172}"/>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Điều kiện đánh giá</a:t>
            </a:r>
          </a:p>
        </p:txBody>
      </p:sp>
      <p:sp>
        <p:nvSpPr>
          <p:cNvPr id="112" name="body-1-1">
            <a:extLst>
              <a:ext uri="{FF2B5EF4-FFF2-40B4-BE49-F238E27FC236}">
                <a16:creationId xmlns:a16="http://schemas.microsoft.com/office/drawing/2014/main" id="{B9199C31-DEBE-442B-8225-07E6D153B803}"/>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Lọc theo ứng viên hợp lệ tại t. Trong đánh giá cố định, không cập nhật độ phổ biến từ dữ liệu test. Mô hình chưa cá nhân hóa theo phiên.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05 / ITEMKNN ĐA HÀNH VI</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Tương đồng item từ các phiên train.</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Thiết kế đề xuất cần điều chỉnh bằng validation.</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30 / 41</a:t>
            </a:r>
          </a:p>
        </p:txBody>
      </p:sp>
      <p:sp>
        <p:nvSpPr>
          <p:cNvPr id="105" name="heading-0-0">
            <a:extLst>
              <a:ext uri="{FF2B5EF4-FFF2-40B4-BE49-F238E27FC236}">
                <a16:creationId xmlns:a16="http://schemas.microsoft.com/office/drawing/2014/main" id="{135150EF-A6FE-4D44-AD29-5EA43967F0FD}"/>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Biểu diễn dữ liệu</a:t>
            </a:r>
          </a:p>
        </p:txBody>
      </p:sp>
      <p:sp>
        <p:nvSpPr>
          <p:cNvPr id="106" name="body-0-0">
            <a:extLst>
              <a:ext uri="{FF2B5EF4-FFF2-40B4-BE49-F238E27FC236}">
                <a16:creationId xmlns:a16="http://schemas.microsoft.com/office/drawing/2014/main" id="{B59F3675-EEE7-47B5-88B5-6408C5E4C924}"/>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Ma trận phiên-item. Mỗi ô tổng hợp số lần hành vi, có thể dùng log để giảm tác động của tương tác lặp nhiều.</a:t>
            </a:r>
          </a:p>
        </p:txBody>
      </p:sp>
      <p:sp>
        <p:nvSpPr>
          <p:cNvPr id="107" name="heading-0-1">
            <a:extLst>
              <a:ext uri="{FF2B5EF4-FFF2-40B4-BE49-F238E27FC236}">
                <a16:creationId xmlns:a16="http://schemas.microsoft.com/office/drawing/2014/main" id="{AA1EA7F5-8002-483B-8E23-17E68F60D546}"/>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Tính tương đồng</a:t>
            </a:r>
          </a:p>
        </p:txBody>
      </p:sp>
      <p:sp>
        <p:nvSpPr>
          <p:cNvPr id="108" name="body-0-1">
            <a:extLst>
              <a:ext uri="{FF2B5EF4-FFF2-40B4-BE49-F238E27FC236}">
                <a16:creationId xmlns:a16="http://schemas.microsoft.com/office/drawing/2014/main" id="{B2AAF9A6-0E86-4CA1-BEB6-F50AC39FE5A1}"/>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Cosine giữa các cột item, giữ k hàng xóm. Chấm điểm ứng viên bằng tổng đóng góp từ item trong prefix.</a:t>
            </a:r>
          </a:p>
        </p:txBody>
      </p:sp>
      <p:sp>
        <p:nvSpPr>
          <p:cNvPr id="109" name="heading-1-0">
            <a:extLst>
              <a:ext uri="{FF2B5EF4-FFF2-40B4-BE49-F238E27FC236}">
                <a16:creationId xmlns:a16="http://schemas.microsoft.com/office/drawing/2014/main" id="{7A1D3E0E-7A2F-4D33-848F-DC1975E47C42}"/>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Các lựa chọn cần công bố</a:t>
            </a:r>
          </a:p>
        </p:txBody>
      </p:sp>
      <p:sp>
        <p:nvSpPr>
          <p:cNvPr id="110" name="body-1-0">
            <a:extLst>
              <a:ext uri="{FF2B5EF4-FFF2-40B4-BE49-F238E27FC236}">
                <a16:creationId xmlns:a16="http://schemas.microsoft.com/office/drawing/2014/main" id="{4EE4EEC6-F877-48AB-9684-3556CE9197FE}"/>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Đơn vị đồng xuất hiện là phiên, cách chuẩn hóa, k hàng xóm, cách gộp item lặp. Trọng số prefix có thể theo hành vi và độ gần query.</a:t>
            </a:r>
          </a:p>
        </p:txBody>
      </p:sp>
      <p:sp>
        <p:nvSpPr>
          <p:cNvPr id="111" name="heading-1-1">
            <a:extLst>
              <a:ext uri="{FF2B5EF4-FFF2-40B4-BE49-F238E27FC236}">
                <a16:creationId xmlns:a16="http://schemas.microsoft.com/office/drawing/2014/main" id="{D9BA4468-87A3-43A1-B154-2F9F7CA100C6}"/>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So sánh và dự phòng</a:t>
            </a:r>
          </a:p>
        </p:txBody>
      </p:sp>
      <p:sp>
        <p:nvSpPr>
          <p:cNvPr id="112" name="body-1-1">
            <a:extLst>
              <a:ext uri="{FF2B5EF4-FFF2-40B4-BE49-F238E27FC236}">
                <a16:creationId xmlns:a16="http://schemas.microsoft.com/office/drawing/2014/main" id="{634254AB-0504-4D89-BF57-447B3B4F5E47}"/>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Cùng kiến trúc, so trọng số bằng nhau với phân biệt hành vi. Item không có tương tác hoặc thiếu hàng xóm dùng dự phòng thống nhất.</a:t>
            </a:r>
          </a:p>
        </p:txBody>
      </p:sp>
      <p:sp>
        <p:nvSpPr>
          <p:cNvPr id="113" name="note">
            <a:extLst>
              <a:ext uri="{FF2B5EF4-FFF2-40B4-BE49-F238E27FC236}">
                <a16:creationId xmlns:a16="http://schemas.microsoft.com/office/drawing/2014/main" id="{FFCFC7FE-1D61-450D-9A09-4B2E501DE5E7}"/>
              </a:ext>
            </a:extLst>
          </p:cNvPr>
          <p:cNvSpPr>
            <a:spLocks noGrp="1"/>
          </p:cNvSpPr>
          <p:nvPr/>
        </p:nvSpPr>
        <p:spPr>
          <a:xfrm>
            <a:off x="533400" y="5953125"/>
            <a:ext cx="11106150" cy="304800"/>
          </a:xfrm>
          <a:prstGeom prst="rect">
            <a:avLst/>
          </a:prstGeom>
          <a:noFill/>
          <a:ln w="0">
            <a:noFill/>
            <a:prstDash val="solid"/>
          </a:ln>
        </p:spPr>
        <p:txBody>
          <a:bodyPr anchor="t"/>
          <a:lstStyle>
            <a:defPPr>
              <a:defRPr sz="900" b="0">
                <a:solidFill>
                  <a:srgbClr val="536373"/>
                </a:solidFill>
              </a:defRPr>
            </a:defPPr>
            <a:lvl1pPr>
              <a:defRPr sz="900" b="0">
                <a:solidFill>
                  <a:srgbClr val="536373"/>
                </a:solidFill>
              </a:defRPr>
            </a:lvl1pPr>
            <a:lvl2pPr>
              <a:defRPr sz="900" b="0">
                <a:solidFill>
                  <a:srgbClr val="536373"/>
                </a:solidFill>
              </a:defRPr>
            </a:lvl2pPr>
            <a:lvl3pPr>
              <a:defRPr sz="900" b="0">
                <a:solidFill>
                  <a:srgbClr val="536373"/>
                </a:solidFill>
              </a:defRPr>
            </a:lvl3pPr>
            <a:lvl4pPr>
              <a:defRPr sz="900" b="0">
                <a:solidFill>
                  <a:srgbClr val="536373"/>
                </a:solidFill>
              </a:defRPr>
            </a:lvl4pPr>
            <a:lvl5pPr>
              <a:defRPr sz="900" b="0">
                <a:solidFill>
                  <a:srgbClr val="536373"/>
                </a:solidFill>
              </a:defRPr>
            </a:lvl5pPr>
            <a:lvl6pPr>
              <a:defRPr sz="900" b="0">
                <a:solidFill>
                  <a:srgbClr val="536373"/>
                </a:solidFill>
              </a:defRPr>
            </a:lvl6pPr>
            <a:lvl7pPr>
              <a:defRPr sz="900" b="0">
                <a:solidFill>
                  <a:srgbClr val="536373"/>
                </a:solidFill>
              </a:defRPr>
            </a:lvl7pPr>
            <a:lvl8pPr>
              <a:defRPr sz="900" b="0">
                <a:solidFill>
                  <a:srgbClr val="536373"/>
                </a:solidFill>
              </a:defRPr>
            </a:lvl8pPr>
            <a:lvl9pPr>
              <a:defRPr sz="900" b="0">
                <a:solidFill>
                  <a:srgbClr val="536373"/>
                </a:solidFill>
              </a:defRPr>
            </a:lvl9pPr>
          </a:lstStyle>
          <a:p>
            <a:pPr>
              <a:defRPr sz="900" b="0">
                <a:solidFill>
                  <a:srgbClr val="536373"/>
                </a:solidFill>
              </a:defRPr>
            </a:pPr>
            <a:r>
              <a:rPr sz="900" b="0">
                <a:solidFill>
                  <a:srgbClr val="536373"/>
                </a:solidFill>
              </a:rPr>
              <a:t>Ma trận và hàng xóm chỉ được tính từ train.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05 / SESSION KNN VÀ V-SKNN</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Dùng các phiên lịch sử gần prefix hiện tại.</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Đối chứng theo phiên không yêu cầu visitor đã xuất hiện trong train.</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31 / 41</a:t>
            </a:r>
          </a:p>
        </p:txBody>
      </p:sp>
      <p:sp>
        <p:nvSpPr>
          <p:cNvPr id="105" name="heading-0-0">
            <a:extLst>
              <a:ext uri="{FF2B5EF4-FFF2-40B4-BE49-F238E27FC236}">
                <a16:creationId xmlns:a16="http://schemas.microsoft.com/office/drawing/2014/main" id="{BB7EF40B-1865-46FC-9308-9BD1C2517B07}"/>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Tìm hàng xóm</a:t>
            </a:r>
          </a:p>
        </p:txBody>
      </p:sp>
      <p:sp>
        <p:nvSpPr>
          <p:cNvPr id="106" name="body-0-0">
            <a:extLst>
              <a:ext uri="{FF2B5EF4-FFF2-40B4-BE49-F238E27FC236}">
                <a16:creationId xmlns:a16="http://schemas.microsoft.com/office/drawing/2014/main" id="{C5BF453A-F9E9-44EB-AEF3-DDE3674EAB56}"/>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Lập chỉ mục item tới phiên train. Tạo vector từ prefix, tìm k phiên tương tự rồi ưu tiên item trong những phiên đó.</a:t>
            </a:r>
          </a:p>
        </p:txBody>
      </p:sp>
      <p:sp>
        <p:nvSpPr>
          <p:cNvPr id="107" name="heading-0-1">
            <a:extLst>
              <a:ext uri="{FF2B5EF4-FFF2-40B4-BE49-F238E27FC236}">
                <a16:creationId xmlns:a16="http://schemas.microsoft.com/office/drawing/2014/main" id="{E21B5748-4A0E-441A-BB89-66876130DC46}"/>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Trọng số vị trí và hành vi</a:t>
            </a:r>
          </a:p>
        </p:txBody>
      </p:sp>
      <p:sp>
        <p:nvSpPr>
          <p:cNvPr id="108" name="body-0-1">
            <a:extLst>
              <a:ext uri="{FF2B5EF4-FFF2-40B4-BE49-F238E27FC236}">
                <a16:creationId xmlns:a16="http://schemas.microsoft.com/office/drawing/2014/main" id="{18127DBE-A584-4275-AA3D-0846540E153F}"/>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Session KNN cơ bản dùng trọng số đều. V-SKNN dùng trọng số vị trí. Biến thể thêm trọng số hành vi phải được đặt tên và mô tả riêng.</a:t>
            </a:r>
          </a:p>
        </p:txBody>
      </p:sp>
      <p:sp>
        <p:nvSpPr>
          <p:cNvPr id="109" name="heading-1-0">
            <a:extLst>
              <a:ext uri="{FF2B5EF4-FFF2-40B4-BE49-F238E27FC236}">
                <a16:creationId xmlns:a16="http://schemas.microsoft.com/office/drawing/2014/main" id="{855BF653-32D5-48B6-8F87-C1FD3025B8E4}"/>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Ví dụ minh họa</a:t>
            </a:r>
          </a:p>
        </p:txBody>
      </p:sp>
      <p:sp>
        <p:nvSpPr>
          <p:cNvPr id="110" name="body-1-0">
            <a:extLst>
              <a:ext uri="{FF2B5EF4-FFF2-40B4-BE49-F238E27FC236}">
                <a16:creationId xmlns:a16="http://schemas.microsoft.com/office/drawing/2014/main" id="{C08D3DB7-D5B7-4995-ABBF-0225C22AE16B}"/>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Prefix A, B. Hai phiên train A B C và A B D có thể đóng góp điểm cho C, D theo mức tương đồng.</a:t>
            </a:r>
          </a:p>
        </p:txBody>
      </p:sp>
      <p:sp>
        <p:nvSpPr>
          <p:cNvPr id="111" name="heading-1-1">
            <a:extLst>
              <a:ext uri="{FF2B5EF4-FFF2-40B4-BE49-F238E27FC236}">
                <a16:creationId xmlns:a16="http://schemas.microsoft.com/office/drawing/2014/main" id="{12179333-AFC4-4D1E-A57A-F0C010FF23B0}"/>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Tuning và giới hạn</a:t>
            </a:r>
          </a:p>
        </p:txBody>
      </p:sp>
      <p:sp>
        <p:nvSpPr>
          <p:cNvPr id="112" name="body-1-1">
            <a:extLst>
              <a:ext uri="{FF2B5EF4-FFF2-40B4-BE49-F238E27FC236}">
                <a16:creationId xmlns:a16="http://schemas.microsoft.com/office/drawing/2014/main" id="{A787F57A-4BE5-4AD3-A89E-A49B23FA6FB9}"/>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Chọn k, số phiên ứng viên và hàm trọng số trên validation. Giữ kho train khi test. Prefix ít trùng có thể thiếu hàng xóm: đo dự phòng, độ trễ và quy mô kho.</a:t>
            </a:r>
          </a:p>
        </p:txBody>
      </p:sp>
      <p:sp>
        <p:nvSpPr>
          <p:cNvPr id="113" name="note">
            <a:extLst>
              <a:ext uri="{FF2B5EF4-FFF2-40B4-BE49-F238E27FC236}">
                <a16:creationId xmlns:a16="http://schemas.microsoft.com/office/drawing/2014/main" id="{5117E28F-BA1D-4224-B622-D01B77C780FC}"/>
              </a:ext>
            </a:extLst>
          </p:cNvPr>
          <p:cNvSpPr>
            <a:spLocks noGrp="1"/>
          </p:cNvSpPr>
          <p:nvPr/>
        </p:nvSpPr>
        <p:spPr>
          <a:xfrm>
            <a:off x="533400" y="5953125"/>
            <a:ext cx="11106150" cy="304800"/>
          </a:xfrm>
          <a:prstGeom prst="rect">
            <a:avLst/>
          </a:prstGeom>
          <a:noFill/>
          <a:ln w="0">
            <a:noFill/>
            <a:prstDash val="solid"/>
          </a:ln>
        </p:spPr>
        <p:txBody>
          <a:bodyPr anchor="t"/>
          <a:lstStyle>
            <a:defPPr>
              <a:defRPr sz="900" b="0">
                <a:solidFill>
                  <a:srgbClr val="536373"/>
                </a:solidFill>
              </a:defRPr>
            </a:defPPr>
            <a:lvl1pPr>
              <a:defRPr sz="900" b="0">
                <a:solidFill>
                  <a:srgbClr val="536373"/>
                </a:solidFill>
              </a:defRPr>
            </a:lvl1pPr>
            <a:lvl2pPr>
              <a:defRPr sz="900" b="0">
                <a:solidFill>
                  <a:srgbClr val="536373"/>
                </a:solidFill>
              </a:defRPr>
            </a:lvl2pPr>
            <a:lvl3pPr>
              <a:defRPr sz="900" b="0">
                <a:solidFill>
                  <a:srgbClr val="536373"/>
                </a:solidFill>
              </a:defRPr>
            </a:lvl3pPr>
            <a:lvl4pPr>
              <a:defRPr sz="900" b="0">
                <a:solidFill>
                  <a:srgbClr val="536373"/>
                </a:solidFill>
              </a:defRPr>
            </a:lvl4pPr>
            <a:lvl5pPr>
              <a:defRPr sz="900" b="0">
                <a:solidFill>
                  <a:srgbClr val="536373"/>
                </a:solidFill>
              </a:defRPr>
            </a:lvl5pPr>
            <a:lvl6pPr>
              <a:defRPr sz="900" b="0">
                <a:solidFill>
                  <a:srgbClr val="536373"/>
                </a:solidFill>
              </a:defRPr>
            </a:lvl6pPr>
            <a:lvl7pPr>
              <a:defRPr sz="900" b="0">
                <a:solidFill>
                  <a:srgbClr val="536373"/>
                </a:solidFill>
              </a:defRPr>
            </a:lvl7pPr>
            <a:lvl8pPr>
              <a:defRPr sz="900" b="0">
                <a:solidFill>
                  <a:srgbClr val="536373"/>
                </a:solidFill>
              </a:defRPr>
            </a:lvl8pPr>
            <a:lvl9pPr>
              <a:defRPr sz="900" b="0">
                <a:solidFill>
                  <a:srgbClr val="536373"/>
                </a:solidFill>
              </a:defRPr>
            </a:lvl9pPr>
          </a:lstStyle>
          <a:p>
            <a:pPr>
              <a:defRPr sz="900" b="0">
                <a:solidFill>
                  <a:srgbClr val="536373"/>
                </a:solidFill>
              </a:defRPr>
            </a:pPr>
            <a:r>
              <a:rPr sz="900" b="0">
                <a:solidFill>
                  <a:srgbClr val="536373"/>
                </a:solidFill>
              </a:rPr>
              <a:t>Không thêm phần chưa quan sát của phiên validation/test để tìm hàng xóm.</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05 / MÔ HÌNH CHÍNH: GRU4REC</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Cập nhật trạng thái theo diễn biến phiên.</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Một trong hai lựa chọn mô hình nâng cao, triển khai sau khi đối chứng ổn định.</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32 / 41</a:t>
            </a:r>
          </a:p>
        </p:txBody>
      </p:sp>
      <p:sp>
        <p:nvSpPr>
          <p:cNvPr id="105" name="heading-0-0">
            <a:extLst>
              <a:ext uri="{FF2B5EF4-FFF2-40B4-BE49-F238E27FC236}">
                <a16:creationId xmlns:a16="http://schemas.microsoft.com/office/drawing/2014/main" id="{07DDDC7B-66E9-4B9E-9B7D-E8496B87B867}"/>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Nguyên lý</a:t>
            </a:r>
          </a:p>
        </p:txBody>
      </p:sp>
      <p:sp>
        <p:nvSpPr>
          <p:cNvPr id="106" name="body-0-0">
            <a:extLst>
              <a:ext uri="{FF2B5EF4-FFF2-40B4-BE49-F238E27FC236}">
                <a16:creationId xmlns:a16="http://schemas.microsoft.com/office/drawing/2014/main" id="{0EFA781D-0EB9-4A2F-BEB7-7172A968DC61}"/>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Mạng hồi tiếp có cổng đọc tương tác, cập nhật trạng thái ẩn và chấm điểm item tiếp theo. Đặt lại trạng thái khi chuyển phiên.</a:t>
            </a:r>
          </a:p>
        </p:txBody>
      </p:sp>
      <p:sp>
        <p:nvSpPr>
          <p:cNvPr id="107" name="heading-0-1">
            <a:extLst>
              <a:ext uri="{FF2B5EF4-FFF2-40B4-BE49-F238E27FC236}">
                <a16:creationId xmlns:a16="http://schemas.microsoft.com/office/drawing/2014/main" id="{7E71139C-61E9-4F94-B9F0-0A6D3B9A74F6}"/>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Đầu vào theo nhóm timestamp</a:t>
            </a:r>
          </a:p>
        </p:txBody>
      </p:sp>
      <p:sp>
        <p:nvSpPr>
          <p:cNvPr id="108" name="body-0-1">
            <a:extLst>
              <a:ext uri="{FF2B5EF4-FFF2-40B4-BE49-F238E27FC236}">
                <a16:creationId xmlns:a16="http://schemas.microsoft.com/office/drawing/2014/main" id="{5EC92202-A986-4F4C-B1E7-873AF690C1BC}"/>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Đề xuất tổng hợp embedding item và hành vi trong cùng nhóm. Thử tổng hoặc trung bình, chọn bằng validation.</a:t>
            </a:r>
          </a:p>
        </p:txBody>
      </p:sp>
      <p:sp>
        <p:nvSpPr>
          <p:cNvPr id="109" name="heading-1-0">
            <a:extLst>
              <a:ext uri="{FF2B5EF4-FFF2-40B4-BE49-F238E27FC236}">
                <a16:creationId xmlns:a16="http://schemas.microsoft.com/office/drawing/2014/main" id="{A2E98F59-29B4-4B4E-B44C-88F1CA474346}"/>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Điểm xếp hạng</a:t>
            </a:r>
          </a:p>
        </p:txBody>
      </p:sp>
      <p:sp>
        <p:nvSpPr>
          <p:cNvPr id="110" name="body-1-0">
            <a:extLst>
              <a:ext uri="{FF2B5EF4-FFF2-40B4-BE49-F238E27FC236}">
                <a16:creationId xmlns:a16="http://schemas.microsoft.com/office/drawing/2014/main" id="{414552C8-4006-4093-952C-441F9F3314A2}"/>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Dùng trạng thái ở cuối prefix để chấm điểm tập ứng viên hợp lệ tại t. Không tạo thứ tự giả giữa các sự kiện đồng thời.</a:t>
            </a:r>
          </a:p>
        </p:txBody>
      </p:sp>
      <p:sp>
        <p:nvSpPr>
          <p:cNvPr id="111" name="heading-1-1">
            <a:extLst>
              <a:ext uri="{FF2B5EF4-FFF2-40B4-BE49-F238E27FC236}">
                <a16:creationId xmlns:a16="http://schemas.microsoft.com/office/drawing/2014/main" id="{F3F2021E-5027-4E38-9A64-DA4D637F3A8E}"/>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Căn cứ lựa chọn</a:t>
            </a:r>
          </a:p>
        </p:txBody>
      </p:sp>
      <p:sp>
        <p:nvSpPr>
          <p:cNvPr id="112" name="body-1-1">
            <a:extLst>
              <a:ext uri="{FF2B5EF4-FFF2-40B4-BE49-F238E27FC236}">
                <a16:creationId xmlns:a16="http://schemas.microsoft.com/office/drawing/2014/main" id="{D0629ECC-5812-49A0-A3F7-4143AE9CA8B6}"/>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Đánh giá khả năng xử lý nhóm timestamp, NDCG trên validation và chi phí chạy. Đây là điều chỉnh của project, chưa có kết quả huấn luyện.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05 / MÔ HÌNH CHÍNH: SR-GNN</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Đồ thị chỉ được xây từ prefix đã quan sát.</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Có thể chọn thay GRU4Rec; không bắt buộc triển khai cả hai.</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33 / 41</a:t>
            </a:r>
          </a:p>
        </p:txBody>
      </p:sp>
      <p:sp>
        <p:nvSpPr>
          <p:cNvPr id="105" name="heading-0-0">
            <a:extLst>
              <a:ext uri="{FF2B5EF4-FFF2-40B4-BE49-F238E27FC236}">
                <a16:creationId xmlns:a16="http://schemas.microsoft.com/office/drawing/2014/main" id="{1EAEE19D-53B7-428D-971C-C328E86EB477}"/>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Nguyên lý</a:t>
            </a:r>
          </a:p>
        </p:txBody>
      </p:sp>
      <p:sp>
        <p:nvSpPr>
          <p:cNvPr id="106" name="body-0-0">
            <a:extLst>
              <a:ext uri="{FF2B5EF4-FFF2-40B4-BE49-F238E27FC236}">
                <a16:creationId xmlns:a16="http://schemas.microsoft.com/office/drawing/2014/main" id="{73995E2F-8644-40E4-95FE-F3CDAF649FBD}"/>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Node biểu diễn item, cạnh biểu diễn chuyển tiếp. Gated GNN cập nhật biểu diễn. Attention kết hợp thông tin toàn phiên với quan tâm hiện tại.</a:t>
            </a:r>
          </a:p>
        </p:txBody>
      </p:sp>
      <p:sp>
        <p:nvSpPr>
          <p:cNvPr id="107" name="heading-0-1">
            <a:extLst>
              <a:ext uri="{FF2B5EF4-FFF2-40B4-BE49-F238E27FC236}">
                <a16:creationId xmlns:a16="http://schemas.microsoft.com/office/drawing/2014/main" id="{BE6FE835-105B-4D59-803C-9EEA3EA35A32}"/>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Quy tắc cho nhóm đồng thời</a:t>
            </a:r>
          </a:p>
        </p:txBody>
      </p:sp>
      <p:sp>
        <p:nvSpPr>
          <p:cNvPr id="108" name="body-0-1">
            <a:extLst>
              <a:ext uri="{FF2B5EF4-FFF2-40B4-BE49-F238E27FC236}">
                <a16:creationId xmlns:a16="http://schemas.microsoft.com/office/drawing/2014/main" id="{DE8C993F-7678-49EE-846F-CCB06F2AEBD4}"/>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Quy định cách nối hai nhóm liên tiếp, chuẩn hóa trọng số và biểu diễn nhóm cuối. Không nối theo thứ tự tùy ý trong cùng timestamp.</a:t>
            </a:r>
          </a:p>
        </p:txBody>
      </p:sp>
      <p:sp>
        <p:nvSpPr>
          <p:cNvPr id="109" name="heading-1-0">
            <a:extLst>
              <a:ext uri="{FF2B5EF4-FFF2-40B4-BE49-F238E27FC236}">
                <a16:creationId xmlns:a16="http://schemas.microsoft.com/office/drawing/2014/main" id="{CC4E649C-5903-4E69-B813-7A2C09A3C8F7}"/>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Tín hiệu đa hành vi</a:t>
            </a:r>
          </a:p>
        </p:txBody>
      </p:sp>
      <p:sp>
        <p:nvSpPr>
          <p:cNvPr id="110" name="body-1-0">
            <a:extLst>
              <a:ext uri="{FF2B5EF4-FFF2-40B4-BE49-F238E27FC236}">
                <a16:creationId xmlns:a16="http://schemas.microsoft.com/office/drawing/2014/main" id="{FC8FFD4B-31A5-43AB-8209-FCC36FB19724}"/>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Có thể đưa loại hành vi vào node hoặc cạnh. Thử bản đơn giản trước, đo cải thiện bằng thí nghiệm loại bỏ thành phần.</a:t>
            </a:r>
          </a:p>
        </p:txBody>
      </p:sp>
      <p:sp>
        <p:nvSpPr>
          <p:cNvPr id="111" name="heading-1-1">
            <a:extLst>
              <a:ext uri="{FF2B5EF4-FFF2-40B4-BE49-F238E27FC236}">
                <a16:creationId xmlns:a16="http://schemas.microsoft.com/office/drawing/2014/main" id="{89A965B6-7B20-4BB2-AE15-BBA07837C2AD}"/>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Target gồm nhiều item</a:t>
            </a:r>
          </a:p>
        </p:txBody>
      </p:sp>
      <p:sp>
        <p:nvSpPr>
          <p:cNvPr id="112" name="body-1-1">
            <a:extLst>
              <a:ext uri="{FF2B5EF4-FFF2-40B4-BE49-F238E27FC236}">
                <a16:creationId xmlns:a16="http://schemas.microsoft.com/office/drawing/2014/main" id="{14B73F1E-AD16-4BD9-A4E1-76A1078AFFA9}"/>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Loss dự kiến: trung bình -log p(i) trên các i thuộc G, với p chuẩn hóa softmax. Nếu xấp xỉ bằng lấy mẫu, loại toàn bộ target khỏi tập âm và công bố cơ chế.</a:t>
            </a:r>
          </a:p>
        </p:txBody>
      </p:sp>
      <p:sp>
        <p:nvSpPr>
          <p:cNvPr id="113" name="note">
            <a:extLst>
              <a:ext uri="{FF2B5EF4-FFF2-40B4-BE49-F238E27FC236}">
                <a16:creationId xmlns:a16="http://schemas.microsoft.com/office/drawing/2014/main" id="{B42D0763-8BDE-4EF1-87D9-5FC261BDDADF}"/>
              </a:ext>
            </a:extLst>
          </p:cNvPr>
          <p:cNvSpPr>
            <a:spLocks noGrp="1"/>
          </p:cNvSpPr>
          <p:nvPr/>
        </p:nvSpPr>
        <p:spPr>
          <a:xfrm>
            <a:off x="533400" y="5953125"/>
            <a:ext cx="11106150" cy="304800"/>
          </a:xfrm>
          <a:prstGeom prst="rect">
            <a:avLst/>
          </a:prstGeom>
          <a:noFill/>
          <a:ln w="0">
            <a:noFill/>
            <a:prstDash val="solid"/>
          </a:ln>
        </p:spPr>
        <p:txBody>
          <a:bodyPr anchor="t"/>
          <a:lstStyle>
            <a:defPPr>
              <a:defRPr sz="900" b="0">
                <a:solidFill>
                  <a:srgbClr val="536373"/>
                </a:solidFill>
              </a:defRPr>
            </a:defPPr>
            <a:lvl1pPr>
              <a:defRPr sz="900" b="0">
                <a:solidFill>
                  <a:srgbClr val="536373"/>
                </a:solidFill>
              </a:defRPr>
            </a:lvl1pPr>
            <a:lvl2pPr>
              <a:defRPr sz="900" b="0">
                <a:solidFill>
                  <a:srgbClr val="536373"/>
                </a:solidFill>
              </a:defRPr>
            </a:lvl2pPr>
            <a:lvl3pPr>
              <a:defRPr sz="900" b="0">
                <a:solidFill>
                  <a:srgbClr val="536373"/>
                </a:solidFill>
              </a:defRPr>
            </a:lvl3pPr>
            <a:lvl4pPr>
              <a:defRPr sz="900" b="0">
                <a:solidFill>
                  <a:srgbClr val="536373"/>
                </a:solidFill>
              </a:defRPr>
            </a:lvl4pPr>
            <a:lvl5pPr>
              <a:defRPr sz="900" b="0">
                <a:solidFill>
                  <a:srgbClr val="536373"/>
                </a:solidFill>
              </a:defRPr>
            </a:lvl5pPr>
            <a:lvl6pPr>
              <a:defRPr sz="900" b="0">
                <a:solidFill>
                  <a:srgbClr val="536373"/>
                </a:solidFill>
              </a:defRPr>
            </a:lvl6pPr>
            <a:lvl7pPr>
              <a:defRPr sz="900" b="0">
                <a:solidFill>
                  <a:srgbClr val="536373"/>
                </a:solidFill>
              </a:defRPr>
            </a:lvl7pPr>
            <a:lvl8pPr>
              <a:defRPr sz="900" b="0">
                <a:solidFill>
                  <a:srgbClr val="536373"/>
                </a:solidFill>
              </a:defRPr>
            </a:lvl8pPr>
            <a:lvl9pPr>
              <a:defRPr sz="900" b="0">
                <a:solidFill>
                  <a:srgbClr val="536373"/>
                </a:solidFill>
              </a:defRPr>
            </a:lvl9pPr>
          </a:lstStyle>
          <a:p>
            <a:pPr>
              <a:defRPr sz="900" b="0">
                <a:solidFill>
                  <a:srgbClr val="536373"/>
                </a:solidFill>
              </a:defRPr>
            </a:pPr>
            <a:r>
              <a:rPr sz="900" b="0">
                <a:solidFill>
                  <a:srgbClr val="536373"/>
                </a:solidFill>
              </a:rPr>
              <a:t>Loss và biểu diễn đa hành vi là đề xuất điều chỉnh, cần kiểm chứng trên validation.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05 / CĂN CỨ PHƯƠNG PHÁP</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Kế thừa nghiên cứu, kiểm chứng trên giao thức của đề tài.</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Tài liệu Word là nguồn phương pháp; trạng thái và số liệu hiện tại theo mã và manifest next-step.</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34 / 41</a:t>
            </a:r>
          </a:p>
        </p:txBody>
      </p:sp>
      <p:sp>
        <p:nvSpPr>
          <p:cNvPr id="105" name="heading-0-0">
            <a:extLst>
              <a:ext uri="{FF2B5EF4-FFF2-40B4-BE49-F238E27FC236}">
                <a16:creationId xmlns:a16="http://schemas.microsoft.com/office/drawing/2014/main" id="{B7A58D17-4E61-439D-8D14-62FCC9F3347C}"/>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GRU4Rec</a:t>
            </a:r>
          </a:p>
        </p:txBody>
      </p:sp>
      <p:sp>
        <p:nvSpPr>
          <p:cNvPr id="106" name="body-0-0">
            <a:extLst>
              <a:ext uri="{FF2B5EF4-FFF2-40B4-BE49-F238E27FC236}">
                <a16:creationId xmlns:a16="http://schemas.microsoft.com/office/drawing/2014/main" id="{7C128601-1BAA-4106-8A57-B973E49E9AA8}"/>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Hidasi et al., Session-based Recommendations with Recurrent Neural Networks, ICLR 2016. Điều chỉnh đầu vào theo nhóm timestamp và loại hành vi cần kiểm chứng riêng.</a:t>
            </a:r>
          </a:p>
        </p:txBody>
      </p:sp>
      <p:sp>
        <p:nvSpPr>
          <p:cNvPr id="107" name="heading-0-1">
            <a:extLst>
              <a:ext uri="{FF2B5EF4-FFF2-40B4-BE49-F238E27FC236}">
                <a16:creationId xmlns:a16="http://schemas.microsoft.com/office/drawing/2014/main" id="{1737F55B-6B96-4B47-9E56-4CFC46628049}"/>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SR-GNN</a:t>
            </a:r>
          </a:p>
        </p:txBody>
      </p:sp>
      <p:sp>
        <p:nvSpPr>
          <p:cNvPr id="108" name="body-0-1">
            <a:extLst>
              <a:ext uri="{FF2B5EF4-FFF2-40B4-BE49-F238E27FC236}">
                <a16:creationId xmlns:a16="http://schemas.microsoft.com/office/drawing/2014/main" id="{68B873C7-2D26-4C50-9E8D-CEBD70F9380E}"/>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Wu et al., Session-based Recommendation with Graph Neural Networks, AAAI 2019. Đồ thị chỉ xây từ prefix; quy tắc cho nhóm đồng thời phải được công bố.</a:t>
            </a:r>
          </a:p>
        </p:txBody>
      </p:sp>
      <p:sp>
        <p:nvSpPr>
          <p:cNvPr id="109" name="heading-1-0">
            <a:extLst>
              <a:ext uri="{FF2B5EF4-FFF2-40B4-BE49-F238E27FC236}">
                <a16:creationId xmlns:a16="http://schemas.microsoft.com/office/drawing/2014/main" id="{09926AD1-1F85-406A-82FC-962C677B3E1A}"/>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Đối chứng và đánh giá</a:t>
            </a:r>
          </a:p>
        </p:txBody>
      </p:sp>
      <p:sp>
        <p:nvSpPr>
          <p:cNvPr id="110" name="body-1-0">
            <a:extLst>
              <a:ext uri="{FF2B5EF4-FFF2-40B4-BE49-F238E27FC236}">
                <a16:creationId xmlns:a16="http://schemas.microsoft.com/office/drawing/2014/main" id="{704D46D9-98A4-4F5C-B4ED-61DA22DDC690}"/>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Ludewig &amp; Jannach, UMUAI 2018: đối chứng theo phiên. Järvelin &amp; Kekäläinen, 2002: NDCG. Krichene &amp; Rendle, KDD 2020: lưu ý chỉ số khi lấy mẫu ứng viên.</a:t>
            </a:r>
          </a:p>
        </p:txBody>
      </p:sp>
      <p:sp>
        <p:nvSpPr>
          <p:cNvPr id="111" name="heading-1-1">
            <a:extLst>
              <a:ext uri="{FF2B5EF4-FFF2-40B4-BE49-F238E27FC236}">
                <a16:creationId xmlns:a16="http://schemas.microsoft.com/office/drawing/2014/main" id="{E91B059F-E945-4360-9EBF-0F7340C172B3}"/>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Nguồn dữ liệu và giới hạn</a:t>
            </a:r>
          </a:p>
        </p:txBody>
      </p:sp>
      <p:sp>
        <p:nvSpPr>
          <p:cNvPr id="112" name="body-1-1">
            <a:extLst>
              <a:ext uri="{FF2B5EF4-FFF2-40B4-BE49-F238E27FC236}">
                <a16:creationId xmlns:a16="http://schemas.microsoft.com/office/drawing/2014/main" id="{43939E33-4C53-4F26-88E2-B296337E5E97}"/>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RetailRocket công bố trên Kaggle. Dữ liệu ẩn danh; không có tên/ảnh đầy đủ hoặc log hiển thị. Chưa có kết quả huấn luyện, không chuyển kết quả paper thành kết quả đề tài.</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06 / CHỈ SỐ CHẤT LƯỢNG</a:t>
            </a:r>
          </a:p>
        </p:txBody>
      </p:sp>
      <p:sp>
        <p:nvSpPr>
          <p:cNvPr id="3"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a:solidFill>
                  <a:srgbClr val="003366"/>
                </a:solidFill>
                <a:latin typeface="Arial"/>
              </a:rPr>
              <a:t>Tìm đúng item và xếp đúng vị trí là hai yêu cầu.</a:t>
            </a:r>
          </a:p>
        </p:txBody>
      </p:sp>
      <p:sp>
        <p:nvSpPr>
          <p:cNvPr id="4"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a:solidFill>
                  <a:srgbClr val="536373"/>
                </a:solidFill>
                <a:latin typeface="Arial"/>
              </a:rPr>
              <a:t>G là tập item đúng, L là danh sách Top-K; K = 10 và 20. Chọn NDCG@20 làm chỉ số chính dự kiến.</a:t>
            </a:r>
          </a:p>
        </p:txBody>
      </p:sp>
      <p:sp>
        <p:nvSpPr>
          <p:cNvPr id="5" name="TextBox 4"/>
          <p:cNvSpPr txBox="1"/>
          <p:nvPr/>
        </p:nvSpPr>
        <p:spPr>
          <a:xfrm>
            <a:off x="832104" y="6227064"/>
            <a:ext cx="10789920" cy="137160"/>
          </a:xfrm>
          <a:prstGeom prst="rect">
            <a:avLst/>
          </a:prstGeom>
          <a:noFill/>
        </p:spPr>
        <p:txBody>
          <a:bodyPr wrap="square" lIns="0" tIns="0" rIns="0" bIns="0" anchor="t">
            <a:noAutofit/>
          </a:bodyPr>
          <a:lstStyle/>
          <a:p>
            <a:pPr algn="l">
              <a:lnSpc>
                <a:spcPct val="108000"/>
              </a:lnSpc>
              <a:spcBef>
                <a:spcPts val="0"/>
              </a:spcBef>
              <a:spcAft>
                <a:spcPts val="0"/>
              </a:spcAft>
            </a:pPr>
            <a:r>
              <a:rPr sz="750" b="0">
                <a:solidFill>
                  <a:srgbClr val="536373"/>
                </a:solidFill>
                <a:latin typeface="Arial"/>
              </a:rPr>
              <a:t>Relevance nhị phân theo item; nhiều lần tương tác cùng item trong target không làm item được tính trúng nhiều lần.</a:t>
            </a:r>
          </a:p>
        </p:txBody>
      </p:sp>
      <p:sp>
        <p:nvSpPr>
          <p:cNvPr id="6" name="Rounded Rectangle 5"/>
          <p:cNvSpPr/>
          <p:nvPr/>
        </p:nvSpPr>
        <p:spPr>
          <a:xfrm>
            <a:off x="594360" y="2286000"/>
            <a:ext cx="5303520" cy="1591056"/>
          </a:xfrm>
          <a:prstGeom prst="roundRect">
            <a:avLst/>
          </a:prstGeom>
          <a:solidFill>
            <a:srgbClr val="EA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58952" y="2414016"/>
            <a:ext cx="4974336" cy="310896"/>
          </a:xfrm>
          <a:prstGeom prst="rect">
            <a:avLst/>
          </a:prstGeom>
          <a:noFill/>
        </p:spPr>
        <p:txBody>
          <a:bodyPr wrap="square" lIns="0" tIns="0" rIns="0" bIns="0" anchor="t">
            <a:noAutofit/>
          </a:bodyPr>
          <a:lstStyle/>
          <a:p>
            <a:pPr algn="l">
              <a:lnSpc>
                <a:spcPct val="108000"/>
              </a:lnSpc>
              <a:spcBef>
                <a:spcPts val="0"/>
              </a:spcBef>
              <a:spcAft>
                <a:spcPts val="0"/>
              </a:spcAft>
            </a:pPr>
            <a:r>
              <a:rPr sz="2100" b="1">
                <a:solidFill>
                  <a:srgbClr val="005A9C"/>
                </a:solidFill>
                <a:latin typeface="Arial"/>
              </a:rPr>
              <a:t>Recall@K</a:t>
            </a:r>
          </a:p>
        </p:txBody>
      </p:sp>
      <p:sp>
        <p:nvSpPr>
          <p:cNvPr id="8" name="TextBox 7"/>
          <p:cNvSpPr txBox="1"/>
          <p:nvPr/>
        </p:nvSpPr>
        <p:spPr>
          <a:xfrm>
            <a:off x="758952" y="2871216"/>
            <a:ext cx="4974336" cy="292608"/>
          </a:xfrm>
          <a:prstGeom prst="rect">
            <a:avLst/>
          </a:prstGeom>
          <a:noFill/>
        </p:spPr>
        <p:txBody>
          <a:bodyPr wrap="square" lIns="0" tIns="0" rIns="0" bIns="0" anchor="t">
            <a:noAutofit/>
          </a:bodyPr>
          <a:lstStyle/>
          <a:p>
            <a:pPr algn="l">
              <a:lnSpc>
                <a:spcPct val="108000"/>
              </a:lnSpc>
              <a:spcBef>
                <a:spcPts val="0"/>
              </a:spcBef>
              <a:spcAft>
                <a:spcPts val="0"/>
              </a:spcAft>
            </a:pPr>
            <a:r>
              <a:rPr sz="1700" b="0">
                <a:solidFill>
                  <a:srgbClr val="003366"/>
                </a:solidFill>
                <a:latin typeface="Arial"/>
              </a:rPr>
              <a:t>|L ∩ G| / |G|</a:t>
            </a:r>
          </a:p>
        </p:txBody>
      </p:sp>
      <p:sp>
        <p:nvSpPr>
          <p:cNvPr id="9" name="TextBox 8"/>
          <p:cNvSpPr txBox="1"/>
          <p:nvPr/>
        </p:nvSpPr>
        <p:spPr>
          <a:xfrm>
            <a:off x="758952" y="3282696"/>
            <a:ext cx="4974336" cy="512064"/>
          </a:xfrm>
          <a:prstGeom prst="rect">
            <a:avLst/>
          </a:prstGeom>
          <a:noFill/>
        </p:spPr>
        <p:txBody>
          <a:bodyPr wrap="square" lIns="0" tIns="0" rIns="0" bIns="0" anchor="t">
            <a:noAutofit/>
          </a:bodyPr>
          <a:lstStyle/>
          <a:p>
            <a:pPr algn="l">
              <a:lnSpc>
                <a:spcPct val="108000"/>
              </a:lnSpc>
              <a:spcBef>
                <a:spcPts val="0"/>
              </a:spcBef>
              <a:spcAft>
                <a:spcPts val="0"/>
              </a:spcAft>
            </a:pPr>
            <a:r>
              <a:rPr sz="1400" b="0">
                <a:solidFill>
                  <a:srgbClr val="536373"/>
                </a:solidFill>
                <a:latin typeface="Arial"/>
              </a:rPr>
              <a:t>Tìm lại được bao nhiêu phần</a:t>
            </a:r>
          </a:p>
          <a:p>
            <a:pPr algn="l">
              <a:lnSpc>
                <a:spcPct val="108000"/>
              </a:lnSpc>
              <a:spcBef>
                <a:spcPts val="0"/>
              </a:spcBef>
              <a:spcAft>
                <a:spcPts val="0"/>
              </a:spcAft>
            </a:pPr>
            <a:r>
              <a:rPr sz="1400" b="0">
                <a:solidFill>
                  <a:srgbClr val="536373"/>
                </a:solidFill>
                <a:latin typeface="Arial"/>
              </a:rPr>
              <a:t>trong tập item đúng?</a:t>
            </a:r>
          </a:p>
        </p:txBody>
      </p:sp>
      <p:sp>
        <p:nvSpPr>
          <p:cNvPr id="10" name="Rounded Rectangle 9"/>
          <p:cNvSpPr/>
          <p:nvPr/>
        </p:nvSpPr>
        <p:spPr>
          <a:xfrm>
            <a:off x="6263640" y="2286000"/>
            <a:ext cx="5303520" cy="1591056"/>
          </a:xfrm>
          <a:prstGeom prst="roundRect">
            <a:avLst/>
          </a:prstGeom>
          <a:solidFill>
            <a:srgbClr val="EA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28231" y="2414016"/>
            <a:ext cx="4974336" cy="310896"/>
          </a:xfrm>
          <a:prstGeom prst="rect">
            <a:avLst/>
          </a:prstGeom>
          <a:noFill/>
        </p:spPr>
        <p:txBody>
          <a:bodyPr wrap="square" lIns="0" tIns="0" rIns="0" bIns="0" anchor="t">
            <a:noAutofit/>
          </a:bodyPr>
          <a:lstStyle/>
          <a:p>
            <a:pPr algn="l">
              <a:lnSpc>
                <a:spcPct val="108000"/>
              </a:lnSpc>
              <a:spcBef>
                <a:spcPts val="0"/>
              </a:spcBef>
              <a:spcAft>
                <a:spcPts val="0"/>
              </a:spcAft>
            </a:pPr>
            <a:r>
              <a:rPr sz="2100" b="1">
                <a:solidFill>
                  <a:srgbClr val="C41230"/>
                </a:solidFill>
                <a:latin typeface="Arial"/>
              </a:rPr>
              <a:t>NDCG@K</a:t>
            </a:r>
          </a:p>
        </p:txBody>
      </p:sp>
      <p:sp>
        <p:nvSpPr>
          <p:cNvPr id="12" name="TextBox 11"/>
          <p:cNvSpPr txBox="1"/>
          <p:nvPr/>
        </p:nvSpPr>
        <p:spPr>
          <a:xfrm>
            <a:off x="6428231" y="2871216"/>
            <a:ext cx="4974336" cy="292608"/>
          </a:xfrm>
          <a:prstGeom prst="rect">
            <a:avLst/>
          </a:prstGeom>
          <a:noFill/>
        </p:spPr>
        <p:txBody>
          <a:bodyPr wrap="square" lIns="0" tIns="0" rIns="0" bIns="0" anchor="t">
            <a:noAutofit/>
          </a:bodyPr>
          <a:lstStyle/>
          <a:p>
            <a:pPr algn="l">
              <a:lnSpc>
                <a:spcPct val="108000"/>
              </a:lnSpc>
              <a:spcBef>
                <a:spcPts val="0"/>
              </a:spcBef>
              <a:spcAft>
                <a:spcPts val="0"/>
              </a:spcAft>
            </a:pPr>
            <a:r>
              <a:rPr sz="1700" b="0">
                <a:solidFill>
                  <a:srgbClr val="003366"/>
                </a:solidFill>
                <a:latin typeface="Arial"/>
              </a:rPr>
              <a:t>DCG@K / IDCG@K</a:t>
            </a:r>
          </a:p>
        </p:txBody>
      </p:sp>
      <p:sp>
        <p:nvSpPr>
          <p:cNvPr id="13" name="TextBox 12"/>
          <p:cNvSpPr txBox="1"/>
          <p:nvPr/>
        </p:nvSpPr>
        <p:spPr>
          <a:xfrm>
            <a:off x="6428231" y="3282696"/>
            <a:ext cx="4974336" cy="512064"/>
          </a:xfrm>
          <a:prstGeom prst="rect">
            <a:avLst/>
          </a:prstGeom>
          <a:noFill/>
        </p:spPr>
        <p:txBody>
          <a:bodyPr wrap="square" lIns="0" tIns="0" rIns="0" bIns="0" anchor="t">
            <a:noAutofit/>
          </a:bodyPr>
          <a:lstStyle/>
          <a:p>
            <a:pPr algn="l">
              <a:lnSpc>
                <a:spcPct val="108000"/>
              </a:lnSpc>
              <a:spcBef>
                <a:spcPts val="0"/>
              </a:spcBef>
              <a:spcAft>
                <a:spcPts val="0"/>
              </a:spcAft>
            </a:pPr>
            <a:r>
              <a:rPr sz="1400" b="0">
                <a:solidFill>
                  <a:srgbClr val="536373"/>
                </a:solidFill>
                <a:latin typeface="Arial"/>
              </a:rPr>
              <a:t>Thưởng cao hơn khi item đúng</a:t>
            </a:r>
          </a:p>
          <a:p>
            <a:pPr algn="l">
              <a:lnSpc>
                <a:spcPct val="108000"/>
              </a:lnSpc>
              <a:spcBef>
                <a:spcPts val="0"/>
              </a:spcBef>
              <a:spcAft>
                <a:spcPts val="0"/>
              </a:spcAft>
            </a:pPr>
            <a:r>
              <a:rPr sz="1400" b="0">
                <a:solidFill>
                  <a:srgbClr val="536373"/>
                </a:solidFill>
                <a:latin typeface="Arial"/>
              </a:rPr>
              <a:t>đứng ở vị trí đầu danh sách.</a:t>
            </a:r>
          </a:p>
        </p:txBody>
      </p:sp>
      <p:sp>
        <p:nvSpPr>
          <p:cNvPr id="14" name="Rounded Rectangle 13"/>
          <p:cNvSpPr/>
          <p:nvPr/>
        </p:nvSpPr>
        <p:spPr>
          <a:xfrm>
            <a:off x="594360" y="4087368"/>
            <a:ext cx="5303520" cy="1591056"/>
          </a:xfrm>
          <a:prstGeom prst="roundRect">
            <a:avLst/>
          </a:prstGeom>
          <a:solidFill>
            <a:srgbClr val="EA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58952" y="4215383"/>
            <a:ext cx="4974336" cy="310896"/>
          </a:xfrm>
          <a:prstGeom prst="rect">
            <a:avLst/>
          </a:prstGeom>
          <a:noFill/>
        </p:spPr>
        <p:txBody>
          <a:bodyPr wrap="square" lIns="0" tIns="0" rIns="0" bIns="0" anchor="t">
            <a:noAutofit/>
          </a:bodyPr>
          <a:lstStyle/>
          <a:p>
            <a:pPr algn="l">
              <a:lnSpc>
                <a:spcPct val="108000"/>
              </a:lnSpc>
              <a:spcBef>
                <a:spcPts val="0"/>
              </a:spcBef>
              <a:spcAft>
                <a:spcPts val="0"/>
              </a:spcAft>
            </a:pPr>
            <a:r>
              <a:rPr sz="2100" b="1">
                <a:solidFill>
                  <a:srgbClr val="005A9C"/>
                </a:solidFill>
                <a:latin typeface="Arial"/>
              </a:rPr>
              <a:t>Hit Rate@K</a:t>
            </a:r>
          </a:p>
        </p:txBody>
      </p:sp>
      <p:sp>
        <p:nvSpPr>
          <p:cNvPr id="16" name="TextBox 15"/>
          <p:cNvSpPr txBox="1"/>
          <p:nvPr/>
        </p:nvSpPr>
        <p:spPr>
          <a:xfrm>
            <a:off x="758952" y="4672583"/>
            <a:ext cx="4974336" cy="292608"/>
          </a:xfrm>
          <a:prstGeom prst="rect">
            <a:avLst/>
          </a:prstGeom>
          <a:noFill/>
        </p:spPr>
        <p:txBody>
          <a:bodyPr wrap="square" lIns="0" tIns="0" rIns="0" bIns="0" anchor="t">
            <a:noAutofit/>
          </a:bodyPr>
          <a:lstStyle/>
          <a:p>
            <a:pPr algn="l">
              <a:lnSpc>
                <a:spcPct val="108000"/>
              </a:lnSpc>
              <a:spcBef>
                <a:spcPts val="0"/>
              </a:spcBef>
              <a:spcAft>
                <a:spcPts val="0"/>
              </a:spcAft>
            </a:pPr>
            <a:r>
              <a:rPr sz="1700" b="0">
                <a:solidFill>
                  <a:srgbClr val="003366"/>
                </a:solidFill>
                <a:latin typeface="Arial"/>
              </a:rPr>
              <a:t>Trung bình 1[L ∩ G ≠ ∅]</a:t>
            </a:r>
          </a:p>
        </p:txBody>
      </p:sp>
      <p:sp>
        <p:nvSpPr>
          <p:cNvPr id="17" name="TextBox 16"/>
          <p:cNvSpPr txBox="1"/>
          <p:nvPr/>
        </p:nvSpPr>
        <p:spPr>
          <a:xfrm>
            <a:off x="758952" y="5084064"/>
            <a:ext cx="4974336" cy="512064"/>
          </a:xfrm>
          <a:prstGeom prst="rect">
            <a:avLst/>
          </a:prstGeom>
          <a:noFill/>
        </p:spPr>
        <p:txBody>
          <a:bodyPr wrap="square" lIns="0" tIns="0" rIns="0" bIns="0" anchor="t">
            <a:noAutofit/>
          </a:bodyPr>
          <a:lstStyle/>
          <a:p>
            <a:pPr algn="l">
              <a:lnSpc>
                <a:spcPct val="108000"/>
              </a:lnSpc>
              <a:spcBef>
                <a:spcPts val="0"/>
              </a:spcBef>
              <a:spcAft>
                <a:spcPts val="0"/>
              </a:spcAft>
            </a:pPr>
            <a:r>
              <a:rPr sz="1400" b="0">
                <a:solidFill>
                  <a:srgbClr val="536373"/>
                </a:solidFill>
                <a:latin typeface="Arial"/>
              </a:rPr>
              <a:t>Bao nhiêu mẫu có ít nhất một hit?</a:t>
            </a:r>
          </a:p>
          <a:p>
            <a:pPr algn="l">
              <a:lnSpc>
                <a:spcPct val="108000"/>
              </a:lnSpc>
              <a:spcBef>
                <a:spcPts val="0"/>
              </a:spcBef>
              <a:spcAft>
                <a:spcPts val="0"/>
              </a:spcAft>
            </a:pPr>
            <a:r>
              <a:rPr sz="1400" b="0">
                <a:solidFill>
                  <a:srgbClr val="536373"/>
                </a:solidFill>
                <a:latin typeface="Arial"/>
              </a:rPr>
              <a:t>Không đo số hit trong mỗi mẫu.</a:t>
            </a:r>
          </a:p>
        </p:txBody>
      </p:sp>
      <p:sp>
        <p:nvSpPr>
          <p:cNvPr id="18" name="Rounded Rectangle 17"/>
          <p:cNvSpPr/>
          <p:nvPr/>
        </p:nvSpPr>
        <p:spPr>
          <a:xfrm>
            <a:off x="6263640" y="4087368"/>
            <a:ext cx="5303520" cy="1591056"/>
          </a:xfrm>
          <a:prstGeom prst="roundRect">
            <a:avLst/>
          </a:prstGeom>
          <a:solidFill>
            <a:srgbClr val="EA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28231" y="4215383"/>
            <a:ext cx="4974336" cy="310896"/>
          </a:xfrm>
          <a:prstGeom prst="rect">
            <a:avLst/>
          </a:prstGeom>
          <a:noFill/>
        </p:spPr>
        <p:txBody>
          <a:bodyPr wrap="square" lIns="0" tIns="0" rIns="0" bIns="0" anchor="t">
            <a:noAutofit/>
          </a:bodyPr>
          <a:lstStyle/>
          <a:p>
            <a:pPr algn="l">
              <a:lnSpc>
                <a:spcPct val="108000"/>
              </a:lnSpc>
              <a:spcBef>
                <a:spcPts val="0"/>
              </a:spcBef>
              <a:spcAft>
                <a:spcPts val="0"/>
              </a:spcAft>
            </a:pPr>
            <a:r>
              <a:rPr sz="2100" b="1">
                <a:solidFill>
                  <a:srgbClr val="005A9C"/>
                </a:solidFill>
                <a:latin typeface="Arial"/>
              </a:rPr>
              <a:t>MRR@K</a:t>
            </a:r>
          </a:p>
        </p:txBody>
      </p:sp>
      <p:sp>
        <p:nvSpPr>
          <p:cNvPr id="20" name="TextBox 19"/>
          <p:cNvSpPr txBox="1"/>
          <p:nvPr/>
        </p:nvSpPr>
        <p:spPr>
          <a:xfrm>
            <a:off x="6428231" y="4672583"/>
            <a:ext cx="4974336" cy="292608"/>
          </a:xfrm>
          <a:prstGeom prst="rect">
            <a:avLst/>
          </a:prstGeom>
          <a:noFill/>
        </p:spPr>
        <p:txBody>
          <a:bodyPr wrap="square" lIns="0" tIns="0" rIns="0" bIns="0" anchor="t">
            <a:noAutofit/>
          </a:bodyPr>
          <a:lstStyle/>
          <a:p>
            <a:pPr algn="l">
              <a:lnSpc>
                <a:spcPct val="108000"/>
              </a:lnSpc>
              <a:spcBef>
                <a:spcPts val="0"/>
              </a:spcBef>
              <a:spcAft>
                <a:spcPts val="0"/>
              </a:spcAft>
            </a:pPr>
            <a:r>
              <a:rPr sz="1700" b="0">
                <a:solidFill>
                  <a:srgbClr val="003366"/>
                </a:solidFill>
                <a:latin typeface="Arial"/>
              </a:rPr>
              <a:t>Trung bình 1 / hạng hit đầu tiên</a:t>
            </a:r>
          </a:p>
        </p:txBody>
      </p:sp>
      <p:sp>
        <p:nvSpPr>
          <p:cNvPr id="21" name="TextBox 20"/>
          <p:cNvSpPr txBox="1"/>
          <p:nvPr/>
        </p:nvSpPr>
        <p:spPr>
          <a:xfrm>
            <a:off x="6428231" y="5084064"/>
            <a:ext cx="4974336" cy="512064"/>
          </a:xfrm>
          <a:prstGeom prst="rect">
            <a:avLst/>
          </a:prstGeom>
          <a:noFill/>
        </p:spPr>
        <p:txBody>
          <a:bodyPr wrap="square" lIns="0" tIns="0" rIns="0" bIns="0" anchor="t">
            <a:noAutofit/>
          </a:bodyPr>
          <a:lstStyle/>
          <a:p>
            <a:pPr algn="l">
              <a:lnSpc>
                <a:spcPct val="108000"/>
              </a:lnSpc>
              <a:spcBef>
                <a:spcPts val="0"/>
              </a:spcBef>
              <a:spcAft>
                <a:spcPts val="0"/>
              </a:spcAft>
            </a:pPr>
            <a:r>
              <a:rPr sz="1400" b="0">
                <a:solidFill>
                  <a:srgbClr val="536373"/>
                </a:solidFill>
                <a:latin typeface="Arial"/>
              </a:rPr>
              <a:t>Không hit trong K → 0.</a:t>
            </a:r>
          </a:p>
          <a:p>
            <a:pPr algn="l">
              <a:lnSpc>
                <a:spcPct val="108000"/>
              </a:lnSpc>
              <a:spcBef>
                <a:spcPts val="0"/>
              </a:spcBef>
              <a:spcAft>
                <a:spcPts val="0"/>
              </a:spcAft>
            </a:pPr>
            <a:r>
              <a:rPr sz="1400" b="0">
                <a:solidFill>
                  <a:srgbClr val="536373"/>
                </a:solidFill>
                <a:latin typeface="Arial"/>
              </a:rPr>
              <a:t>Không tính đến các hit phía sau.</a:t>
            </a:r>
          </a:p>
        </p:txBody>
      </p:sp>
      <p:sp>
        <p:nvSpPr>
          <p:cNvPr id="22" name="TextBox 21"/>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35 / 41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06 / QUY ƯỚC TÍNH CHỈ SỐ</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Tính từng query rồi lấy trung bình trên cùng Q.</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K = 10 và 20; relevance nhị phân theo item; dự kiến chỉ số chính NDCG@20.</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36 / 41</a:t>
            </a:r>
          </a:p>
        </p:txBody>
      </p:sp>
      <p:sp>
        <p:nvSpPr>
          <p:cNvPr id="105" name="heading-0-0">
            <a:extLst>
              <a:ext uri="{FF2B5EF4-FFF2-40B4-BE49-F238E27FC236}">
                <a16:creationId xmlns:a16="http://schemas.microsoft.com/office/drawing/2014/main" id="{0F0AD82F-3C54-423C-9EC2-B3AEC65BD94C}"/>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Recall và Hit Rate</a:t>
            </a:r>
          </a:p>
        </p:txBody>
      </p:sp>
      <p:sp>
        <p:nvSpPr>
          <p:cNvPr id="106" name="body-0-0">
            <a:extLst>
              <a:ext uri="{FF2B5EF4-FFF2-40B4-BE49-F238E27FC236}">
                <a16:creationId xmlns:a16="http://schemas.microsoft.com/office/drawing/2014/main" id="{F804AD38-7C8C-4AE3-9408-571013D69B53}"/>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Recall = số item đúng trong Top-K / |G|.</a:t>
            </a:r>
          </a:p>
          <a:p>
            <a:pPr>
              <a:defRPr sz="1388" b="0">
                <a:solidFill>
                  <a:srgbClr val="536373"/>
                </a:solidFill>
              </a:defRPr>
            </a:pPr>
            <a:r>
              <a:rPr sz="1388" b="0">
                <a:solidFill>
                  <a:srgbClr val="536373"/>
                </a:solidFill>
              </a:rPr>
              <a:t>Hit = 1 nếu có ít nhất một item đúng.</a:t>
            </a:r>
          </a:p>
          <a:p>
            <a:pPr>
              <a:defRPr sz="1388" b="0">
                <a:solidFill>
                  <a:srgbClr val="536373"/>
                </a:solidFill>
              </a:defRPr>
            </a:pPr>
            <a:r>
              <a:rPr sz="1388" b="0">
                <a:solidFill>
                  <a:srgbClr val="536373"/>
                </a:solidFill>
              </a:rPr>
              <a:t>Một target: Recall và Hit bằng nhau. Nhiều target: hai chỉ số khác ý nghĩa.</a:t>
            </a:r>
          </a:p>
        </p:txBody>
      </p:sp>
      <p:sp>
        <p:nvSpPr>
          <p:cNvPr id="107" name="heading-0-1">
            <a:extLst>
              <a:ext uri="{FF2B5EF4-FFF2-40B4-BE49-F238E27FC236}">
                <a16:creationId xmlns:a16="http://schemas.microsoft.com/office/drawing/2014/main" id="{A0859962-BFE6-4D82-A63F-C6B533679685}"/>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MRR</a:t>
            </a:r>
          </a:p>
        </p:txBody>
      </p:sp>
      <p:sp>
        <p:nvSpPr>
          <p:cNvPr id="108" name="body-0-1">
            <a:extLst>
              <a:ext uri="{FF2B5EF4-FFF2-40B4-BE49-F238E27FC236}">
                <a16:creationId xmlns:a16="http://schemas.microsoft.com/office/drawing/2014/main" id="{CF09CEB5-0764-4E41-9927-445B82B5105D}"/>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RR = 1 / hạng hit đầu tiên trong K, không hit thì 0. MRR là trung bình RR. Không phản ánh các hit phía sau.</a:t>
            </a:r>
          </a:p>
        </p:txBody>
      </p:sp>
      <p:sp>
        <p:nvSpPr>
          <p:cNvPr id="109" name="heading-1-0">
            <a:extLst>
              <a:ext uri="{FF2B5EF4-FFF2-40B4-BE49-F238E27FC236}">
                <a16:creationId xmlns:a16="http://schemas.microsoft.com/office/drawing/2014/main" id="{CF75A23F-6F4C-43C2-9B9B-2DF2263EFA98}"/>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NDCG nhị phân</a:t>
            </a:r>
          </a:p>
        </p:txBody>
      </p:sp>
      <p:sp>
        <p:nvSpPr>
          <p:cNvPr id="110" name="body-1-0">
            <a:extLst>
              <a:ext uri="{FF2B5EF4-FFF2-40B4-BE49-F238E27FC236}">
                <a16:creationId xmlns:a16="http://schemas.microsoft.com/office/drawing/2014/main" id="{9F606869-D985-43B8-AAF3-BB65F56CFBC6}"/>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DCG = tổng rel(r) / log₂(r+1), r từ 1 đến K. IDCG xếp các item đúng ở đầu. NDCG = DCG / IDCG.</a:t>
            </a:r>
          </a:p>
        </p:txBody>
      </p:sp>
      <p:sp>
        <p:nvSpPr>
          <p:cNvPr id="111" name="heading-1-1">
            <a:extLst>
              <a:ext uri="{FF2B5EF4-FFF2-40B4-BE49-F238E27FC236}">
                <a16:creationId xmlns:a16="http://schemas.microsoft.com/office/drawing/2014/main" id="{A8A233D3-285A-471E-B795-E32A1A5A8004}"/>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Trường hợp cần quy định</a:t>
            </a:r>
          </a:p>
        </p:txBody>
      </p:sp>
      <p:sp>
        <p:nvSpPr>
          <p:cNvPr id="112" name="body-1-1">
            <a:extLst>
              <a:ext uri="{FF2B5EF4-FFF2-40B4-BE49-F238E27FC236}">
                <a16:creationId xmlns:a16="http://schemas.microsoft.com/office/drawing/2014/main" id="{72AE1749-41E0-40C8-BC77-2BD5A511FCBB}"/>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Mỗi mẫu next-step hợp lệ có G không rỗng. Top-K gồm item phân biệt. Nếu trả thiếu K hoặc đánh giá riêng target khả thi, phải công bố quy tắc và mẫu số.</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06 / VÍ DỤ TÍNH ĐIỂM</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Cùng Recall nhưng khác chất lượng thứ hạng.</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Ví dụ tự xây dựng: G = {B, D}, K = 5. Không phải kết quả mô hình.</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37 / 41</a:t>
            </a:r>
          </a:p>
        </p:txBody>
      </p:sp>
      <p:sp>
        <p:nvSpPr>
          <p:cNvPr id="105" name="heading-0-0">
            <a:extLst>
              <a:ext uri="{FF2B5EF4-FFF2-40B4-BE49-F238E27FC236}">
                <a16:creationId xmlns:a16="http://schemas.microsoft.com/office/drawing/2014/main" id="{5149C7C4-C90C-4838-8D31-F0A20DA18451}"/>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Danh sách A B C D E</a:t>
            </a:r>
          </a:p>
        </p:txBody>
      </p:sp>
      <p:sp>
        <p:nvSpPr>
          <p:cNvPr id="106" name="body-0-0">
            <a:extLst>
              <a:ext uri="{FF2B5EF4-FFF2-40B4-BE49-F238E27FC236}">
                <a16:creationId xmlns:a16="http://schemas.microsoft.com/office/drawing/2014/main" id="{ED63F234-D24F-46FA-ADBC-D73AE6860855}"/>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B và D ở hạng 2, 4.</a:t>
            </a:r>
          </a:p>
          <a:p>
            <a:pPr>
              <a:defRPr sz="1388" b="0">
                <a:solidFill>
                  <a:srgbClr val="536373"/>
                </a:solidFill>
              </a:defRPr>
            </a:pPr>
            <a:r>
              <a:rPr sz="1388" b="0">
                <a:solidFill>
                  <a:srgbClr val="536373"/>
                </a:solidFill>
              </a:rPr>
              <a:t>Recall@5 = 1,0000.</a:t>
            </a:r>
          </a:p>
          <a:p>
            <a:pPr>
              <a:defRPr sz="1388" b="0">
                <a:solidFill>
                  <a:srgbClr val="536373"/>
                </a:solidFill>
              </a:defRPr>
            </a:pPr>
            <a:r>
              <a:rPr sz="1388" b="0">
                <a:solidFill>
                  <a:srgbClr val="536373"/>
                </a:solidFill>
              </a:rPr>
              <a:t>Hit@5 = 1.</a:t>
            </a:r>
          </a:p>
          <a:p>
            <a:pPr>
              <a:defRPr sz="1388" b="0">
                <a:solidFill>
                  <a:srgbClr val="536373"/>
                </a:solidFill>
              </a:defRPr>
            </a:pPr>
            <a:r>
              <a:rPr sz="1388" b="0">
                <a:solidFill>
                  <a:srgbClr val="536373"/>
                </a:solidFill>
              </a:rPr>
              <a:t>RR@5 = 0,5000.</a:t>
            </a:r>
          </a:p>
          <a:p>
            <a:pPr>
              <a:defRPr sz="1388" b="0">
                <a:solidFill>
                  <a:srgbClr val="536373"/>
                </a:solidFill>
              </a:defRPr>
            </a:pPr>
            <a:r>
              <a:rPr sz="1388" b="0">
                <a:solidFill>
                  <a:srgbClr val="536373"/>
                </a:solidFill>
              </a:rPr>
              <a:t>Precision@5 = 0,4000.</a:t>
            </a:r>
          </a:p>
        </p:txBody>
      </p:sp>
      <p:sp>
        <p:nvSpPr>
          <p:cNvPr id="107" name="heading-0-1">
            <a:extLst>
              <a:ext uri="{FF2B5EF4-FFF2-40B4-BE49-F238E27FC236}">
                <a16:creationId xmlns:a16="http://schemas.microsoft.com/office/drawing/2014/main" id="{31AAE4D9-DDE9-4359-BF8A-036B76A5750C}"/>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NDCG của danh sách thứ nhất</a:t>
            </a:r>
          </a:p>
        </p:txBody>
      </p:sp>
      <p:sp>
        <p:nvSpPr>
          <p:cNvPr id="108" name="body-0-1">
            <a:extLst>
              <a:ext uri="{FF2B5EF4-FFF2-40B4-BE49-F238E27FC236}">
                <a16:creationId xmlns:a16="http://schemas.microsoft.com/office/drawing/2014/main" id="{CF8B5872-C092-4D29-A013-F8DCD93EE380}"/>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DCG ≈ 1,0616. IDCG ≈ 1,6309.</a:t>
            </a:r>
          </a:p>
          <a:p>
            <a:pPr>
              <a:defRPr sz="1388" b="0">
                <a:solidFill>
                  <a:srgbClr val="536373"/>
                </a:solidFill>
              </a:defRPr>
            </a:pPr>
            <a:r>
              <a:rPr sz="1388" b="0">
                <a:solidFill>
                  <a:srgbClr val="536373"/>
                </a:solidFill>
              </a:rPr>
              <a:t>NDCG@5 ≈ 0,6509.</a:t>
            </a:r>
          </a:p>
        </p:txBody>
      </p:sp>
      <p:sp>
        <p:nvSpPr>
          <p:cNvPr id="109" name="heading-1-0">
            <a:extLst>
              <a:ext uri="{FF2B5EF4-FFF2-40B4-BE49-F238E27FC236}">
                <a16:creationId xmlns:a16="http://schemas.microsoft.com/office/drawing/2014/main" id="{03B84060-7D2C-4A6E-A2A0-607BABB01044}"/>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Danh sách B D A C E</a:t>
            </a:r>
          </a:p>
        </p:txBody>
      </p:sp>
      <p:sp>
        <p:nvSpPr>
          <p:cNvPr id="110" name="body-1-0">
            <a:extLst>
              <a:ext uri="{FF2B5EF4-FFF2-40B4-BE49-F238E27FC236}">
                <a16:creationId xmlns:a16="http://schemas.microsoft.com/office/drawing/2014/main" id="{7B2B783E-C3BD-4FC9-A30F-8A2E82910D1B}"/>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B và D ở hạng 1, 2.</a:t>
            </a:r>
          </a:p>
          <a:p>
            <a:pPr>
              <a:defRPr sz="1388" b="0">
                <a:solidFill>
                  <a:srgbClr val="536373"/>
                </a:solidFill>
              </a:defRPr>
            </a:pPr>
            <a:r>
              <a:rPr sz="1388" b="0">
                <a:solidFill>
                  <a:srgbClr val="536373"/>
                </a:solidFill>
              </a:rPr>
              <a:t>Recall@5 = 1,0000.</a:t>
            </a:r>
          </a:p>
          <a:p>
            <a:pPr>
              <a:defRPr sz="1388" b="0">
                <a:solidFill>
                  <a:srgbClr val="536373"/>
                </a:solidFill>
              </a:defRPr>
            </a:pPr>
            <a:r>
              <a:rPr sz="1388" b="0">
                <a:solidFill>
                  <a:srgbClr val="536373"/>
                </a:solidFill>
              </a:rPr>
              <a:t>Hit@5 = 1.</a:t>
            </a:r>
          </a:p>
          <a:p>
            <a:pPr>
              <a:defRPr sz="1388" b="0">
                <a:solidFill>
                  <a:srgbClr val="536373"/>
                </a:solidFill>
              </a:defRPr>
            </a:pPr>
            <a:r>
              <a:rPr sz="1388" b="0">
                <a:solidFill>
                  <a:srgbClr val="536373"/>
                </a:solidFill>
              </a:rPr>
              <a:t>RR@5 = 1,0000.</a:t>
            </a:r>
          </a:p>
          <a:p>
            <a:pPr>
              <a:defRPr sz="1388" b="0">
                <a:solidFill>
                  <a:srgbClr val="536373"/>
                </a:solidFill>
              </a:defRPr>
            </a:pPr>
            <a:r>
              <a:rPr sz="1388" b="0">
                <a:solidFill>
                  <a:srgbClr val="536373"/>
                </a:solidFill>
              </a:rPr>
              <a:t>Precision@5 = 0,4000.</a:t>
            </a:r>
          </a:p>
        </p:txBody>
      </p:sp>
      <p:sp>
        <p:nvSpPr>
          <p:cNvPr id="111" name="heading-1-1">
            <a:extLst>
              <a:ext uri="{FF2B5EF4-FFF2-40B4-BE49-F238E27FC236}">
                <a16:creationId xmlns:a16="http://schemas.microsoft.com/office/drawing/2014/main" id="{833E2C26-0099-4721-A38E-59EA5914413B}"/>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NDCG của danh sách thứ hai</a:t>
            </a:r>
          </a:p>
        </p:txBody>
      </p:sp>
      <p:sp>
        <p:nvSpPr>
          <p:cNvPr id="112" name="body-1-1">
            <a:extLst>
              <a:ext uri="{FF2B5EF4-FFF2-40B4-BE49-F238E27FC236}">
                <a16:creationId xmlns:a16="http://schemas.microsoft.com/office/drawing/2014/main" id="{97CE8386-D4EB-4B35-89A7-F3BDC11E09A0}"/>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Thứ hạng lý tưởng cho hai item đúng.</a:t>
            </a:r>
          </a:p>
          <a:p>
            <a:pPr>
              <a:defRPr sz="1388" b="0">
                <a:solidFill>
                  <a:srgbClr val="536373"/>
                </a:solidFill>
              </a:defRPr>
            </a:pPr>
            <a:r>
              <a:rPr sz="1388" b="0">
                <a:solidFill>
                  <a:srgbClr val="536373"/>
                </a:solidFill>
              </a:rPr>
              <a:t>NDCG@5 = 1,0000.</a:t>
            </a:r>
          </a:p>
          <a:p>
            <a:pPr>
              <a:defRPr sz="1388" b="0">
                <a:solidFill>
                  <a:srgbClr val="536373"/>
                </a:solidFill>
              </a:defRPr>
            </a:pPr>
            <a:r>
              <a:rPr sz="1388" b="0">
                <a:solidFill>
                  <a:srgbClr val="536373"/>
                </a:solidFill>
              </a:rPr>
              <a:t>Vị trí tốt hơn làm tăng NDCG và RR dù Recall giữ nguyên.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06 / KHẢ NĂNG PHỤC VỤ</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Đo thêm độ phủ, dự phòng và chi phí.</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Chất lượng xếp hạng cần được đọc cùng khả năng phục vụ thực tế.</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38 / 41</a:t>
            </a:r>
          </a:p>
        </p:txBody>
      </p:sp>
      <p:sp>
        <p:nvSpPr>
          <p:cNvPr id="105" name="heading-0-0">
            <a:extLst>
              <a:ext uri="{FF2B5EF4-FFF2-40B4-BE49-F238E27FC236}">
                <a16:creationId xmlns:a16="http://schemas.microsoft.com/office/drawing/2014/main" id="{EC825615-E296-4E15-B0F2-9ECDB16C946E}"/>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Độ phủ và tính đầy đủ</a:t>
            </a:r>
          </a:p>
        </p:txBody>
      </p:sp>
      <p:sp>
        <p:nvSpPr>
          <p:cNvPr id="106" name="body-0-0">
            <a:extLst>
              <a:ext uri="{FF2B5EF4-FFF2-40B4-BE49-F238E27FC236}">
                <a16:creationId xmlns:a16="http://schemas.microsoft.com/office/drawing/2014/main" id="{5AF9E39B-E71B-40D2-8274-8DB93E47B31A}"/>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Độ phủ catalog = số item khác nhau được gợi ý / số item trong hợp các ứng viên hợp lệ của query đánh giá. Công bố thời gian và mẫu số.</a:t>
            </a:r>
          </a:p>
          <a:p>
            <a:pPr>
              <a:defRPr sz="1388" b="0">
                <a:solidFill>
                  <a:srgbClr val="536373"/>
                </a:solidFill>
              </a:defRPr>
            </a:pPr>
            <a:r>
              <a:rPr sz="1388" b="0">
                <a:solidFill>
                  <a:srgbClr val="536373"/>
                </a:solidFill>
              </a:rPr>
              <a:t>Đo tỷ lệ query dùng dự phòng, trả đủ K.</a:t>
            </a:r>
          </a:p>
        </p:txBody>
      </p:sp>
      <p:sp>
        <p:nvSpPr>
          <p:cNvPr id="107" name="heading-0-1">
            <a:extLst>
              <a:ext uri="{FF2B5EF4-FFF2-40B4-BE49-F238E27FC236}">
                <a16:creationId xmlns:a16="http://schemas.microsoft.com/office/drawing/2014/main" id="{D4B15254-F1DA-447A-9B7F-C6AD97F91EF7}"/>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Target khó phục vụ</a:t>
            </a:r>
          </a:p>
        </p:txBody>
      </p:sp>
      <p:sp>
        <p:nvSpPr>
          <p:cNvPr id="108" name="body-0-1">
            <a:extLst>
              <a:ext uri="{FF2B5EF4-FFF2-40B4-BE49-F238E27FC236}">
                <a16:creationId xmlns:a16="http://schemas.microsoft.com/office/drawing/2014/main" id="{1C66E2D3-B1F6-44EE-AF94-387BC298849C}"/>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Test: 9,33% cặp target ngoài train; 79,17% cặp target thuộc ứng viên tại t. Không bỏ target khó khỏi mẫu số.</a:t>
            </a:r>
          </a:p>
        </p:txBody>
      </p:sp>
      <p:sp>
        <p:nvSpPr>
          <p:cNvPr id="109" name="heading-1-0">
            <a:extLst>
              <a:ext uri="{FF2B5EF4-FFF2-40B4-BE49-F238E27FC236}">
                <a16:creationId xmlns:a16="http://schemas.microsoft.com/office/drawing/2014/main" id="{33780B87-4E6D-475B-9887-7CC8B24A0F9C}"/>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Chi phí hệ thống</a:t>
            </a:r>
          </a:p>
        </p:txBody>
      </p:sp>
      <p:sp>
        <p:nvSpPr>
          <p:cNvPr id="110" name="body-1-0">
            <a:extLst>
              <a:ext uri="{FF2B5EF4-FFF2-40B4-BE49-F238E27FC236}">
                <a16:creationId xmlns:a16="http://schemas.microsoft.com/office/drawing/2014/main" id="{481EEB6C-7BFA-465D-91FD-4AD95F044DB8}"/>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Thời gian huấn luyện, bộ nhớ, độ trễ suy luận trung vị và p95. Đo cùng phần cứng, kích thước ứng viên, điều kiện chạy.</a:t>
            </a:r>
          </a:p>
        </p:txBody>
      </p:sp>
      <p:sp>
        <p:nvSpPr>
          <p:cNvPr id="111" name="heading-1-1">
            <a:extLst>
              <a:ext uri="{FF2B5EF4-FFF2-40B4-BE49-F238E27FC236}">
                <a16:creationId xmlns:a16="http://schemas.microsoft.com/office/drawing/2014/main" id="{25D1661A-1A14-4C80-9613-D5DFB24EAD92}"/>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Phân tích nhóm</a:t>
            </a:r>
          </a:p>
        </p:txBody>
      </p:sp>
      <p:sp>
        <p:nvSpPr>
          <p:cNvPr id="112" name="body-1-1">
            <a:extLst>
              <a:ext uri="{FF2B5EF4-FFF2-40B4-BE49-F238E27FC236}">
                <a16:creationId xmlns:a16="http://schemas.microsoft.com/office/drawing/2014/main" id="{AE99DCC8-6C4E-4E37-9F15-4C247F503265}"/>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Phân tích theo prefix, hành vi, visitor mới/cũ và độ phổ biến item. Test có 83,60% query thuộc visitor chưa thấy trong train.</a:t>
            </a:r>
          </a:p>
        </p:txBody>
      </p:sp>
      <p:sp>
        <p:nvSpPr>
          <p:cNvPr id="113" name="note">
            <a:extLst>
              <a:ext uri="{FF2B5EF4-FFF2-40B4-BE49-F238E27FC236}">
                <a16:creationId xmlns:a16="http://schemas.microsoft.com/office/drawing/2014/main" id="{C07E58F8-EAB1-4411-B582-0676A1D93EC6}"/>
              </a:ext>
            </a:extLst>
          </p:cNvPr>
          <p:cNvSpPr>
            <a:spLocks noGrp="1"/>
          </p:cNvSpPr>
          <p:nvPr/>
        </p:nvSpPr>
        <p:spPr>
          <a:xfrm>
            <a:off x="533400" y="5953125"/>
            <a:ext cx="11106150" cy="304800"/>
          </a:xfrm>
          <a:prstGeom prst="rect">
            <a:avLst/>
          </a:prstGeom>
          <a:noFill/>
          <a:ln w="0">
            <a:noFill/>
            <a:prstDash val="solid"/>
          </a:ln>
        </p:spPr>
        <p:txBody>
          <a:bodyPr anchor="t"/>
          <a:lstStyle>
            <a:defPPr>
              <a:defRPr sz="900" b="0">
                <a:solidFill>
                  <a:srgbClr val="536373"/>
                </a:solidFill>
              </a:defRPr>
            </a:defPPr>
            <a:lvl1pPr>
              <a:defRPr sz="900" b="0">
                <a:solidFill>
                  <a:srgbClr val="536373"/>
                </a:solidFill>
              </a:defRPr>
            </a:lvl1pPr>
            <a:lvl2pPr>
              <a:defRPr sz="900" b="0">
                <a:solidFill>
                  <a:srgbClr val="536373"/>
                </a:solidFill>
              </a:defRPr>
            </a:lvl2pPr>
            <a:lvl3pPr>
              <a:defRPr sz="900" b="0">
                <a:solidFill>
                  <a:srgbClr val="536373"/>
                </a:solidFill>
              </a:defRPr>
            </a:lvl3pPr>
            <a:lvl4pPr>
              <a:defRPr sz="900" b="0">
                <a:solidFill>
                  <a:srgbClr val="536373"/>
                </a:solidFill>
              </a:defRPr>
            </a:lvl4pPr>
            <a:lvl5pPr>
              <a:defRPr sz="900" b="0">
                <a:solidFill>
                  <a:srgbClr val="536373"/>
                </a:solidFill>
              </a:defRPr>
            </a:lvl5pPr>
            <a:lvl6pPr>
              <a:defRPr sz="900" b="0">
                <a:solidFill>
                  <a:srgbClr val="536373"/>
                </a:solidFill>
              </a:defRPr>
            </a:lvl6pPr>
            <a:lvl7pPr>
              <a:defRPr sz="900" b="0">
                <a:solidFill>
                  <a:srgbClr val="536373"/>
                </a:solidFill>
              </a:defRPr>
            </a:lvl7pPr>
            <a:lvl8pPr>
              <a:defRPr sz="900" b="0">
                <a:solidFill>
                  <a:srgbClr val="536373"/>
                </a:solidFill>
              </a:defRPr>
            </a:lvl8pPr>
            <a:lvl9pPr>
              <a:defRPr sz="900" b="0">
                <a:solidFill>
                  <a:srgbClr val="536373"/>
                </a:solidFill>
              </a:defRPr>
            </a:lvl9pPr>
          </a:lstStyle>
          <a:p>
            <a:pPr>
              <a:defRPr sz="900" b="0">
                <a:solidFill>
                  <a:srgbClr val="536373"/>
                </a:solidFill>
              </a:defRPr>
            </a:pPr>
            <a:r>
              <a:rPr sz="900" b="0">
                <a:solidFill>
                  <a:srgbClr val="536373"/>
                </a:solidFill>
              </a:rPr>
              <a:t>Chỉ số ngoại tuyến không trực tiếp chứng minh tăng doanh thu, CTR hoặc conversion.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07 / THIẾT KẾ THỰC NGHIỆM</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So sánh công bằng trên cùng giao thức.</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Chưa có bảng kết quả mô hình trong báo cáo hiện tại.</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39 / 41</a:t>
            </a:r>
          </a:p>
        </p:txBody>
      </p:sp>
      <p:sp>
        <p:nvSpPr>
          <p:cNvPr id="105" name="heading-0-0">
            <a:extLst>
              <a:ext uri="{FF2B5EF4-FFF2-40B4-BE49-F238E27FC236}">
                <a16:creationId xmlns:a16="http://schemas.microsoft.com/office/drawing/2014/main" id="{3F5617DF-C924-4DE4-A745-7D960D3649C2}"/>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Dữ liệu và lựa chọn cấu hình</a:t>
            </a:r>
          </a:p>
        </p:txBody>
      </p:sp>
      <p:sp>
        <p:nvSpPr>
          <p:cNvPr id="106" name="body-0-0">
            <a:extLst>
              <a:ext uri="{FF2B5EF4-FFF2-40B4-BE49-F238E27FC236}">
                <a16:creationId xmlns:a16="http://schemas.microsoft.com/office/drawing/2014/main" id="{E9BC8EC3-2AC6-4457-B906-C367FA4FE4D5}"/>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Cùng query, target, ứng viên, K, chính sách item lặp và metadata thiếu. Train để học, validation để chọn/dừng sớm, đóng băng trước test.</a:t>
            </a:r>
          </a:p>
        </p:txBody>
      </p:sp>
      <p:sp>
        <p:nvSpPr>
          <p:cNvPr id="107" name="heading-0-1">
            <a:extLst>
              <a:ext uri="{FF2B5EF4-FFF2-40B4-BE49-F238E27FC236}">
                <a16:creationId xmlns:a16="http://schemas.microsoft.com/office/drawing/2014/main" id="{6B87A49E-DB14-495E-AC7D-744533AF5889}"/>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Tập ứng viên đánh giá</a:t>
            </a:r>
          </a:p>
        </p:txBody>
      </p:sp>
      <p:sp>
        <p:nvSpPr>
          <p:cNvPr id="108" name="body-0-1">
            <a:extLst>
              <a:ext uri="{FF2B5EF4-FFF2-40B4-BE49-F238E27FC236}">
                <a16:creationId xmlns:a16="http://schemas.microsoft.com/office/drawing/2014/main" id="{B0CCB731-33B3-4E9C-859A-4B62FFC0AF66}"/>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Ưu tiên toàn bộ ứng viên hợp lệ. Nếu lấy mẫu do tài nguyên, cùng mẫu và seed cho mọi mô hình; ghi riêng, không gọi là toàn catalog.</a:t>
            </a:r>
          </a:p>
        </p:txBody>
      </p:sp>
      <p:sp>
        <p:nvSpPr>
          <p:cNvPr id="109" name="heading-1-0">
            <a:extLst>
              <a:ext uri="{FF2B5EF4-FFF2-40B4-BE49-F238E27FC236}">
                <a16:creationId xmlns:a16="http://schemas.microsoft.com/office/drawing/2014/main" id="{110A28C9-B75A-46F1-B1A9-36BF4CFE8FEA}"/>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Thí nghiệm tối thiểu</a:t>
            </a:r>
          </a:p>
        </p:txBody>
      </p:sp>
      <p:sp>
        <p:nvSpPr>
          <p:cNvPr id="110" name="body-1-0">
            <a:extLst>
              <a:ext uri="{FF2B5EF4-FFF2-40B4-BE49-F238E27FC236}">
                <a16:creationId xmlns:a16="http://schemas.microsoft.com/office/drawing/2014/main" id="{21B77A61-E28A-419C-8DAE-CC699242B688}"/>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Popularity, ItemKNN, Session KNN/V-SKNN, một trong GRU4Rec/SR-GNN. So cùng mô hình có/không loại hành vi, phân tích giá trị thứ tự nhóm timestamp.</a:t>
            </a:r>
          </a:p>
        </p:txBody>
      </p:sp>
      <p:sp>
        <p:nvSpPr>
          <p:cNvPr id="111" name="heading-1-1">
            <a:extLst>
              <a:ext uri="{FF2B5EF4-FFF2-40B4-BE49-F238E27FC236}">
                <a16:creationId xmlns:a16="http://schemas.microsoft.com/office/drawing/2014/main" id="{7F9795F1-475D-4662-9E26-7948D197633F}"/>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Ablation có kiểm soát</a:t>
            </a:r>
          </a:p>
        </p:txBody>
      </p:sp>
      <p:sp>
        <p:nvSpPr>
          <p:cNvPr id="112" name="body-1-1">
            <a:extLst>
              <a:ext uri="{FF2B5EF4-FFF2-40B4-BE49-F238E27FC236}">
                <a16:creationId xmlns:a16="http://schemas.microsoft.com/office/drawing/2014/main" id="{597CBCE6-E4C2-4785-9AF4-9AA80B265C2C}"/>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Giữ nguyên target, dữ liệu, ngân sách tuning và điều kiện khác. So hai kiến trúc khác nhau chưa tách được tác dụng của loại hành vi hoặc thứ tự.</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07 / ĐỘ ỔN ĐỊNH VÀ KIỂM TRA</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Kiểm chứng triển khai trước khi kết luận.</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Bộ đánh giá cần được kiểm tra độc lập với pipeline dữ liệu.</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40 / 41</a:t>
            </a:r>
          </a:p>
        </p:txBody>
      </p:sp>
      <p:sp>
        <p:nvSpPr>
          <p:cNvPr id="105" name="heading-0-0">
            <a:extLst>
              <a:ext uri="{FF2B5EF4-FFF2-40B4-BE49-F238E27FC236}">
                <a16:creationId xmlns:a16="http://schemas.microsoft.com/office/drawing/2014/main" id="{80BB9957-972F-4F74-8AA2-E7BD808C23B2}"/>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Độ ổn định ngẫu nhiên</a:t>
            </a:r>
          </a:p>
        </p:txBody>
      </p:sp>
      <p:sp>
        <p:nvSpPr>
          <p:cNvPr id="106" name="body-0-0">
            <a:extLst>
              <a:ext uri="{FF2B5EF4-FFF2-40B4-BE49-F238E27FC236}">
                <a16:creationId xmlns:a16="http://schemas.microsoft.com/office/drawing/2014/main" id="{03358494-85A3-4471-92CA-DDB597013222}"/>
              </a:ext>
            </a:extLst>
          </p:cNvPr>
          <p:cNvSpPr>
            <a:spLocks noGrp="1"/>
          </p:cNvSpPr>
          <p:nvPr/>
        </p:nvSpPr>
        <p:spPr>
          <a:xfrm>
            <a:off x="53340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Đề xuất từ 3 seed khi đủ tài nguyên, báo cáo trung bình và độ lệch chuẩn. Khoảng tin cậy nên lấy mẫu lại theo visitor/phiên phù hợp.</a:t>
            </a:r>
          </a:p>
        </p:txBody>
      </p:sp>
      <p:sp>
        <p:nvSpPr>
          <p:cNvPr id="107" name="heading-0-1">
            <a:extLst>
              <a:ext uri="{FF2B5EF4-FFF2-40B4-BE49-F238E27FC236}">
                <a16:creationId xmlns:a16="http://schemas.microsoft.com/office/drawing/2014/main" id="{80A20A51-0799-42F8-A2F8-9B6F2B6C3873}"/>
              </a:ext>
            </a:extLst>
          </p:cNvPr>
          <p:cNvSpPr>
            <a:spLocks noGrp="1"/>
          </p:cNvSpPr>
          <p:nvPr/>
        </p:nvSpPr>
        <p:spPr>
          <a:xfrm>
            <a:off x="53340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Kiểm tra chống rò rỉ</a:t>
            </a:r>
          </a:p>
        </p:txBody>
      </p:sp>
      <p:sp>
        <p:nvSpPr>
          <p:cNvPr id="108" name="body-0-1">
            <a:extLst>
              <a:ext uri="{FF2B5EF4-FFF2-40B4-BE49-F238E27FC236}">
                <a16:creationId xmlns:a16="http://schemas.microsoft.com/office/drawing/2014/main" id="{79D7A70C-00DC-4A13-9726-DD8320021A8A}"/>
              </a:ext>
            </a:extLst>
          </p:cNvPr>
          <p:cNvSpPr>
            <a:spLocks noGrp="1"/>
          </p:cNvSpPr>
          <p:nvPr/>
        </p:nvSpPr>
        <p:spPr>
          <a:xfrm>
            <a:off x="53340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Không đưa target vào prefix. Metadata không vượt t. Tương đồng chỉ học từ train. Không coi các prefix phụ thuộc là quan sát độc lập.</a:t>
            </a:r>
          </a:p>
        </p:txBody>
      </p:sp>
      <p:sp>
        <p:nvSpPr>
          <p:cNvPr id="109" name="heading-1-0">
            <a:extLst>
              <a:ext uri="{FF2B5EF4-FFF2-40B4-BE49-F238E27FC236}">
                <a16:creationId xmlns:a16="http://schemas.microsoft.com/office/drawing/2014/main" id="{44DDBAAA-CCF4-4AAA-B047-97A3BD1D0068}"/>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Kiểm tra đầu ra và công thức</a:t>
            </a:r>
          </a:p>
        </p:txBody>
      </p:sp>
      <p:sp>
        <p:nvSpPr>
          <p:cNvPr id="110" name="body-1-0">
            <a:extLst>
              <a:ext uri="{FF2B5EF4-FFF2-40B4-BE49-F238E27FC236}">
                <a16:creationId xmlns:a16="http://schemas.microsoft.com/office/drawing/2014/main" id="{EF16339F-FCE9-4DFF-B058-1D9C91EC798E}"/>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Danh sách không trùng item. Chỉ số khớp ví dụ nhỏ. Công bố số query và mẫu số từng chỉ số. Không mặc định dùng mẫu âm train để đánh giá.</a:t>
            </a:r>
          </a:p>
        </p:txBody>
      </p:sp>
      <p:sp>
        <p:nvSpPr>
          <p:cNvPr id="111" name="heading-1-1">
            <a:extLst>
              <a:ext uri="{FF2B5EF4-FFF2-40B4-BE49-F238E27FC236}">
                <a16:creationId xmlns:a16="http://schemas.microsoft.com/office/drawing/2014/main" id="{433B8F56-7C72-4F01-B6C6-E736756A149A}"/>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Diễn giải kết quả</a:t>
            </a:r>
          </a:p>
        </p:txBody>
      </p:sp>
      <p:sp>
        <p:nvSpPr>
          <p:cNvPr id="112" name="body-1-1">
            <a:extLst>
              <a:ext uri="{FF2B5EF4-FFF2-40B4-BE49-F238E27FC236}">
                <a16:creationId xmlns:a16="http://schemas.microsoft.com/office/drawing/2014/main" id="{F086D9DF-46E4-40EB-ABFB-55681AC170B6}"/>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Giữ toàn bộ target quan sát được trong kết quả chính. Nếu đánh giá riêng nhóm target có thể phục vụ, công bố rõ phép lọc và mẫu số; không thay thế ngầm kết quả chính.</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TextBox 1"/>
          <p:cNvSpPr txBox="1"/>
          <p:nvPr/>
        </p:nvSpPr>
        <p:spPr>
          <a:xfrm>
            <a:off x="420624" y="91440"/>
            <a:ext cx="11292840" cy="457200"/>
          </a:xfrm>
          <a:prstGeom prst="rect">
            <a:avLst/>
          </a:prstGeom>
          <a:noFill/>
        </p:spPr>
        <p:txBody>
          <a:bodyPr wrap="square" lIns="0" tIns="0" rIns="0" bIns="0" anchor="ctr">
            <a:noAutofit/>
          </a:bodyPr>
          <a:lstStyle/>
          <a:p>
            <a:pPr algn="l">
              <a:lnSpc>
                <a:spcPct val="108000"/>
              </a:lnSpc>
              <a:spcBef>
                <a:spcPts val="0"/>
              </a:spcBef>
              <a:spcAft>
                <a:spcPts val="0"/>
              </a:spcAft>
            </a:pPr>
            <a:r>
              <a:rPr sz="2300" b="1">
                <a:solidFill>
                  <a:srgbClr val="FFFFFF"/>
                </a:solidFill>
                <a:latin typeface="Arial"/>
              </a:rPr>
              <a:t>08 / SẢN PHẨM VÀ LỘ TRÌNH</a:t>
            </a:r>
          </a:p>
        </p:txBody>
      </p:sp>
      <p:sp>
        <p:nvSpPr>
          <p:cNvPr id="102" name="TextBox 2"/>
          <p:cNvSpPr txBox="1"/>
          <p:nvPr/>
        </p:nvSpPr>
        <p:spPr>
          <a:xfrm>
            <a:off x="512064" y="969264"/>
            <a:ext cx="11109960" cy="713232"/>
          </a:xfrm>
          <a:prstGeom prst="rect">
            <a:avLst/>
          </a:prstGeom>
          <a:noFill/>
        </p:spPr>
        <p:txBody>
          <a:bodyPr wrap="square" lIns="0" tIns="0" rIns="0" bIns="0" anchor="t">
            <a:noAutofit/>
          </a:bodyPr>
          <a:lstStyle/>
          <a:p>
            <a:pPr algn="l">
              <a:lnSpc>
                <a:spcPct val="108000"/>
              </a:lnSpc>
              <a:spcBef>
                <a:spcPts val="0"/>
              </a:spcBef>
              <a:spcAft>
                <a:spcPts val="0"/>
              </a:spcAft>
            </a:pPr>
            <a:r>
              <a:rPr sz="2800" b="1" dirty="0">
                <a:solidFill>
                  <a:srgbClr val="003366"/>
                </a:solidFill>
                <a:latin typeface="Arial"/>
              </a:rPr>
              <a:t>Nền dữ liệu hoàn tất; tiếp theo là kiểm chứng mô hình.</a:t>
            </a:r>
          </a:p>
        </p:txBody>
      </p:sp>
      <p:sp>
        <p:nvSpPr>
          <p:cNvPr id="103" name="TextBox 3"/>
          <p:cNvSpPr txBox="1"/>
          <p:nvPr/>
        </p:nvSpPr>
        <p:spPr>
          <a:xfrm>
            <a:off x="539496" y="1783080"/>
            <a:ext cx="10972800" cy="365760"/>
          </a:xfrm>
          <a:prstGeom prst="rect">
            <a:avLst/>
          </a:prstGeom>
          <a:noFill/>
        </p:spPr>
        <p:txBody>
          <a:bodyPr wrap="square" lIns="0" tIns="0" rIns="0" bIns="0" anchor="t">
            <a:noAutofit/>
          </a:bodyPr>
          <a:lstStyle/>
          <a:p>
            <a:pPr algn="l">
              <a:lnSpc>
                <a:spcPct val="108000"/>
              </a:lnSpc>
              <a:spcBef>
                <a:spcPts val="0"/>
              </a:spcBef>
              <a:spcAft>
                <a:spcPts val="0"/>
              </a:spcAft>
            </a:pPr>
            <a:r>
              <a:rPr sz="1400" b="0" dirty="0">
                <a:solidFill>
                  <a:srgbClr val="536373"/>
                </a:solidFill>
                <a:latin typeface="Arial"/>
              </a:rPr>
              <a:t>Bộ next-step đã xác minh đầy đủ; một mô hình nâng cao được lựa chọn là phạm vi nghiên cứu chính.</a:t>
            </a:r>
          </a:p>
        </p:txBody>
      </p:sp>
      <p:sp>
        <p:nvSpPr>
          <p:cNvPr id="104" name="TextBox 7"/>
          <p:cNvSpPr txBox="1"/>
          <p:nvPr/>
        </p:nvSpPr>
        <p:spPr>
          <a:xfrm>
            <a:off x="10561320" y="6510528"/>
            <a:ext cx="1097280" cy="210312"/>
          </a:xfrm>
          <a:prstGeom prst="rect">
            <a:avLst/>
          </a:prstGeom>
          <a:noFill/>
        </p:spPr>
        <p:txBody>
          <a:bodyPr wrap="square" lIns="0" tIns="0" rIns="0" bIns="0" anchor="t">
            <a:noAutofit/>
          </a:bodyPr>
          <a:lstStyle/>
          <a:p>
            <a:pPr algn="r">
              <a:lnSpc>
                <a:spcPct val="108000"/>
              </a:lnSpc>
              <a:spcBef>
                <a:spcPts val="0"/>
              </a:spcBef>
              <a:spcAft>
                <a:spcPts val="0"/>
              </a:spcAft>
            </a:pPr>
            <a:r>
              <a:rPr sz="1000" b="0">
                <a:solidFill>
                  <a:srgbClr val="003366"/>
                </a:solidFill>
                <a:latin typeface="Arial"/>
              </a:rPr>
              <a:t>41 / 41</a:t>
            </a:r>
          </a:p>
        </p:txBody>
      </p:sp>
      <p:sp>
        <p:nvSpPr>
          <p:cNvPr id="105" name="heading-0-0">
            <a:extLst>
              <a:ext uri="{FF2B5EF4-FFF2-40B4-BE49-F238E27FC236}">
                <a16:creationId xmlns:a16="http://schemas.microsoft.com/office/drawing/2014/main" id="{BFD8B216-F68A-40FC-A5D5-BEC66413608B}"/>
              </a:ext>
            </a:extLst>
          </p:cNvPr>
          <p:cNvSpPr>
            <a:spLocks noGrp="1"/>
          </p:cNvSpPr>
          <p:nvPr/>
        </p:nvSpPr>
        <p:spPr>
          <a:xfrm>
            <a:off x="53340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Đã hoàn tất: dữ liệu next-step</a:t>
            </a:r>
          </a:p>
        </p:txBody>
      </p:sp>
      <p:sp>
        <p:nvSpPr>
          <p:cNvPr id="106" name="body-0-0">
            <a:extLst>
              <a:ext uri="{FF2B5EF4-FFF2-40B4-BE49-F238E27FC236}">
                <a16:creationId xmlns:a16="http://schemas.microsoft.com/office/drawing/2014/main" id="{521A9E54-BA25-42CC-82D2-81974E89A601}"/>
              </a:ext>
            </a:extLst>
          </p:cNvPr>
          <p:cNvSpPr>
            <a:spLocks noGrp="1"/>
          </p:cNvSpPr>
          <p:nvPr/>
        </p:nvSpPr>
        <p:spPr>
          <a:xfrm>
            <a:off x="533400" y="2619375"/>
            <a:ext cx="5391150" cy="730250"/>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991.059 query, 993.336 target pairs; 30 kiểm thử, 38 kiểm tra và 20 artifact đạt. Ba notebook đã thực thi trên dữ liệu thật.</a:t>
            </a:r>
          </a:p>
        </p:txBody>
      </p:sp>
      <p:sp>
        <p:nvSpPr>
          <p:cNvPr id="107" name="heading-0-1">
            <a:extLst>
              <a:ext uri="{FF2B5EF4-FFF2-40B4-BE49-F238E27FC236}">
                <a16:creationId xmlns:a16="http://schemas.microsoft.com/office/drawing/2014/main" id="{E2466F30-EB96-41D7-8185-C1B0BE37EE2C}"/>
              </a:ext>
            </a:extLst>
          </p:cNvPr>
          <p:cNvSpPr>
            <a:spLocks noGrp="1"/>
          </p:cNvSpPr>
          <p:nvPr/>
        </p:nvSpPr>
        <p:spPr>
          <a:xfrm>
            <a:off x="533400" y="341630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Bước 2: các đối chứng</a:t>
            </a:r>
          </a:p>
        </p:txBody>
      </p:sp>
      <p:sp>
        <p:nvSpPr>
          <p:cNvPr id="108" name="body-0-1">
            <a:extLst>
              <a:ext uri="{FF2B5EF4-FFF2-40B4-BE49-F238E27FC236}">
                <a16:creationId xmlns:a16="http://schemas.microsoft.com/office/drawing/2014/main" id="{4A093408-9A7D-4F74-AF36-DBD5C8530ADE}"/>
              </a:ext>
            </a:extLst>
          </p:cNvPr>
          <p:cNvSpPr>
            <a:spLocks noGrp="1"/>
          </p:cNvSpPr>
          <p:nvPr/>
        </p:nvSpPr>
        <p:spPr>
          <a:xfrm>
            <a:off x="533400" y="3730625"/>
            <a:ext cx="5391150" cy="730250"/>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Popularity, ItemKNN và một đối chứng theo phiên trên cùng bộ đánh giá.</a:t>
            </a:r>
          </a:p>
        </p:txBody>
      </p:sp>
      <p:sp>
        <p:nvSpPr>
          <p:cNvPr id="109" name="heading-0-2">
            <a:extLst>
              <a:ext uri="{FF2B5EF4-FFF2-40B4-BE49-F238E27FC236}">
                <a16:creationId xmlns:a16="http://schemas.microsoft.com/office/drawing/2014/main" id="{55C971DB-D1AA-4426-9DC2-D17036DBDC45}"/>
              </a:ext>
            </a:extLst>
          </p:cNvPr>
          <p:cNvSpPr>
            <a:spLocks noGrp="1"/>
          </p:cNvSpPr>
          <p:nvPr/>
        </p:nvSpPr>
        <p:spPr>
          <a:xfrm>
            <a:off x="533400" y="45275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Bước 3: mô hình nâng cao</a:t>
            </a:r>
          </a:p>
        </p:txBody>
      </p:sp>
      <p:sp>
        <p:nvSpPr>
          <p:cNvPr id="110" name="body-0-2">
            <a:extLst>
              <a:ext uri="{FF2B5EF4-FFF2-40B4-BE49-F238E27FC236}">
                <a16:creationId xmlns:a16="http://schemas.microsoft.com/office/drawing/2014/main" id="{FEB35E40-09E9-4197-8C78-E27799A28100}"/>
              </a:ext>
            </a:extLst>
          </p:cNvPr>
          <p:cNvSpPr>
            <a:spLocks noGrp="1"/>
          </p:cNvSpPr>
          <p:nvPr/>
        </p:nvSpPr>
        <p:spPr>
          <a:xfrm>
            <a:off x="533400" y="4841875"/>
            <a:ext cx="5391150" cy="730250"/>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Chọn GRU4Rec hoặc SR-GNN, bổ sung hành vi và ablation. Chọn cấu hình bằng validation.</a:t>
            </a:r>
          </a:p>
        </p:txBody>
      </p:sp>
      <p:sp>
        <p:nvSpPr>
          <p:cNvPr id="111" name="heading-1-0">
            <a:extLst>
              <a:ext uri="{FF2B5EF4-FFF2-40B4-BE49-F238E27FC236}">
                <a16:creationId xmlns:a16="http://schemas.microsoft.com/office/drawing/2014/main" id="{C0BE2FF1-AF81-4E46-A8AA-89B91334321A}"/>
              </a:ext>
            </a:extLst>
          </p:cNvPr>
          <p:cNvSpPr>
            <a:spLocks noGrp="1"/>
          </p:cNvSpPr>
          <p:nvPr/>
        </p:nvSpPr>
        <p:spPr>
          <a:xfrm>
            <a:off x="6267450" y="2305050"/>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Bước 4: đánh giá và demo</a:t>
            </a:r>
          </a:p>
        </p:txBody>
      </p:sp>
      <p:sp>
        <p:nvSpPr>
          <p:cNvPr id="112" name="body-1-0">
            <a:extLst>
              <a:ext uri="{FF2B5EF4-FFF2-40B4-BE49-F238E27FC236}">
                <a16:creationId xmlns:a16="http://schemas.microsoft.com/office/drawing/2014/main" id="{2D523F35-7FF5-4AED-913E-A7A0CF6A74A7}"/>
              </a:ext>
            </a:extLst>
          </p:cNvPr>
          <p:cNvSpPr>
            <a:spLocks noGrp="1"/>
          </p:cNvSpPr>
          <p:nvPr/>
        </p:nvSpPr>
        <p:spPr>
          <a:xfrm>
            <a:off x="6267450" y="2619375"/>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Đánh giá test, phân tích lỗi/nhóm, lưu checkpoint, từ vựng và cấu hình. Demo nhận prefix, trả item_id, điểm tương đối và cờ dự phòng.</a:t>
            </a:r>
          </a:p>
        </p:txBody>
      </p:sp>
      <p:sp>
        <p:nvSpPr>
          <p:cNvPr id="113" name="heading-1-1">
            <a:extLst>
              <a:ext uri="{FF2B5EF4-FFF2-40B4-BE49-F238E27FC236}">
                <a16:creationId xmlns:a16="http://schemas.microsoft.com/office/drawing/2014/main" id="{9EFE1E68-1F2F-41C4-9C62-E541E3E383E4}"/>
              </a:ext>
            </a:extLst>
          </p:cNvPr>
          <p:cNvSpPr>
            <a:spLocks noGrp="1"/>
          </p:cNvSpPr>
          <p:nvPr/>
        </p:nvSpPr>
        <p:spPr>
          <a:xfrm>
            <a:off x="6267450" y="3971925"/>
            <a:ext cx="5391150" cy="285750"/>
          </a:xfrm>
          <a:prstGeom prst="rect">
            <a:avLst/>
          </a:prstGeom>
          <a:noFill/>
          <a:ln w="0">
            <a:noFill/>
            <a:prstDash val="solid"/>
          </a:ln>
        </p:spPr>
        <p:txBody>
          <a:bodyPr anchor="t"/>
          <a:lstStyle>
            <a:defPPr>
              <a:defRPr sz="1500" b="1">
                <a:solidFill>
                  <a:srgbClr val="0064A5"/>
                </a:solidFill>
              </a:defRPr>
            </a:defPPr>
            <a:lvl1pPr>
              <a:defRPr sz="1500" b="1">
                <a:solidFill>
                  <a:srgbClr val="0064A5"/>
                </a:solidFill>
              </a:defRPr>
            </a:lvl1pPr>
            <a:lvl2pPr>
              <a:defRPr sz="1500" b="1">
                <a:solidFill>
                  <a:srgbClr val="0064A5"/>
                </a:solidFill>
              </a:defRPr>
            </a:lvl2pPr>
            <a:lvl3pPr>
              <a:defRPr sz="1500" b="1">
                <a:solidFill>
                  <a:srgbClr val="0064A5"/>
                </a:solidFill>
              </a:defRPr>
            </a:lvl3pPr>
            <a:lvl4pPr>
              <a:defRPr sz="1500" b="1">
                <a:solidFill>
                  <a:srgbClr val="0064A5"/>
                </a:solidFill>
              </a:defRPr>
            </a:lvl4pPr>
            <a:lvl5pPr>
              <a:defRPr sz="1500" b="1">
                <a:solidFill>
                  <a:srgbClr val="0064A5"/>
                </a:solidFill>
              </a:defRPr>
            </a:lvl5pPr>
            <a:lvl6pPr>
              <a:defRPr sz="1500" b="1">
                <a:solidFill>
                  <a:srgbClr val="0064A5"/>
                </a:solidFill>
              </a:defRPr>
            </a:lvl6pPr>
            <a:lvl7pPr>
              <a:defRPr sz="1500" b="1">
                <a:solidFill>
                  <a:srgbClr val="0064A5"/>
                </a:solidFill>
              </a:defRPr>
            </a:lvl7pPr>
            <a:lvl8pPr>
              <a:defRPr sz="1500" b="1">
                <a:solidFill>
                  <a:srgbClr val="0064A5"/>
                </a:solidFill>
              </a:defRPr>
            </a:lvl8pPr>
            <a:lvl9pPr>
              <a:defRPr sz="1500" b="1">
                <a:solidFill>
                  <a:srgbClr val="0064A5"/>
                </a:solidFill>
              </a:defRPr>
            </a:lvl9pPr>
          </a:lstStyle>
          <a:p>
            <a:pPr>
              <a:defRPr sz="1500" b="1">
                <a:solidFill>
                  <a:srgbClr val="0064A5"/>
                </a:solidFill>
              </a:defRPr>
            </a:pPr>
            <a:r>
              <a:rPr sz="1500" b="1">
                <a:solidFill>
                  <a:srgbClr val="0064A5"/>
                </a:solidFill>
              </a:rPr>
              <a:t>Giới hạn phạm vi</a:t>
            </a:r>
          </a:p>
        </p:txBody>
      </p:sp>
      <p:sp>
        <p:nvSpPr>
          <p:cNvPr id="114" name="body-1-1">
            <a:extLst>
              <a:ext uri="{FF2B5EF4-FFF2-40B4-BE49-F238E27FC236}">
                <a16:creationId xmlns:a16="http://schemas.microsoft.com/office/drawing/2014/main" id="{8ADBD580-4F79-4D8C-86EE-D84872793853}"/>
              </a:ext>
            </a:extLst>
          </p:cNvPr>
          <p:cNvSpPr>
            <a:spLocks noGrp="1"/>
          </p:cNvSpPr>
          <p:nvPr/>
        </p:nvSpPr>
        <p:spPr>
          <a:xfrm>
            <a:off x="6267450" y="4286250"/>
            <a:ext cx="5391150" cy="1285875"/>
          </a:xfrm>
          <a:prstGeom prst="rect">
            <a:avLst/>
          </a:prstGeom>
          <a:noFill/>
          <a:ln w="0">
            <a:noFill/>
            <a:prstDash val="solid"/>
          </a:ln>
        </p:spPr>
        <p:txBody>
          <a:bodyPr anchor="t"/>
          <a:lstStyle>
            <a:defPPr>
              <a:defRPr sz="1388" b="0">
                <a:solidFill>
                  <a:srgbClr val="536373"/>
                </a:solidFill>
              </a:defRPr>
            </a:defPPr>
            <a:lvl1pPr>
              <a:defRPr sz="1388" b="0">
                <a:solidFill>
                  <a:srgbClr val="536373"/>
                </a:solidFill>
              </a:defRPr>
            </a:lvl1pPr>
            <a:lvl2pPr>
              <a:defRPr sz="1388" b="0">
                <a:solidFill>
                  <a:srgbClr val="536373"/>
                </a:solidFill>
              </a:defRPr>
            </a:lvl2pPr>
            <a:lvl3pPr>
              <a:defRPr sz="1388" b="0">
                <a:solidFill>
                  <a:srgbClr val="536373"/>
                </a:solidFill>
              </a:defRPr>
            </a:lvl3pPr>
            <a:lvl4pPr>
              <a:defRPr sz="1388" b="0">
                <a:solidFill>
                  <a:srgbClr val="536373"/>
                </a:solidFill>
              </a:defRPr>
            </a:lvl4pPr>
            <a:lvl5pPr>
              <a:defRPr sz="1388" b="0">
                <a:solidFill>
                  <a:srgbClr val="536373"/>
                </a:solidFill>
              </a:defRPr>
            </a:lvl5pPr>
            <a:lvl6pPr>
              <a:defRPr sz="1388" b="0">
                <a:solidFill>
                  <a:srgbClr val="536373"/>
                </a:solidFill>
              </a:defRPr>
            </a:lvl6pPr>
            <a:lvl7pPr>
              <a:defRPr sz="1388" b="0">
                <a:solidFill>
                  <a:srgbClr val="536373"/>
                </a:solidFill>
              </a:defRPr>
            </a:lvl7pPr>
            <a:lvl8pPr>
              <a:defRPr sz="1388" b="0">
                <a:solidFill>
                  <a:srgbClr val="536373"/>
                </a:solidFill>
              </a:defRPr>
            </a:lvl8pPr>
            <a:lvl9pPr>
              <a:defRPr sz="1388" b="0">
                <a:solidFill>
                  <a:srgbClr val="536373"/>
                </a:solidFill>
              </a:defRPr>
            </a:lvl9pPr>
          </a:lstStyle>
          <a:p>
            <a:pPr>
              <a:defRPr sz="1388" b="0">
                <a:solidFill>
                  <a:srgbClr val="536373"/>
                </a:solidFill>
              </a:defRPr>
            </a:pPr>
            <a:r>
              <a:rPr sz="1388" b="0">
                <a:solidFill>
                  <a:srgbClr val="536373"/>
                </a:solidFill>
              </a:rPr>
              <a:t>Chỉ tập trung next-step; chưa mở rộng sang các mục tiêu dự đoán khác. Hoàn thành đối chứng trước mô hình nâng cao. Lịch cụ thể thống nhất với giảng viên.</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3140</Words>
  <Application>Microsoft Office PowerPoint</Application>
  <PresentationFormat>Widescreen</PresentationFormat>
  <Paragraphs>305</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Lato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Vũ Hải Minh</dc:creator>
  <cp:lastModifiedBy>Vu Hai Minh 20235166</cp:lastModifiedBy>
  <cp:revision>4</cp:revision>
  <dcterms:created xsi:type="dcterms:W3CDTF">2021-05-28T04:32:29Z</dcterms:created>
  <dcterms:modified xsi:type="dcterms:W3CDTF">2026-10-23T08:44:59Z</dcterms:modified>
  <dc:title>RetailRocket next-step — dữ liệu đã xác minh và phương pháp đề xuất</dc:title>
  <dc:subject>Bài toán, dữ liệu next-step, phương pháp dự kiến và kiểm chứng triển khai</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0x0101005E89D7C944F4F24E9905C6523679617A</vt:lpwstr>
  </property>
</Properties>
</file>